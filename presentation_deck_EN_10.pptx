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61" r:id="rId5"/>
    <p:sldId id="258" r:id="rId6"/>
    <p:sldId id="262" r:id="rId7"/>
    <p:sldId id="265" r:id="rId8"/>
    <p:sldId id="266" r:id="rId9"/>
    <p:sldId id="267" r:id="rId10"/>
    <p:sldId id="271"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39"/>
    </inkml:context>
    <inkml:brush xml:id="br0">
      <inkml:brushProperty name="width" value="0.07938" units="cm"/>
      <inkml:brushProperty name="height" value="0.07938" units="cm"/>
      <inkml:brushProperty name="color" value="#E71224"/>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0"/>
    </inkml:context>
    <inkml:brush xml:id="br0">
      <inkml:brushProperty name="width" value="0.07938" units="cm"/>
      <inkml:brushProperty name="height" value="0.07938" units="cm"/>
      <inkml:brushProperty name="color" value="#E71224"/>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1"/>
    </inkml:context>
    <inkml:brush xml:id="br0">
      <inkml:brushProperty name="width" value="0.07938" units="cm"/>
      <inkml:brushProperty name="height" value="0.07938" units="cm"/>
      <inkml:brushProperty name="color" value="#E71224"/>
    </inkml:brush>
  </inkml:definitions>
  <inkml:trace contextRef="#ctx0" brushRef="#br0">0 21552 24575,'0'0'0,"0"0"0,0 0 0,0 0 0,0 0 0,0 0 0,0 0 0,0 0 0,0 0 0,0 0 0,5-3 0,101-92 0,-43 37 0,3 2 0,3 2 0,131-76 0,-35 44 0,277-100 0,-323 146 0,550-157 0,-323 137 0,-190 35 0,-45 5 0,315-37 0,-217 51 0,-55 2 0,262-38 0,-65-5 0,55-11 0,-194 16 0,178-47 0,-291 61 0,157-43 0,-221 64 0,365-101 0,-310 72 0,90-50 0,-24 10 0,-34 20 0,-2-4 0,190-130 0,-169 94 0,-72 51 0,111-92 0,-61 35 0,31-25 0,174-224 0,-239 252 0,-19 24 0,279-297 0,-288 310 0,-3-1 0,60-91 0,-69 92 0,239-296 0,-41 118 0,36-38 0,-207 200 0,97-81 0,92-51 0,-81 66 0,38-64 0,-55 44 0,202-133 0,-197 165 0,120-129 0,31-25 0,-110 121 0,88-65 0,21 17 0,-266 183 0,161-106 0,-187 116 0,-2 1 0,0-2 0,-2 0 0,-1-2 0,38-50 0,-52 59 0,1 1 0,-1-1 0,-1 1 0,0-2 0,-1 1 0,-1-1 0,-1 0 0,0 0 0,0 0 0,-1 0 0,-2 0 0,1 0 0,-1 0 0,-1 0 0,-1 0 0,-5-24 0,-8-15 0,-2 0 0,-2 2 0,-34-64 0,-13-41 0,39 91 0,-40-74 0,38 85 0,-43-119 0,21-27 0,-16-50 0,55 218 0,0 2 0,-2 1 0,-2 0 0,-19-29 0,29 49 0,-1-1 0,-2 2 0,1 0 0,-1 0 0,0 0 0,0 2 0,-1-1 0,1 1 0,-2 1 0,1 0 0,-2 0 0,1 0 0,-1 1 0,-16-4 0,-11 0 0,-2 2 0,1 2 0,-1 2 0,1 2 0,-2 1 0,1 1 0,-67 13 0,-277 82 0,376-93 0,-270 96 0,175-57 0,-178 43 0,147-56 0,0-5 0,-171 6 0,14-12 0,-187-2 0,445-17 0,1-4 0,0 1 0,0-2 0,0-2 0,0-2 0,1-1 0,-31-14 0,51 19 0,2-2 0,-2 1 0,1-1 0,2-1 0,-1 0 0,1 0 0,0-1 0,0-1 0,1 1 0,1-1 0,-1 1 0,2-2 0,0 0 0,0 0 0,0 0 0,2 0 0,-5-23 0,0-7 0,1-1 0,2-1 0,2 1 0,1-49 0,15-164 0,-3-71 0,-9 241 0,19-145 0,1-37 0,-29-148 0,0 110 0,-15-18 0,-2 24 0,-1-81 0,5 138 0,25-139 0,1 82 0,-4-290 0,-4 437 0,-37-235 0,13 167 0,-62-299 0,21 155 0,24 88 0,-54-397 0,-29-178 0,70 624 0,29 131 0,-17-131 0,14 42 0,-62-212 0,74 305 0,4-1 0,-7-106 0,-20-128 0,19 206 0,6-2 0,4-1 0,4-151 0,10 258 0,0-1 0,1 1 0,2 0 0,0 0 0,6-23 0,-7 38 0,-1-1 0,1 1 0,-2 0 0,1 0 0,2-2 0,-1 2 0,-1 0 0,1 0 0,1 0 0,-2 0 0,2 2 0,0-2 0,0 0 0,-1 0 0,1 1 0,0 1 0,0-2 0,0 1 0,1 1 0,-1-1 0,0 1 0,0-1 0,2 1 0,-2-1 0,0 2 0,1-1 0,-1 1 0,2 0 0,-2 0 0,1 0 0,-1 0 0,0 0 0,6 1 0,15 4 0,0 1 0,0 0 0,-1 1 0,-1 2 0,29 15 0,105 68 0,-21-11 0,-40-38 0,1-4 0,160 42 0,29 11 0,-184-52 0,-49-17 0,2-4 0,93 25 0,-15-26 0,0-5 0,219-7 0,-187-6 0,16 0 0,276 11 0,-318-7 0,142-13 0,-35-1 0,-208 10 0,1-3 0,-2-2 0,0-1 0,0-3 0,0 0 0,0-1 0,-2-2 0,1-2 0,40-23 0,-38 14 0,1-1 0,-1-1 0,-2-2 0,-1-2 0,-1-1 0,-1-1 0,35-49 0,-23 22 0,-4-4 0,-1 1 0,35-80 0,-29 40 0,42-152 0,-6-23 0,60-194 0,-116 379 0,-14 47 0,28-67 0,-39 110-65,0-1 0,1 2 0,-1-1 0,0 1 0,2-2 0,-2 1 0,1 1 0,-1-2 0,2 2 0,-2-1 0,1 1 0,-1-2 0,2 2 0,-1-1 0,-1 1 0,2 0 0,-2-2 0,1 2 0,1 0 0,-1-1 0,10-1-6761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2"/>
    </inkml:context>
    <inkml:brush xml:id="br0">
      <inkml:brushProperty name="width" value="0.07938" units="cm"/>
      <inkml:brushProperty name="height" value="0.07938" units="cm"/>
      <inkml:brushProperty name="color" value="#F6630D"/>
    </inkml:brush>
  </inkml:definitions>
  <inkml:trace contextRef="#ctx0" brushRef="#br0">1 21424 24575,'0'0'0,"0"0"0,0 0 0,0 0 0,0 0 0,0 0 0,0 0 0,0 0 0,0 0 0,0 0 0,27-22 0,84-61 0,3 7 0,3 5 0,3 4 0,3 5 0,1 7 0,4 5 0,182-46 0,-119 50 0,385-43 0,-277 50 0,536-141 0,-768 164 0,106-32 0,260-36 0,-327 72 0,414-56 0,67-38 0,-287 61 0,-23 4 0,-208 28 0,134-46 0,196-125 0,-141 58 0,-137 63 0,209-141 0,-103 57 0,-130 81 0,-4-3 0,-1-5 0,83-89 0,-157 146 0,664-668 0,-191 94 0,-432 517 0,138-157 0,-79 98 0,20-38 0,71-81 0,244-174 0,-263 237 0,6-6 0,269-183 0,-74 76 0,312-223 0,-601 462 0,118-57 0,38-19 0,-216 110 0,0 1 0,-2-2 0,66-68 0,-86 77 0,0-3 0,-2 0 0,0 0 0,-2-1 0,-1-1 0,-1-1 0,-1 0 0,10-30 0,-16 33 0,0 0 0,-2 0 0,0 0 0,-2-1 0,-2 1 0,1-2 0,-2 2 0,-2-1 0,1 1 0,-8-30 0,-14-41 0,-55-145 0,-56-82 0,32 85 0,94 217 0,-148-325 0,135 308 0,-2 1 0,1 1 0,-3 1 0,-2 1 0,-2 1 0,-60-53 0,75 74 0,-2 2 0,0-1 0,-1 2 0,1 1 0,0-1 0,-1 2 0,-1 0 0,0 2 0,0-1 0,0 2 0,0 0 0,0 2 0,0 1 0,-21 0 0,-30 6 0,0 1 0,-93 25 0,120-25 0,-373 109 0,28-8 0,325-95 0,-509 103 0,419-92 0,-275 6 0,381-30 0,2-2 0,-2-1 0,-66-15 0,94 12 0,0 2 0,0-2 0,0-2 0,1 1 0,0-2 0,1 0 0,0 0 0,0-2 0,0-1 0,3 0 0,-17-15 0,5-1 0,-1-1 0,4-2 0,-1-1 0,2 1 0,2-4 0,1 2 0,1-3 0,2 2 0,3-2 0,0-2 0,1 1 0,4-1 0,0 1 0,-2-52 0,2-445 0,54 182 0,-2 25 0,-17 24 0,12-249 0,-38 340 0,-18-517 0,2 369 0,-8-60 0,-8-10 0,30 400 0,-9-75 0,-42-203 0,31 217 0,-22-184 0,-29-128 0,-66-286 0,136 688 0,-75-413 0,-39-161 0,67 358 0,39 175 0,-147-627 0,136 585 0,-14-173 0,29 188 0,-2 2 0,-5-2 0,-1 1 0,-30-80 0,18 71 0,1 1 0,6-4 0,2 2 0,-5-82 0,-23-115 0,-8-89 0,47 298 0,-1-15 0,6-87 0,0 145 0,3-1 0,0 0 0,2 2 0,1-2 0,-1 1 0,3 1 0,-1-1 0,18-26 0,-20 38 0,3 1 0,-2-1 0,3 2 0,-2-1 0,3 1 0,-2 0 0,1 0 0,0 1 0,2 1 0,-1-1 0,1 2 0,-1 0 0,3 0 0,-3 0 0,2 2 0,0-1 0,0 2 0,24-4 0,-12 4 0,0 0 0,0 3 0,0 0 0,0 0 0,0 3 0,-2 0 0,3 1 0,-1 1 0,22 10 0,65 27 0,131 70 0,239 100 0,79-34 0,-107-26 0,-68-20 0,2-23 0,-286-80 0,130 19 0,-169-39 0,1-5 0,0-1 0,87-6 0,-118-1 0,-2-2 0,0-2 0,1 1 0,-2-4 0,1 1 0,-2-2 0,1-2 0,28-17 0,-2-5 0,-1-2 0,87-80 0,-115 94 0,-4 0 0,1-3 0,-2 0 0,-2-2 0,-1 1 0,29-61 0,61-200 0,-50 119 0,67-268 0,-83 272 0,43-83 0,-5 16 0,-41 83-1365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3"/>
    </inkml:context>
    <inkml:brush xml:id="br0">
      <inkml:brushProperty name="width" value="0.07938" units="cm"/>
      <inkml:brushProperty name="height" value="0.07938" units="cm"/>
      <inkml:brushProperty name="color" value="#FFC114"/>
    </inkml:brush>
  </inkml:definitions>
  <inkml:trace contextRef="#ctx0" brushRef="#br0">715 0 24575,'0'0'0,"0"0"0,-1 2 0,-1-1 0,1-1 0,-2 2 0,2-1 0,-1-1 0,1 2 0,-1-1 0,0 1 0,1-1 0,-1 1 0,-2 2 0,-3 4 0,-19 16 0,1 0 0,1 3 0,1 0 0,2 0 0,0 1 0,3 2 0,0 2 0,-15 35 0,10-11 0,4-1 0,1 2 0,3 2 0,-8 64 0,5-6 0,-48 162 0,50-231 0,-2 0 0,-1-2 0,-2 1 0,-4-2 0,-54 81 0,62-104 0,1 1 0,3 1 0,-1 1 0,1 1 0,2-1 0,0 1 0,-8 40 0,18-63-105,1-2 0,0 2 0,-2-1 0,2 1 0,0-2 0,0 2 0,0-1 0,0 1 0,2-2 0,-2 2 0,0-1 0,1 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4"/>
    </inkml:context>
    <inkml:brush xml:id="br0">
      <inkml:brushProperty name="width" value="0.07938" units="cm"/>
      <inkml:brushProperty name="height" value="0.07938" units="cm"/>
      <inkml:brushProperty name="color" value="#FFC114"/>
    </inkml:brush>
  </inkml:definitions>
  <inkml:trace contextRef="#ctx0" brushRef="#br0">10770 1 24575,'-15'135'0,"-6"2"0,-6-4 0,-63 190 0,60-241 0,-17 52 0,-124 242 0,141-321 0,-157 297 0,179-334 0,1 0 0,1-1 0,0 3 0,1 0 0,1-1 0,1 1 0,0-1 0,1 1 0,2-1 0,0 1 0,5 29 0,-4-38 0,2-1 0,0 0 0,0 1 0,0 0 0,2-1 0,-1-1 0,1 2 0,1-2 0,-2 0 0,4 0 0,-2 0 0,1-2 0,-1 1 0,2 1 0,1-3 0,-2 1 0,2 1 0,0-2 0,0 0 0,0-2 0,0 2 0,17 5 0,217 65 0,-171-56 0,-41-11 0,1 0 0,-2 3 0,0 0 0,0 1 0,28 20 0,-46-25 0,0 1 0,0 1 0,-1-1 0,-1 2 0,1-1 0,-1 2 0,-1 0 0,0 0 0,-1 0 0,-1 2 0,1-2 0,-2 1 0,6 19 0,1 8 0,-2 2 0,-2 0 0,6 60 0,-3 132 0,-11-205 0,-17 578 0,-29-269 0,-8 115 0,76 189 0,-4-317 0,11 119 0,-16-340 0,2-2 0,41 127 0,48 37 0,-13-46 0,143 406 0,-119-326 0,-80-216 0,1-2 0,7-1 0,1-1 0,4-2 0,68 79 0,243 357 0,17 62 0,-101-209 0,-162-225 0,156 258 0,-210-293 0,4-3 0,95 113 0,-136-190 0,-4-2 0,1 4 0,-2 0 0,0 0 0,-3 1 0,0 1 0,-3 0 0,0 1 0,-2 1 0,-1-2 0,-1 2 0,4 54 0,-9-24 0,-3-2 0,-2 1 0,-2 1 0,-4-1 0,-20 85 0,17-112 0,-2 2 0,-1-1 0,-29 52 0,-67 95 0,55-96 0,-4-3 0,-2-2 0,-5-2 0,-3-5 0,-95 82 0,-83 26 0,77-63 0,89-56 0,-4-6 0,-2-2 0,-149 67 0,82-60 0,-167 81 0,-53 61 0,226-133 0,-50 29 0,108-47 0,3 5 0,3 4 0,-81 77 0,69-53 0,-213 189 0,-20-24 0,65-88 0,2-1 0,191-115 0,-104 96 0,130-100 0,-291 250 0,265-240 0,2 1 0,3 5 0,3 1 0,3 4 0,-94 131 0,142-177 0,-189 273 0,144-220 0,-120 123 0,69-81 0,3 4 0,-108 164 0,-123 105 0,-2 3 0,253-282 0,-7-4 0,-131 115 0,223-219 0,-212 214 0,61-56 0,64-71 0,13-8 0,-4-4 0,-3-3 0,-106 71 0,-505 370 0,638-473 0,-3-2 0,0-2 0,-120 52 0,-202 55 0,263-103 0,38-11 0,0-4 0,-1-4 0,-137 20 0,70-25 0,-46 5 0,-331-4 0,415-23 0,-213 16 0,271 0 0,2 0 0,0 2 0,0 3 0,0 1 0,2 4 0,1 1 0,1 2 0,1 0 0,-58 45 0,4 8 0,4 4 0,-140 151 0,146-127 0,-105 160 0,-46 60 0,82-154 0,-77 93 0,184-202 0,-2 0 0,-89 75 0,134-130-1365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5"/>
    </inkml:context>
    <inkml:brush xml:id="br0">
      <inkml:brushProperty name="width" value="0.07938" units="cm"/>
      <inkml:brushProperty name="height" value="0.07938" units="cm"/>
      <inkml:brushProperty name="color" value="#FFC114"/>
    </inkml:brush>
  </inkml:definitions>
  <inkml:trace contextRef="#ctx0" brushRef="#br0">0 1 24575,'0'0'0,"0"0"0,0 0 0,0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6"/>
    </inkml:context>
    <inkml:brush xml:id="br0">
      <inkml:brushProperty name="width" value="0.07938" units="cm"/>
      <inkml:brushProperty name="height" value="0.07938" units="cm"/>
      <inkml:brushProperty name="color" value="#FFC114"/>
    </inkml:brush>
  </inkml:definitions>
  <inkml:trace contextRef="#ctx0" brushRef="#br0">1 0 24575,'0'0'0,"0"0"0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7"/>
    </inkml:context>
    <inkml:brush xml:id="br0">
      <inkml:brushProperty name="width" value="0.07938" units="cm"/>
      <inkml:brushProperty name="height" value="0.07938" units="cm"/>
      <inkml:brushProperty name="color" value="#FFC114"/>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8"/>
    </inkml:context>
    <inkml:brush xml:id="br0">
      <inkml:brushProperty name="width" value="0.07938" units="cm"/>
      <inkml:brushProperty name="height" value="0.07938" units="cm"/>
      <inkml:brushProperty name="color" value="#FFC114"/>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49"/>
    </inkml:context>
    <inkml:brush xml:id="br0">
      <inkml:brushProperty name="width" value="0.07938" units="cm"/>
      <inkml:brushProperty name="height" value="0.07938" units="cm"/>
      <inkml:brushProperty name="color" value="#5B2D90"/>
    </inkml:brush>
  </inkml:definitions>
  <inkml:trace contextRef="#ctx0" brushRef="#br0">13760 0 24575,'0'0'0,"3"2"0,313 58 0,169 42 0,-338-65 0,-81-23 0,94 34 0,-140-41 0,-2 2 0,0 0 0,0 0 0,0 2 0,-2 1 0,1 0 0,-1 0 0,-1 1 0,18 22 0,-22-23 0,-2 3 0,0-2 0,0 2 0,-2 0 0,-1 0 0,2 0 0,-4 2 0,8 23 0,17 143 0,-20-112 0,18 310 0,-33 0 0,3-290 0,9 560 0,-17-189 0,-1-109 0,23 50 0,-4-106 0,7-88 0,43 229 0,4 45 0,77 492 0,-27-101 0,-93-691 0,30 321 0,-34-297 0,16 180 0,76 401 0,44 235 0,-67-572 0,-56-280 0,40 179 0,103 373 0,-152-612 0,36 201 0,58 135 0,-104-423 0,-1-2 0,4 1 0,-1-2 0,1 1 0,1-1 0,1-1 0,2-1 0,0 1 0,0-2 0,2 0 0,1 0 0,0-3 0,0 1 0,24 14 0,30 15 0,3-3 0,130 54 0,-116-57 0,58 32 0,198 127 0,-261-146 0,84 61 0,-114-71 0,-2 1 0,-1 4 0,-3 2 0,57 74 0,-90-103 0,-1 1 0,-2 0 0,0 1 0,0 1 0,-3-1 0,0 1 0,-2 1 0,1 0 0,-2 0 0,-2 0 0,1 1 0,-4-1 0,1 2 0,-1-2 0,-2 1 0,-1-1 0,-8 45 0,5-48 0,-1 0 0,0 0 0,-1 0 0,-2 0 0,0-1 0,-2-1 0,-1 1 0,0-1 0,0-1 0,-28 29 0,35-41 0,-359 369 0,134-158 0,130-116 0,-4-5 0,-137 96 0,230-186 0,2 0 0,-1 0 0,-1-2 0,1 1 0,-2-2 0,1 1 0,1-2 0,-2 1 0,0-2 0,1 1 0,-1-1 0,-19-1 0,-7-3 0,1-3 0,-59-13 0,60 10 0,0 1 0,-63-4 0,-6 14 0,-123 19 0,-2 1 0,154-19 0,-1 5 0,1 2 0,-98 28 0,42-1 0,-162 70 0,-323 211 0,-182 90 0,733-380 0,-2-2 0,1-4 0,-2-2 0,-93 13 0,37-17 0,-200 2 0,-67-30 0,320 5 0,0-4 0,0-2 0,-96-32 0,164 43 0,-161-59 0,139 50 0,2-1 0,0 0 0,2-3 0,-34-24 0,47 30 0,0 0 0,0-1 0,2-1 0,-1 1 0,1-1 0,-1 1 0,2-2 0,0 0 0,2 0 0,-1 0 0,1 0 0,1-2 0,0 2 0,0-1 0,0-13 0,0-17 0,0 1 0,3 0 0,7-56 0,2 44 0,3 0 0,2 2 0,2-1 0,41-86 0,6-20 0,75-188 0,-19 53 0,-35 38 0,58-322 0,-106 388 0,-9-2 0,-7-2 0,-10 1 0,-16-236 0,-7 285 0,-8 1 0,-5 1 0,-7 1 0,-91-245 0,82 269 0,9 23 0,-3 1 0,-5 1 0,-55-94 0,-27-6 0,-208-354 0,223 362 0,-8 4 0,-215-258 0,256 351 0,-5 4 0,-125-103 0,193 177 0,0 0 0,-2 0 0,1 2 0,-1-1 0,1 1 0,-2 1 0,0 0 0,1 1 0,-1 1 0,-1-1 0,1 2 0,0 2 0,0-1 0,-2 1 0,2 1 0,-1 0 0,1 1 0,-2 1 0,2-1 0,0 4 0,0-2 0,0 1 0,0 1 0,0 1 0,2 0 0,-2 1 0,1 1 0,1-1 0,1 2 0,-2 0 0,-16 18 0,-28 33 0,1 2 0,3 4 0,3 0 0,-84 148 0,-120 320 0,99-141 0,0-3 0,61-165 0,-112 236 0,164-379 0,13-22 0,-45 65 0,55-97 0,-110 145 0,110-152 0,1-2 0,-1-1 0,-1 0 0,-1-1 0,-46 26 0,19-17 0,-4-4 0,1-1 0,-2-1 0,0-5 0,-2-2 0,-98 13 0,52-17 0,0-5 0,-191-16 0,139-10 0,-302-88 0,333 76 0,-941-328 0,509 119 0,233 101 0,185 77 0,-166-104 0,-109-110 0,109 39 0,183 141 0,27 18 0,4-3 0,4-3 0,4-5 0,-87-125 0,-162-280 0,16 31 0,83 131 0,192 275 0,-58-90 0,-128-150 0,-26-3 0,-221-241 0,154 238 0,43 43 0,-175-143 0,422 380-58,20 19-105,2 1-1,-1-2 1,-2 2 0,1 0-1,-1 2 1,0-2-1,-15-6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0"/>
    </inkml:context>
    <inkml:brush xml:id="br0">
      <inkml:brushProperty name="width" value="0.07938" units="cm"/>
      <inkml:brushProperty name="height" value="0.07938" units="cm"/>
      <inkml:brushProperty name="color" value="#B28DDB"/>
    </inkml:brush>
  </inkml:definitions>
  <inkml:trace contextRef="#ctx0" brushRef="#br0">1 1 24575,'0'0'0,"0"0"0,0 0 0,0 0 0,0 0 0,19 17 0,-11-10 0,230 169 0,-166-130 0,-4 4 0,95 86 0,316 373 0,-391-412 0,-16-14 0,-3 2 0,86 145 0,-95-142 0,4-4 0,76 80 0,-7-7 0,-82-88 0,77 140 0,-88-136 0,101 136 0,-16-50 0,179 307 0,-227-346 0,134 162 0,-149-205 0,101 152 0,-107-145 0,4-1 0,106 113 0,121 55 0,-43-38 0,-154-134 0,5-2 0,205 125 0,238 71 0,49 6 0,-532-252 0,1-3 0,1-1 0,1-2 0,2-5 0,-1-1 0,2-3 0,-1-3 0,2-1 0,107-4 0,280-40 0,-368 23 0,-2-4 0,1-4 0,113-45 0,-91 23 0,146-86 0,-152 72 0,168-137 0,-227 161 0,-1 0 0,-3-3 0,0-1 0,-1-2 0,-4-2 0,46-79 0,182-480 0,-59 123 0,110-105 0,-280 533 0,164-263 0,-164 273 0,3 0 0,0 3 0,3 0 0,1 3 0,58-47 0,-62 61 0,0 1 0,1 0 0,1 3 0,1 0 0,0 3 0,0 0 0,1 1 0,55-7 0,-52 14 0,1 2 0,-1 1 0,1 2 0,-1 2 0,1 0 0,-1 3 0,44 14 0,-15-1 0,0 5 0,122 63 0,-121-52 0,-19-13 0,-1 4 0,-1 1 0,61 48 0,-71-44 0,-2 4 0,1 1 0,-4 1 0,38 56 0,92 176 0,-94-149 0,-13-29 0,-9-19 0,-3 2 0,48 124 0,-34-29 0,47 119 0,-65-189 0,-4 2 0,32 167 0,-66-266 0,23 98 0,34 145 0,-42-194 0,85 336 0,-88-323 0,-3-1 0,-3 2 0,-1 1 0,-8 75 0,-8 157 0,11-173 0,-6-1 0,-24 130 0,-169 596 0,44-374 0,100-314 0,-64 109 0,53-131 0,48-98 0,3 1 0,0 2 0,3 0 0,-9 72 0,12-36 0,6 143 0,3-202 0,0-1 0,2 2 0,1-2 0,1 1 0,1-1 0,-1 0 0,4 0 0,-2 0 0,3-1 0,0 1 0,1-2 0,1-1 0,20 30 0,4-7 0,2-1 0,1-1 0,2-3 0,1-1 0,2-2 0,1-2 0,1-1 0,3-3 0,0-3 0,58 24 0,-38-24 0,1-4 0,0-2 0,1-3 0,1-5 0,-1-1 0,2-3 0,0-4 0,122-13 0,-35-5 0,0-8 0,-3-8 0,0-5 0,-3-8 0,229-99 0,-235 76 0,176-112 0,-158 71 0,-59 37 0,218-111 0,-201 129 0,251-75 0,-317 114 0,0 3 0,1 3 0,1 3 0,-1 1 0,1 4 0,116 11 0,-145-4 0,2 2 0,-2 1 0,0 1 0,0 1 0,-2 2 0,1 1 0,31 20 0,-44-23 0,2-2 0,0-2 0,0 2 0,0-3 0,0 0 0,27 5 0,-34-10 0,-2 1 0,1-2 0,1 0 0,-1 0 0,1-2 0,-1 1 0,-1-1 0,2-1 0,-1 2 0,-1-2 0,2-2 0,-2 2 0,16-10 0,22-13 0,20-13 0,1-1 0,92-74 0,26-59 0,-67 59 0,-8 21 0,142-93 0,-19 18 0,110-117 0,199-169 0,-282 239 0,-114 98 0,1 0 0,74-60 0,-139 111 0,2 3 0,2 5 0,147-74 0,-99 61 0,201-139 0,68-45 0,-392 248 0,438-250 0,-372 211 0,228-145 0,-251 151 0,-1-1 0,-3-4 0,63-67 0,185-248 0,-173 190 0,45-53 0,-150 197 0,1 1 0,2 2 0,2 1 0,-1 1 0,2 0 0,0 1 0,32-14 0,-44 26 0,0 2 0,0 0 0,0 0 0,1 2 0,-1-1 0,2 2 0,-1 0 0,1 2 0,-1-1 0,1 2 0,-1 0 0,1 0 0,-1 3 0,1-1 0,-2 1 0,19 6 0,19 10 0,-1 4 0,-1 1 0,-1 3 0,-1 1 0,-2 4 0,-1 1 0,-1 1 0,51 53 0,110 144 0,-143-154 0,3-4 0,81 71 0,196 146 0,-133-107 0,63 49 0,111 14 0,-268-169 0,152 133 0,-104-78 0,490 355 0,-618-461 0,288 212 0,-180-119 0,162 173 0,-33-16 0,-150-139 0,75 73 0,-176-191 0,-5-1 0,2-3 0,-1 2 0,3-2 0,39 22 0,-43-34-1365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1"/>
    </inkml:context>
    <inkml:brush xml:id="br0">
      <inkml:brushProperty name="width" value="0.07938" units="cm"/>
      <inkml:brushProperty name="height" value="0.07938" units="cm"/>
      <inkml:brushProperty name="color" value="#00A0D7"/>
    </inkml:brush>
  </inkml:definitions>
  <inkml:trace contextRef="#ctx0" brushRef="#br0">0 1 24575,'181'76'0,"-119"-53"0,-2 2 0,66 39 0,-62-21 0,1 2 0,-4 3 0,58 57 0,143 186 0,-209-225 0,61 72 0,186 298 0,-222-300 0,156 201 0,-170-247 0,-2 2 0,-5 2 0,58 133 0,89 137 0,-13-31 0,-128-204 0,6-3 0,142 198 0,-85-156 0,102 125 0,-168-224 0,5-2 0,71 61 0,218 167 0,-27-40 0,-264-213 0,2-4 0,1-2 0,108 39 0,60 3 0,4-12 0,389 57 0,285-33 0,-844-90 0,-2-5 0,0-2 0,0-2 0,0-5 0,-2-1 0,116-43 0,-93 20 0,0-1 0,-3-6 0,-3-3 0,95-69 0,-115 66 0,-2-1 0,-2-4 0,-2-1 0,-4-3 0,63-91 0,-12 2 0,150-292 0,-91 114 0,-64 119 0,95-190 0,2 92 0,-149 245 0,3 1 0,102-96 0,-117 127 0,1 1 0,2 2 0,0 2 0,2 0 0,1 3 0,45-18 0,-53 27 0,1 2 0,1 1 0,0 1 0,0 2 0,0 0 0,1 3 0,-1 2 0,65 4 0,-64 1 0,-1 1 0,2 2 0,-2 1 0,0 2 0,0 1 0,-2 1 0,1 3 0,40 22 0,-66-32 0,66 34 0,-3 4 0,76 61 0,-137-97 0,26 22 0,-34-28 0,2 1 0,-1-1 0,1-1 0,-1 2 0,-1-1 0,2 1 0,-1-1 0,-1 1 0,2-1 0,-2 1 0,1-1 0,-1 2 0,2-1 0,-2-1 0,0 1 0,1-1 0,-1 1 0,0 4 0,-33 33 0,18-14 0,3-1 0,0 2 0,2 1 0,-1 0 0,-7 40 0,-19 146 0,26-139 0,-79 668 0,-66 557 0,95-877 0,-8 44 0,19-4 0,32-223 0,-18 263 0,8-64 0,-10 568 0,35-683 0,12 668 0,39-335 0,-10-1 0,-32-528 0,-5 101 0,-37 309 0,18-393 0,-4-3 0,-64 207 0,56-257 0,-3-1 0,-6 0 0,-1-3 0,-89 137 0,-207 211 0,306-398 0,-30 37 0,-141 179 0,88-102 0,-206 215 0,272-325-1365,11-14-5461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40:08.752"/>
    </inkml:context>
    <inkml:brush xml:id="br0">
      <inkml:brushProperty name="width" value="0.07938" units="cm"/>
      <inkml:brushProperty name="height" value="0.07938" units="cm"/>
      <inkml:brushProperty name="color" value="#33CCFF"/>
    </inkml:brush>
  </inkml:definitions>
  <inkml:trace contextRef="#ctx0" brushRef="#br0">573 1 24575,'10'27'0,"1"8"0,-1-1 0,-2 2 0,-1 0 0,-3 0 0,3 68 0,-24 188 0,5-145 0,5 119 0,11-1 0,53 374 0,154 515 0,-143-689 0,-43 4 0,26 194 0,0-22 0,20 1643 0,-65-1139 0,-7-571 0,18-50 0,-2-170 0,-36 1017 0,2-1020 0,-41 537 0,-32 496 0,86-833 0,6-151 0,-28 155 0,1-22 0,19-242 0,-2 586 0,17-449 0,2 425 0,-16-553 0,-67 441 0,13-454 0,26-139 0,4-34 0,-5 0 0,-83 171 0,119-282 0,-227 479 0,168-373 0,-4-2 0,-99 127 0,123-186-1365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29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This is a data science EDA project on Jerusalem public bus data, focused on one practical question: when protests close Aza Street in Rehavia, which buses are actually affected, and is the detour worth worrying about? Introduce yourself and the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Rehavia sits at the center of Jerusalem's protest activity, and the Prime Minister's residence is on Aza Street, right through the neighborhood. Police close the street repeatedly for security reasons, which disrupts the bus lines that run through it. This is the real-world motivation behind the whole analysis: a resident needs to know which lines are reliable and when.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source: Israel's Ministry of Transport open dataset, 'Arrival to station, day and hours' — a pipe-delimited export aggregating average ride behavior per (route, month, day-of-week, hour, stop). The project covers 7 commercial lines across 16 underlying route_ids. Walk through the example table: this is one block — one full trip on line 19, departing at 5am on a Sunday in January — shown stop by stop, with cumulative travel time and distance growing down the rows.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has a reference route: its single most common stop sequence. A minority of trips skip a contiguous segment of stops instead — these are the line's route variants. Figure 2 shows exactly which stops each corridor line skips on its detour, and confirms all three shared-corridor lines (17, 19, 22) skip the same physical Aza Street segment, while control line 15 never detours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project's central research question and the three sub-questions that structure the rest of the deck. Sub-question 1 is answered by phases 06 and 13 (frequency and timing of blockages). Sub-question 2 is answered by phases 05, 09, and 12 (does the detour cost or save time, with statistical backing). Sub-question 3 is answered by phase 08, using control lines 14 and 15 that never pass through Aza Street.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strong, near-mechanical correlation between how long a route physically is and how long the trip takes end-to-end. Line 9 is the longest studied line at roughly 20 km and 90 minutes average baseline travel time. Line 97 is the shortest, roughly 10 km and 44 minutes. This ranking matters later — it's the backdrop against which we measure detour costs and savings per line.</a:t>
            </a:r>
          </a:p>
          <a:p>
            <a:r>
              <a:rPr lang="en-US" dirty="0"/>
              <a:t>Beyond ranking, every one of the 7 lines follows the same daily shape: travel time is lowest at dawn, climbs through the morning rush, peaks around midday to early afternoon (traffic congestion, not distance), and drops back down toward evening and night. This shared rhythm is the 'normal' baseline we compare blockage windows against.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from monthly shares down to the exact day-of-week/hour level, the full-year calendar scan confirms 21 distinct blockage events. 11 of the 21 are Saturday nights, 7pm to midnight — the dominant, expected pattern. The remaining 10 are weekday events, clustered on specific months and days that line up with Knesset session days, suggesting parliamentary security closures as a secondary driver.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practical finding: on average, the detour route is faster than the regular route, not slower. Savings run 8 to 16 minutes depending on the line, and permutation tests confirm the effect is statistically significant for all 5 lines that detour. The one caveat is rush hour — during the busiest daytime hours, the time advantage shrinks or disappears, since congestion on the detour road eats into the shorter distance.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14 and 15 never pass through Aza Street, so they serve as a control group. Comparing their travel time during confirmed blockade windows against matched normal times, using both Mann-Whitney U and a day/hour-stratified permutation test, shows no statistically significant difference. Effects that looked significant in an earlier pass do not hold up once the more complete blockage-window definition and stratified test are applied — the blockage's impact stays local to the corridor lines.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customXml" Target="../ink/ink6.xml"/><Relationship Id="rId18" Type="http://schemas.openxmlformats.org/officeDocument/2006/relationships/customXml" Target="../ink/ink9.xml"/><Relationship Id="rId26" Type="http://schemas.openxmlformats.org/officeDocument/2006/relationships/customXml" Target="../ink/ink14.xml"/><Relationship Id="rId3" Type="http://schemas.openxmlformats.org/officeDocument/2006/relationships/image" Target="../media/image1.png"/><Relationship Id="rId21" Type="http://schemas.openxmlformats.org/officeDocument/2006/relationships/image" Target="../media/image8.png"/><Relationship Id="rId7" Type="http://schemas.openxmlformats.org/officeDocument/2006/relationships/customXml" Target="../ink/ink3.xml"/><Relationship Id="rId12" Type="http://schemas.openxmlformats.org/officeDocument/2006/relationships/image" Target="../media/image5.png"/><Relationship Id="rId17" Type="http://schemas.openxmlformats.org/officeDocument/2006/relationships/customXml" Target="../ink/ink8.xml"/><Relationship Id="rId25" Type="http://schemas.openxmlformats.org/officeDocument/2006/relationships/image" Target="../media/image10.png"/><Relationship Id="rId2" Type="http://schemas.openxmlformats.org/officeDocument/2006/relationships/notesSlide" Target="../notesSlides/notesSlide2.xml"/><Relationship Id="rId16" Type="http://schemas.openxmlformats.org/officeDocument/2006/relationships/image" Target="../media/image7.png"/><Relationship Id="rId20" Type="http://schemas.openxmlformats.org/officeDocument/2006/relationships/customXml" Target="../ink/ink1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customXml" Target="../ink/ink5.xml"/><Relationship Id="rId24" Type="http://schemas.openxmlformats.org/officeDocument/2006/relationships/customXml" Target="../ink/ink13.xml"/><Relationship Id="rId5" Type="http://schemas.openxmlformats.org/officeDocument/2006/relationships/image" Target="../media/image2.png"/><Relationship Id="rId15" Type="http://schemas.openxmlformats.org/officeDocument/2006/relationships/customXml" Target="../ink/ink7.xml"/><Relationship Id="rId23" Type="http://schemas.openxmlformats.org/officeDocument/2006/relationships/image" Target="../media/image9.png"/><Relationship Id="rId10" Type="http://schemas.openxmlformats.org/officeDocument/2006/relationships/image" Target="../media/image4.png"/><Relationship Id="rId19" Type="http://schemas.openxmlformats.org/officeDocument/2006/relationships/customXml" Target="../ink/ink10.xml"/><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image" Target="../media/image6.png"/><Relationship Id="rId22" Type="http://schemas.openxmlformats.org/officeDocument/2006/relationships/customXml" Target="../ink/ink12.xml"/><Relationship Id="rId27"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000" y="3516809"/>
            <a:ext cx="609600" cy="57150"/>
          </a:xfrm>
          <a:prstGeom prst="rect">
            <a:avLst/>
          </a:prstGeom>
          <a:solidFill>
            <a:srgbClr val="B3261A"/>
          </a:solidFill>
          <a:ln/>
        </p:spPr>
        <p:txBody>
          <a:bodyPr/>
          <a:lstStyle/>
          <a:p>
            <a:endParaRPr lang="en-IL"/>
          </a:p>
        </p:txBody>
      </p:sp>
      <p:sp>
        <p:nvSpPr>
          <p:cNvPr id="3" name="Text 1"/>
          <p:cNvSpPr/>
          <p:nvPr/>
        </p:nvSpPr>
        <p:spPr>
          <a:xfrm>
            <a:off x="1524000" y="4031159"/>
            <a:ext cx="14716125" cy="1659533"/>
          </a:xfrm>
          <a:prstGeom prst="rect">
            <a:avLst/>
          </a:prstGeom>
          <a:noFill/>
          <a:ln/>
        </p:spPr>
        <p:txBody>
          <a:bodyPr wrap="square" lIns="25400" tIns="25400" rIns="25400" bIns="25400" rtlCol="0" anchor="t">
            <a:normAutofit fontScale="77500" lnSpcReduction="20000"/>
          </a:bodyPr>
          <a:lstStyle/>
          <a:p>
            <a:pPr marL="0" indent="0" algn="l">
              <a:lnSpc>
                <a:spcPct val="97466"/>
              </a:lnSpc>
              <a:buNone/>
            </a:pPr>
            <a:r>
              <a:rPr lang="he-IL" sz="5700" b="1" dirty="0">
                <a:solidFill>
                  <a:srgbClr val="161616"/>
                </a:solidFill>
                <a:latin typeface="Helvetica" pitchFamily="34" charset="0"/>
                <a:ea typeface="Helvetica" pitchFamily="34" charset="-122"/>
                <a:cs typeface="Helvetica" pitchFamily="34" charset="-120"/>
              </a:rPr>
              <a:t>The Impact of Urban Road Closures on Public Transit</a:t>
            </a:r>
          </a:p>
          <a:p>
            <a:pPr marL="0" indent="0" algn="l">
              <a:lnSpc>
                <a:spcPct val="97466"/>
              </a:lnSpc>
              <a:buNone/>
            </a:pPr>
            <a:endParaRPr lang="he-IL" sz="5700" b="1" dirty="0">
              <a:solidFill>
                <a:srgbClr val="161616"/>
              </a:solidFill>
              <a:latin typeface="Helvetica" pitchFamily="34" charset="0"/>
              <a:ea typeface="Helvetica" pitchFamily="34" charset="-122"/>
              <a:cs typeface="Helvetica" pitchFamily="34" charset="-120"/>
            </a:endParaRPr>
          </a:p>
          <a:p>
            <a:pPr marL="0" indent="0" algn="l">
              <a:lnSpc>
                <a:spcPct val="97466"/>
              </a:lnSpc>
              <a:buNone/>
            </a:pPr>
            <a:r>
              <a:rPr lang="he-IL" sz="5700" b="1" dirty="0">
                <a:solidFill>
                  <a:srgbClr val="161616"/>
                </a:solidFill>
                <a:latin typeface="Helvetica" pitchFamily="34" charset="0"/>
                <a:ea typeface="Helvetica" pitchFamily="34" charset="-122"/>
                <a:cs typeface="Helvetica" pitchFamily="34" charset="-120"/>
              </a:rPr>
              <a:t>Case Study: Jerusalem </a:t>
            </a:r>
            <a:endParaRPr lang="en-US" sz="5700" dirty="0"/>
          </a:p>
        </p:txBody>
      </p:sp>
      <p:sp>
        <p:nvSpPr>
          <p:cNvPr id="4" name="Text 2"/>
          <p:cNvSpPr/>
          <p:nvPr/>
        </p:nvSpPr>
        <p:spPr>
          <a:xfrm>
            <a:off x="1524000" y="6033592"/>
            <a:ext cx="16764000" cy="3683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6B6B6B"/>
                </a:solidFill>
                <a:latin typeface="Helvetica" pitchFamily="34" charset="0"/>
                <a:ea typeface="Helvetica" pitchFamily="34" charset="-122"/>
                <a:cs typeface="Helvetica" pitchFamily="34" charset="-120"/>
              </a:rPr>
              <a:t>Course 71253 — Introduction to Data Science</a:t>
            </a:r>
            <a:endParaRPr lang="en-US" sz="2250" dirty="0"/>
          </a:p>
        </p:txBody>
      </p:sp>
      <p:sp>
        <p:nvSpPr>
          <p:cNvPr id="5" name="Text 3"/>
          <p:cNvSpPr/>
          <p:nvPr/>
        </p:nvSpPr>
        <p:spPr>
          <a:xfrm>
            <a:off x="1524000" y="6439992"/>
            <a:ext cx="16764000" cy="3683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6B6B6B"/>
                </a:solidFill>
                <a:latin typeface="Helvetica" pitchFamily="34" charset="0"/>
                <a:ea typeface="Helvetica" pitchFamily="34" charset="-122"/>
                <a:cs typeface="Helvetica" pitchFamily="34" charset="-120"/>
              </a:rPr>
              <a:t>Avishag Schwartz , Rony Schwartz</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0444" y="281990"/>
            <a:ext cx="16636174" cy="632420"/>
          </a:xfrm>
          <a:prstGeom prst="rect">
            <a:avLst/>
          </a:prstGeom>
          <a:noFill/>
          <a:ln/>
        </p:spPr>
        <p:txBody>
          <a:bodyPr wrap="square" lIns="25400" tIns="25400" rIns="25400" bIns="25400" rtlCol="0" anchor="t">
            <a:noAutofit/>
          </a:bodyPr>
          <a:lstStyle/>
          <a:p>
            <a:pPr marL="0" indent="0" algn="ctr">
              <a:lnSpc>
                <a:spcPct val="102857"/>
              </a:lnSpc>
              <a:buNone/>
            </a:pPr>
            <a:r>
              <a:rPr lang="en-US" sz="4800" b="1" dirty="0">
                <a:solidFill>
                  <a:srgbClr val="161616"/>
                </a:solidFill>
                <a:latin typeface="Helvetica" pitchFamily="34" charset="0"/>
                <a:ea typeface="Helvetica" pitchFamily="34" charset="-122"/>
                <a:cs typeface="Helvetica" pitchFamily="34" charset="-120"/>
              </a:rPr>
              <a:t>Aza Street closures make </a:t>
            </a:r>
            <a:r>
              <a:rPr lang="en-US" sz="4800" b="1" dirty="0" err="1">
                <a:solidFill>
                  <a:srgbClr val="161616"/>
                </a:solidFill>
                <a:latin typeface="Helvetica" pitchFamily="34" charset="0"/>
                <a:ea typeface="Helvetica" pitchFamily="34" charset="-122"/>
                <a:cs typeface="Helvetica" pitchFamily="34" charset="-120"/>
              </a:rPr>
              <a:t>Rehavia's</a:t>
            </a:r>
            <a:r>
              <a:rPr lang="en-US" sz="4800" b="1" dirty="0">
                <a:solidFill>
                  <a:srgbClr val="161616"/>
                </a:solidFill>
                <a:latin typeface="Helvetica" pitchFamily="34" charset="0"/>
                <a:ea typeface="Helvetica" pitchFamily="34" charset="-122"/>
                <a:cs typeface="Helvetica" pitchFamily="34" charset="-120"/>
              </a:rPr>
              <a:t> buses </a:t>
            </a:r>
            <a:r>
              <a:rPr lang="en-US" sz="4800" b="1" dirty="0" err="1">
                <a:solidFill>
                  <a:srgbClr val="161616"/>
                </a:solidFill>
                <a:latin typeface="Helvetica" pitchFamily="34" charset="0"/>
                <a:ea typeface="Helvetica" pitchFamily="34" charset="-122"/>
                <a:cs typeface="Helvetica" pitchFamily="34" charset="-120"/>
              </a:rPr>
              <a:t>untrustable</a:t>
            </a:r>
            <a:r>
              <a:rPr lang="en-US" sz="4800" b="1" dirty="0">
                <a:solidFill>
                  <a:srgbClr val="161616"/>
                </a:solidFill>
                <a:latin typeface="Helvetica" pitchFamily="34" charset="0"/>
                <a:ea typeface="Helvetica" pitchFamily="34" charset="-122"/>
                <a:cs typeface="Helvetica" pitchFamily="34" charset="-120"/>
              </a:rPr>
              <a:t> </a:t>
            </a:r>
            <a:endParaRPr lang="he-IL" sz="4800" b="1" dirty="0">
              <a:solidFill>
                <a:srgbClr val="161616"/>
              </a:solidFill>
              <a:latin typeface="Helvetica" pitchFamily="34" charset="0"/>
              <a:ea typeface="Helvetica" pitchFamily="34" charset="-122"/>
              <a:cs typeface="Helvetica" pitchFamily="34" charset="-120"/>
            </a:endParaRPr>
          </a:p>
        </p:txBody>
      </p:sp>
      <p:sp>
        <p:nvSpPr>
          <p:cNvPr id="3" name="Text 1"/>
          <p:cNvSpPr/>
          <p:nvPr/>
        </p:nvSpPr>
        <p:spPr>
          <a:xfrm>
            <a:off x="788461" y="2679059"/>
            <a:ext cx="5139330" cy="982086"/>
          </a:xfrm>
          <a:prstGeom prst="rect">
            <a:avLst/>
          </a:prstGeom>
          <a:noFill/>
          <a:ln/>
        </p:spPr>
        <p:txBody>
          <a:bodyPr wrap="square" lIns="25400" tIns="25400" rIns="25400" bIns="25400" rtlCol="0" anchor="t">
            <a:noAutofit/>
          </a:bodyPr>
          <a:lstStyle/>
          <a:p>
            <a:pPr marL="0" indent="0" algn="l">
              <a:buNone/>
            </a:pPr>
            <a:r>
              <a:rPr lang="en-US" sz="2400" b="1" dirty="0">
                <a:solidFill>
                  <a:schemeClr val="tx1">
                    <a:lumMod val="95000"/>
                    <a:lumOff val="5000"/>
                  </a:schemeClr>
                </a:solidFill>
                <a:latin typeface="+mj-lt"/>
                <a:ea typeface="Helvetica" pitchFamily="34" charset="-122"/>
                <a:cs typeface="Helvetica" pitchFamily="34" charset="-120"/>
              </a:rPr>
              <a:t>Therefore ,</a:t>
            </a:r>
            <a:r>
              <a:rPr lang="en-US" sz="2400" b="1" dirty="0" err="1">
                <a:solidFill>
                  <a:schemeClr val="tx1">
                    <a:lumMod val="95000"/>
                    <a:lumOff val="5000"/>
                  </a:schemeClr>
                </a:solidFill>
                <a:latin typeface="+mj-lt"/>
                <a:ea typeface="Helvetica" pitchFamily="34" charset="-122"/>
                <a:cs typeface="Helvetica" pitchFamily="34" charset="-120"/>
              </a:rPr>
              <a:t>Rehavia</a:t>
            </a:r>
            <a:r>
              <a:rPr lang="en-US" sz="2400" b="1" dirty="0">
                <a:solidFill>
                  <a:schemeClr val="tx1">
                    <a:lumMod val="95000"/>
                    <a:lumOff val="5000"/>
                  </a:schemeClr>
                </a:solidFill>
                <a:latin typeface="+mj-lt"/>
                <a:ea typeface="Helvetica" pitchFamily="34" charset="-122"/>
                <a:cs typeface="Helvetica" pitchFamily="34" charset="-120"/>
              </a:rPr>
              <a:t> is a hub of ongoing protests.</a:t>
            </a:r>
            <a:endParaRPr lang="en-US" sz="2400" b="1" dirty="0">
              <a:solidFill>
                <a:schemeClr val="tx1">
                  <a:lumMod val="95000"/>
                  <a:lumOff val="5000"/>
                </a:schemeClr>
              </a:solidFill>
              <a:latin typeface="+mj-lt"/>
            </a:endParaRPr>
          </a:p>
        </p:txBody>
      </p:sp>
      <p:sp>
        <p:nvSpPr>
          <p:cNvPr id="4" name="Text 2"/>
          <p:cNvSpPr/>
          <p:nvPr/>
        </p:nvSpPr>
        <p:spPr>
          <a:xfrm>
            <a:off x="759722" y="2007784"/>
            <a:ext cx="17183100" cy="342900"/>
          </a:xfrm>
          <a:prstGeom prst="rect">
            <a:avLst/>
          </a:prstGeom>
          <a:noFill/>
          <a:ln/>
        </p:spPr>
        <p:txBody>
          <a:bodyPr wrap="square" lIns="25400" tIns="25400" rIns="25400" bIns="25400" rtlCol="0" anchor="t">
            <a:noAutofit/>
          </a:bodyPr>
          <a:lstStyle/>
          <a:p>
            <a:pPr marL="0" indent="0" algn="l">
              <a:buNone/>
            </a:pPr>
            <a:r>
              <a:rPr lang="en-US" sz="2400" b="1" dirty="0">
                <a:solidFill>
                  <a:schemeClr val="tx1">
                    <a:lumMod val="95000"/>
                    <a:lumOff val="5000"/>
                  </a:schemeClr>
                </a:solidFill>
                <a:latin typeface="+mj-lt"/>
                <a:ea typeface="Helvetica" pitchFamily="34" charset="-122"/>
                <a:cs typeface="Helvetica" pitchFamily="34" charset="-120"/>
              </a:rPr>
              <a:t>The Prime Minister lives on Aza Street.</a:t>
            </a:r>
            <a:endParaRPr lang="en-US" sz="2400" b="1" dirty="0">
              <a:solidFill>
                <a:schemeClr val="tx1">
                  <a:lumMod val="95000"/>
                  <a:lumOff val="5000"/>
                </a:schemeClr>
              </a:solidFill>
              <a:latin typeface="+mj-lt"/>
            </a:endParaRPr>
          </a:p>
        </p:txBody>
      </p:sp>
      <p:sp>
        <p:nvSpPr>
          <p:cNvPr id="5" name="Text 3"/>
          <p:cNvSpPr/>
          <p:nvPr/>
        </p:nvSpPr>
        <p:spPr>
          <a:xfrm>
            <a:off x="759722" y="3899471"/>
            <a:ext cx="17183100" cy="342900"/>
          </a:xfrm>
          <a:prstGeom prst="rect">
            <a:avLst/>
          </a:prstGeom>
          <a:noFill/>
          <a:ln/>
        </p:spPr>
        <p:txBody>
          <a:bodyPr wrap="square" lIns="25400" tIns="25400" rIns="25400" bIns="25400" rtlCol="0" anchor="t">
            <a:noAutofit/>
          </a:bodyPr>
          <a:lstStyle/>
          <a:p>
            <a:pPr marL="0" indent="0" algn="l">
              <a:buNone/>
            </a:pPr>
            <a:r>
              <a:rPr lang="en-US" sz="2400" b="1" dirty="0">
                <a:solidFill>
                  <a:schemeClr val="tx1">
                    <a:lumMod val="95000"/>
                    <a:lumOff val="5000"/>
                  </a:schemeClr>
                </a:solidFill>
                <a:latin typeface="+mj-lt"/>
                <a:ea typeface="Helvetica" pitchFamily="34" charset="-122"/>
                <a:cs typeface="Helvetica" pitchFamily="34" charset="-120"/>
              </a:rPr>
              <a:t>Police repeatedly close the street to traffic.</a:t>
            </a:r>
            <a:endParaRPr lang="en-US" sz="2400" b="1" dirty="0">
              <a:solidFill>
                <a:schemeClr val="tx1">
                  <a:lumMod val="95000"/>
                  <a:lumOff val="5000"/>
                </a:schemeClr>
              </a:solidFill>
              <a:latin typeface="+mj-lt"/>
            </a:endParaRPr>
          </a:p>
        </p:txBody>
      </p:sp>
      <p:sp>
        <p:nvSpPr>
          <p:cNvPr id="6" name="Text 4"/>
          <p:cNvSpPr/>
          <p:nvPr/>
        </p:nvSpPr>
        <p:spPr>
          <a:xfrm>
            <a:off x="8968531" y="9378410"/>
            <a:ext cx="7952423"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1 — MAP OF REHAVIA AND THE STUDIED BUS LINES</a:t>
            </a:r>
            <a:endParaRPr lang="en-US" sz="1800" dirty="0"/>
          </a:p>
        </p:txBody>
      </p:sp>
      <p:pic>
        <p:nvPicPr>
          <p:cNvPr id="7" name="Content Placeholder 4">
            <a:extLst>
              <a:ext uri="{FF2B5EF4-FFF2-40B4-BE49-F238E27FC236}">
                <a16:creationId xmlns:a16="http://schemas.microsoft.com/office/drawing/2014/main" id="{5B2E3958-271F-2EFD-E41A-FCFE886F2A02}"/>
              </a:ext>
            </a:extLst>
          </p:cNvPr>
          <p:cNvPicPr>
            <a:picLocks noChangeAspect="1"/>
          </p:cNvPicPr>
          <p:nvPr/>
        </p:nvPicPr>
        <p:blipFill>
          <a:blip r:embed="rId3"/>
          <a:srcRect t="9423" r="243" b="12846"/>
          <a:stretch>
            <a:fillRect/>
          </a:stretch>
        </p:blipFill>
        <p:spPr>
          <a:xfrm>
            <a:off x="6672417" y="1254380"/>
            <a:ext cx="11199455" cy="7968780"/>
          </a:xfrm>
          <a:prstGeom prst="rect">
            <a:avLst/>
          </a:prstGeom>
          <a:ln w="28575">
            <a:solidFill>
              <a:schemeClr val="tx1"/>
            </a:solidFill>
          </a:ln>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41D843F-7263-1537-30AE-4FD15BA200E8}"/>
                  </a:ext>
                </a:extLst>
              </p14:cNvPr>
              <p14:cNvContentPartPr/>
              <p14:nvPr/>
            </p14:nvContentPartPr>
            <p14:xfrm>
              <a:off x="12551365" y="-234566"/>
              <a:ext cx="540" cy="540"/>
            </p14:xfrm>
          </p:contentPart>
        </mc:Choice>
        <mc:Fallback xmlns="">
          <p:pic>
            <p:nvPicPr>
              <p:cNvPr id="8" name="Ink 7">
                <a:extLst>
                  <a:ext uri="{FF2B5EF4-FFF2-40B4-BE49-F238E27FC236}">
                    <a16:creationId xmlns:a16="http://schemas.microsoft.com/office/drawing/2014/main" id="{641D843F-7263-1537-30AE-4FD15BA200E8}"/>
                  </a:ext>
                </a:extLst>
              </p:cNvPr>
              <p:cNvPicPr/>
              <p:nvPr/>
            </p:nvPicPr>
            <p:blipFill>
              <a:blip r:embed="rId5"/>
              <a:stretch>
                <a:fillRect/>
              </a:stretch>
            </p:blipFill>
            <p:spPr>
              <a:xfrm>
                <a:off x="12529765" y="-256166"/>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B5C7F10-A8A5-7254-C155-FC100B670E6D}"/>
                  </a:ext>
                </a:extLst>
              </p14:cNvPr>
              <p14:cNvContentPartPr/>
              <p14:nvPr/>
            </p14:nvContentPartPr>
            <p14:xfrm>
              <a:off x="11395959" y="704430"/>
              <a:ext cx="540" cy="540"/>
            </p14:xfrm>
          </p:contentPart>
        </mc:Choice>
        <mc:Fallback xmlns="">
          <p:pic>
            <p:nvPicPr>
              <p:cNvPr id="9" name="Ink 8">
                <a:extLst>
                  <a:ext uri="{FF2B5EF4-FFF2-40B4-BE49-F238E27FC236}">
                    <a16:creationId xmlns:a16="http://schemas.microsoft.com/office/drawing/2014/main" id="{7B5C7F10-A8A5-7254-C155-FC100B670E6D}"/>
                  </a:ext>
                </a:extLst>
              </p:cNvPr>
              <p:cNvPicPr/>
              <p:nvPr/>
            </p:nvPicPr>
            <p:blipFill>
              <a:blip r:embed="rId5"/>
              <a:stretch>
                <a:fillRect/>
              </a:stretch>
            </p:blipFill>
            <p:spPr>
              <a:xfrm>
                <a:off x="11374359" y="682830"/>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E518C89-B40D-12F9-41CC-5A2933D3361E}"/>
                  </a:ext>
                </a:extLst>
              </p14:cNvPr>
              <p14:cNvContentPartPr/>
              <p14:nvPr/>
            </p14:nvContentPartPr>
            <p14:xfrm>
              <a:off x="9131071" y="1166900"/>
              <a:ext cx="4692060" cy="7759260"/>
            </p14:xfrm>
          </p:contentPart>
        </mc:Choice>
        <mc:Fallback xmlns="">
          <p:pic>
            <p:nvPicPr>
              <p:cNvPr id="10" name="Ink 9">
                <a:extLst>
                  <a:ext uri="{FF2B5EF4-FFF2-40B4-BE49-F238E27FC236}">
                    <a16:creationId xmlns:a16="http://schemas.microsoft.com/office/drawing/2014/main" id="{FE518C89-B40D-12F9-41CC-5A2933D3361E}"/>
                  </a:ext>
                </a:extLst>
              </p:cNvPr>
              <p:cNvPicPr/>
              <p:nvPr/>
            </p:nvPicPr>
            <p:blipFill>
              <a:blip r:embed="rId8"/>
              <a:stretch>
                <a:fillRect/>
              </a:stretch>
            </p:blipFill>
            <p:spPr>
              <a:xfrm>
                <a:off x="9116673" y="1152499"/>
                <a:ext cx="4720137" cy="778734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8F420FE2-1448-0DA0-0BFA-C1C99CCE5540}"/>
                  </a:ext>
                </a:extLst>
              </p14:cNvPr>
              <p14:cNvContentPartPr/>
              <p14:nvPr/>
            </p14:nvContentPartPr>
            <p14:xfrm>
              <a:off x="9172111" y="1191200"/>
              <a:ext cx="4647780" cy="7712820"/>
            </p14:xfrm>
          </p:contentPart>
        </mc:Choice>
        <mc:Fallback xmlns="">
          <p:pic>
            <p:nvPicPr>
              <p:cNvPr id="11" name="Ink 10">
                <a:extLst>
                  <a:ext uri="{FF2B5EF4-FFF2-40B4-BE49-F238E27FC236}">
                    <a16:creationId xmlns:a16="http://schemas.microsoft.com/office/drawing/2014/main" id="{8F420FE2-1448-0DA0-0BFA-C1C99CCE5540}"/>
                  </a:ext>
                </a:extLst>
              </p:cNvPr>
              <p:cNvPicPr/>
              <p:nvPr/>
            </p:nvPicPr>
            <p:blipFill>
              <a:blip r:embed="rId10"/>
              <a:stretch>
                <a:fillRect/>
              </a:stretch>
            </p:blipFill>
            <p:spPr>
              <a:xfrm>
                <a:off x="9157710" y="1176800"/>
                <a:ext cx="4675861" cy="774090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58518FB-3891-E8D8-772B-A3DDDF0735A4}"/>
                  </a:ext>
                </a:extLst>
              </p14:cNvPr>
              <p14:cNvContentPartPr/>
              <p14:nvPr/>
            </p14:nvContentPartPr>
            <p14:xfrm>
              <a:off x="13572571" y="1254380"/>
              <a:ext cx="258120" cy="607500"/>
            </p14:xfrm>
          </p:contentPart>
        </mc:Choice>
        <mc:Fallback xmlns="">
          <p:pic>
            <p:nvPicPr>
              <p:cNvPr id="12" name="Ink 11">
                <a:extLst>
                  <a:ext uri="{FF2B5EF4-FFF2-40B4-BE49-F238E27FC236}">
                    <a16:creationId xmlns:a16="http://schemas.microsoft.com/office/drawing/2014/main" id="{A58518FB-3891-E8D8-772B-A3DDDF0735A4}"/>
                  </a:ext>
                </a:extLst>
              </p:cNvPr>
              <p:cNvPicPr/>
              <p:nvPr/>
            </p:nvPicPr>
            <p:blipFill>
              <a:blip r:embed="rId12"/>
              <a:stretch>
                <a:fillRect/>
              </a:stretch>
            </p:blipFill>
            <p:spPr>
              <a:xfrm>
                <a:off x="13558151" y="1239993"/>
                <a:ext cx="286600" cy="63555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85047706-3202-4C73-12EA-2224CBC06BE7}"/>
                  </a:ext>
                </a:extLst>
              </p14:cNvPr>
              <p14:cNvContentPartPr/>
              <p14:nvPr/>
            </p14:nvContentPartPr>
            <p14:xfrm>
              <a:off x="9900571" y="1234940"/>
              <a:ext cx="4965300" cy="7988220"/>
            </p14:xfrm>
          </p:contentPart>
        </mc:Choice>
        <mc:Fallback xmlns="">
          <p:pic>
            <p:nvPicPr>
              <p:cNvPr id="13" name="Ink 12">
                <a:extLst>
                  <a:ext uri="{FF2B5EF4-FFF2-40B4-BE49-F238E27FC236}">
                    <a16:creationId xmlns:a16="http://schemas.microsoft.com/office/drawing/2014/main" id="{85047706-3202-4C73-12EA-2224CBC06BE7}"/>
                  </a:ext>
                </a:extLst>
              </p:cNvPr>
              <p:cNvPicPr/>
              <p:nvPr/>
            </p:nvPicPr>
            <p:blipFill>
              <a:blip r:embed="rId14"/>
              <a:stretch>
                <a:fillRect/>
              </a:stretch>
            </p:blipFill>
            <p:spPr>
              <a:xfrm>
                <a:off x="9886169" y="1220540"/>
                <a:ext cx="4993383" cy="8016301"/>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31A07E69-B31C-74DB-E262-A5A204AE03DC}"/>
                  </a:ext>
                </a:extLst>
              </p14:cNvPr>
              <p14:cNvContentPartPr/>
              <p14:nvPr/>
            </p14:nvContentPartPr>
            <p14:xfrm>
              <a:off x="15766591" y="6720800"/>
              <a:ext cx="540" cy="540"/>
            </p14:xfrm>
          </p:contentPart>
        </mc:Choice>
        <mc:Fallback xmlns="">
          <p:pic>
            <p:nvPicPr>
              <p:cNvPr id="14" name="Ink 13">
                <a:extLst>
                  <a:ext uri="{FF2B5EF4-FFF2-40B4-BE49-F238E27FC236}">
                    <a16:creationId xmlns:a16="http://schemas.microsoft.com/office/drawing/2014/main" id="{31A07E69-B31C-74DB-E262-A5A204AE03DC}"/>
                  </a:ext>
                </a:extLst>
              </p:cNvPr>
              <p:cNvPicPr/>
              <p:nvPr/>
            </p:nvPicPr>
            <p:blipFill>
              <a:blip r:embed="rId16"/>
              <a:stretch>
                <a:fillRect/>
              </a:stretch>
            </p:blipFill>
            <p:spPr>
              <a:xfrm>
                <a:off x="15744991" y="6699200"/>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CF819E49-0B5F-B248-0441-399A74222D9B}"/>
                  </a:ext>
                </a:extLst>
              </p14:cNvPr>
              <p14:cNvContentPartPr/>
              <p14:nvPr/>
            </p14:nvContentPartPr>
            <p14:xfrm>
              <a:off x="8967991" y="4930700"/>
              <a:ext cx="540" cy="540"/>
            </p14:xfrm>
          </p:contentPart>
        </mc:Choice>
        <mc:Fallback xmlns="">
          <p:pic>
            <p:nvPicPr>
              <p:cNvPr id="15" name="Ink 14">
                <a:extLst>
                  <a:ext uri="{FF2B5EF4-FFF2-40B4-BE49-F238E27FC236}">
                    <a16:creationId xmlns:a16="http://schemas.microsoft.com/office/drawing/2014/main" id="{CF819E49-0B5F-B248-0441-399A74222D9B}"/>
                  </a:ext>
                </a:extLst>
              </p:cNvPr>
              <p:cNvPicPr/>
              <p:nvPr/>
            </p:nvPicPr>
            <p:blipFill>
              <a:blip r:embed="rId16"/>
              <a:stretch>
                <a:fillRect/>
              </a:stretch>
            </p:blipFill>
            <p:spPr>
              <a:xfrm>
                <a:off x="8946391" y="4909100"/>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717F2260-D3BD-793F-5362-D92C1DAD12DC}"/>
                  </a:ext>
                </a:extLst>
              </p14:cNvPr>
              <p14:cNvContentPartPr/>
              <p14:nvPr/>
            </p14:nvContentPartPr>
            <p14:xfrm>
              <a:off x="4095031" y="4026200"/>
              <a:ext cx="540" cy="540"/>
            </p14:xfrm>
          </p:contentPart>
        </mc:Choice>
        <mc:Fallback xmlns="">
          <p:pic>
            <p:nvPicPr>
              <p:cNvPr id="16" name="Ink 15">
                <a:extLst>
                  <a:ext uri="{FF2B5EF4-FFF2-40B4-BE49-F238E27FC236}">
                    <a16:creationId xmlns:a16="http://schemas.microsoft.com/office/drawing/2014/main" id="{717F2260-D3BD-793F-5362-D92C1DAD12DC}"/>
                  </a:ext>
                </a:extLst>
              </p:cNvPr>
              <p:cNvPicPr/>
              <p:nvPr/>
            </p:nvPicPr>
            <p:blipFill>
              <a:blip r:embed="rId16"/>
              <a:stretch>
                <a:fillRect/>
              </a:stretch>
            </p:blipFill>
            <p:spPr>
              <a:xfrm>
                <a:off x="4073431" y="4004600"/>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B59BEBC3-1469-B4B9-5692-96147E217714}"/>
                  </a:ext>
                </a:extLst>
              </p14:cNvPr>
              <p14:cNvContentPartPr/>
              <p14:nvPr/>
            </p14:nvContentPartPr>
            <p14:xfrm>
              <a:off x="4095031" y="4026200"/>
              <a:ext cx="540" cy="540"/>
            </p14:xfrm>
          </p:contentPart>
        </mc:Choice>
        <mc:Fallback xmlns="">
          <p:pic>
            <p:nvPicPr>
              <p:cNvPr id="17" name="Ink 16">
                <a:extLst>
                  <a:ext uri="{FF2B5EF4-FFF2-40B4-BE49-F238E27FC236}">
                    <a16:creationId xmlns:a16="http://schemas.microsoft.com/office/drawing/2014/main" id="{B59BEBC3-1469-B4B9-5692-96147E217714}"/>
                  </a:ext>
                </a:extLst>
              </p:cNvPr>
              <p:cNvPicPr/>
              <p:nvPr/>
            </p:nvPicPr>
            <p:blipFill>
              <a:blip r:embed="rId16"/>
              <a:stretch>
                <a:fillRect/>
              </a:stretch>
            </p:blipFill>
            <p:spPr>
              <a:xfrm>
                <a:off x="4073431" y="4004600"/>
                <a:ext cx="42660" cy="426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1B9348E8-2DF1-89D3-30EE-6F883ACB804E}"/>
                  </a:ext>
                </a:extLst>
              </p14:cNvPr>
              <p14:cNvContentPartPr/>
              <p14:nvPr/>
            </p14:nvContentPartPr>
            <p14:xfrm>
              <a:off x="6565531" y="1444460"/>
              <a:ext cx="6616620" cy="5957280"/>
            </p14:xfrm>
          </p:contentPart>
        </mc:Choice>
        <mc:Fallback xmlns="">
          <p:pic>
            <p:nvPicPr>
              <p:cNvPr id="19" name="Ink 18">
                <a:extLst>
                  <a:ext uri="{FF2B5EF4-FFF2-40B4-BE49-F238E27FC236}">
                    <a16:creationId xmlns:a16="http://schemas.microsoft.com/office/drawing/2014/main" id="{1B9348E8-2DF1-89D3-30EE-6F883ACB804E}"/>
                  </a:ext>
                </a:extLst>
              </p:cNvPr>
              <p:cNvPicPr/>
              <p:nvPr/>
            </p:nvPicPr>
            <p:blipFill>
              <a:blip r:embed="rId21"/>
              <a:stretch>
                <a:fillRect/>
              </a:stretch>
            </p:blipFill>
            <p:spPr>
              <a:xfrm>
                <a:off x="6551131" y="1430061"/>
                <a:ext cx="6644701" cy="5985358"/>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84B80E5B-8F91-ECF8-EE7B-4E19CC75AED0}"/>
                  </a:ext>
                </a:extLst>
              </p14:cNvPr>
              <p14:cNvContentPartPr/>
              <p14:nvPr/>
            </p14:nvContentPartPr>
            <p14:xfrm>
              <a:off x="6783151" y="3857720"/>
              <a:ext cx="10005660" cy="3597480"/>
            </p14:xfrm>
          </p:contentPart>
        </mc:Choice>
        <mc:Fallback xmlns="">
          <p:pic>
            <p:nvPicPr>
              <p:cNvPr id="20" name="Ink 19">
                <a:extLst>
                  <a:ext uri="{FF2B5EF4-FFF2-40B4-BE49-F238E27FC236}">
                    <a16:creationId xmlns:a16="http://schemas.microsoft.com/office/drawing/2014/main" id="{84B80E5B-8F91-ECF8-EE7B-4E19CC75AED0}"/>
                  </a:ext>
                </a:extLst>
              </p:cNvPr>
              <p:cNvPicPr/>
              <p:nvPr/>
            </p:nvPicPr>
            <p:blipFill>
              <a:blip r:embed="rId23"/>
              <a:stretch>
                <a:fillRect/>
              </a:stretch>
            </p:blipFill>
            <p:spPr>
              <a:xfrm>
                <a:off x="6768751" y="3843320"/>
                <a:ext cx="10033741" cy="3625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B79B77FE-11CD-E455-2FDF-0487581A9E51}"/>
                  </a:ext>
                </a:extLst>
              </p14:cNvPr>
              <p14:cNvContentPartPr/>
              <p14:nvPr/>
            </p14:nvContentPartPr>
            <p14:xfrm>
              <a:off x="6896011" y="3845840"/>
              <a:ext cx="3803760" cy="5346000"/>
            </p14:xfrm>
          </p:contentPart>
        </mc:Choice>
        <mc:Fallback xmlns="">
          <p:pic>
            <p:nvPicPr>
              <p:cNvPr id="21" name="Ink 20">
                <a:extLst>
                  <a:ext uri="{FF2B5EF4-FFF2-40B4-BE49-F238E27FC236}">
                    <a16:creationId xmlns:a16="http://schemas.microsoft.com/office/drawing/2014/main" id="{B79B77FE-11CD-E455-2FDF-0487581A9E51}"/>
                  </a:ext>
                </a:extLst>
              </p:cNvPr>
              <p:cNvPicPr/>
              <p:nvPr/>
            </p:nvPicPr>
            <p:blipFill>
              <a:blip r:embed="rId25"/>
              <a:stretch>
                <a:fillRect/>
              </a:stretch>
            </p:blipFill>
            <p:spPr>
              <a:xfrm>
                <a:off x="6881610" y="3831438"/>
                <a:ext cx="3832203" cy="5374084"/>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D70D98A-D62E-CF6D-1A5D-970FE7752F11}"/>
                  </a:ext>
                </a:extLst>
              </p14:cNvPr>
              <p14:cNvContentPartPr/>
              <p14:nvPr/>
            </p14:nvContentPartPr>
            <p14:xfrm>
              <a:off x="10010191" y="1325660"/>
              <a:ext cx="421200" cy="7792200"/>
            </p14:xfrm>
          </p:contentPart>
        </mc:Choice>
        <mc:Fallback xmlns="">
          <p:pic>
            <p:nvPicPr>
              <p:cNvPr id="22" name="Ink 21">
                <a:extLst>
                  <a:ext uri="{FF2B5EF4-FFF2-40B4-BE49-F238E27FC236}">
                    <a16:creationId xmlns:a16="http://schemas.microsoft.com/office/drawing/2014/main" id="{4D70D98A-D62E-CF6D-1A5D-970FE7752F11}"/>
                  </a:ext>
                </a:extLst>
              </p:cNvPr>
              <p:cNvPicPr/>
              <p:nvPr/>
            </p:nvPicPr>
            <p:blipFill>
              <a:blip r:embed="rId27"/>
              <a:stretch>
                <a:fillRect/>
              </a:stretch>
            </p:blipFill>
            <p:spPr>
              <a:xfrm>
                <a:off x="9995779" y="1311260"/>
                <a:ext cx="449664" cy="7820280"/>
              </a:xfrm>
              <a:prstGeom prst="rect">
                <a:avLst/>
              </a:prstGeom>
            </p:spPr>
          </p:pic>
        </mc:Fallback>
      </mc:AlternateContent>
      <p:sp>
        <p:nvSpPr>
          <p:cNvPr id="27" name="TextBox 26">
            <a:extLst>
              <a:ext uri="{FF2B5EF4-FFF2-40B4-BE49-F238E27FC236}">
                <a16:creationId xmlns:a16="http://schemas.microsoft.com/office/drawing/2014/main" id="{8E37BD80-9AE3-1ED8-E5A8-DAB5191B1EF8}"/>
              </a:ext>
            </a:extLst>
          </p:cNvPr>
          <p:cNvSpPr txBox="1"/>
          <p:nvPr/>
        </p:nvSpPr>
        <p:spPr>
          <a:xfrm>
            <a:off x="714156" y="1254398"/>
            <a:ext cx="4866257" cy="461665"/>
          </a:xfrm>
          <a:prstGeom prst="rect">
            <a:avLst/>
          </a:prstGeom>
          <a:noFill/>
        </p:spPr>
        <p:txBody>
          <a:bodyPr wrap="square" rtlCol="0">
            <a:spAutoFit/>
          </a:bodyPr>
          <a:lstStyle/>
          <a:p>
            <a:r>
              <a:rPr lang="he-IL" sz="2400" b="1" dirty="0">
                <a:solidFill>
                  <a:schemeClr val="tx1">
                    <a:lumMod val="95000"/>
                    <a:lumOff val="5000"/>
                  </a:schemeClr>
                </a:solidFill>
                <a:latin typeface="+mj-lt"/>
              </a:rPr>
              <a:t>A</a:t>
            </a:r>
            <a:r>
              <a:rPr lang="en-US" sz="2400" b="1" dirty="0">
                <a:solidFill>
                  <a:schemeClr val="tx1">
                    <a:lumMod val="95000"/>
                    <a:lumOff val="5000"/>
                  </a:schemeClr>
                </a:solidFill>
                <a:latin typeface="+mj-lt"/>
              </a:rPr>
              <a:t>za is a</a:t>
            </a:r>
            <a:r>
              <a:rPr lang="he-IL" sz="2400" b="1" dirty="0">
                <a:solidFill>
                  <a:schemeClr val="tx1">
                    <a:lumMod val="95000"/>
                    <a:lumOff val="5000"/>
                  </a:schemeClr>
                </a:solidFill>
                <a:latin typeface="+mj-lt"/>
              </a:rPr>
              <a:t> narrow, central traffic artery</a:t>
            </a:r>
            <a:endParaRPr lang="en-IL" sz="2400" b="1" dirty="0">
              <a:solidFill>
                <a:schemeClr val="tx1">
                  <a:lumMod val="95000"/>
                  <a:lumOff val="5000"/>
                </a:schemeClr>
              </a:solidFill>
              <a:latin typeface="+mj-lt"/>
            </a:endParaRPr>
          </a:p>
        </p:txBody>
      </p:sp>
      <p:sp>
        <p:nvSpPr>
          <p:cNvPr id="28" name="TextBox 27">
            <a:extLst>
              <a:ext uri="{FF2B5EF4-FFF2-40B4-BE49-F238E27FC236}">
                <a16:creationId xmlns:a16="http://schemas.microsoft.com/office/drawing/2014/main" id="{479922D7-9525-38AC-54C3-BA296975FE8E}"/>
              </a:ext>
            </a:extLst>
          </p:cNvPr>
          <p:cNvSpPr txBox="1"/>
          <p:nvPr/>
        </p:nvSpPr>
        <p:spPr>
          <a:xfrm>
            <a:off x="759722" y="4596348"/>
            <a:ext cx="5066342" cy="830997"/>
          </a:xfrm>
          <a:prstGeom prst="rect">
            <a:avLst/>
          </a:prstGeom>
          <a:noFill/>
        </p:spPr>
        <p:txBody>
          <a:bodyPr wrap="square" rtlCol="0">
            <a:spAutoFit/>
          </a:bodyPr>
          <a:lstStyle/>
          <a:p>
            <a:r>
              <a:rPr lang="he-IL" sz="2400" b="1" dirty="0">
                <a:solidFill>
                  <a:schemeClr val="tx1">
                    <a:lumMod val="95000"/>
                    <a:lumOff val="5000"/>
                  </a:schemeClr>
                </a:solidFill>
                <a:latin typeface="+mj-lt"/>
              </a:rPr>
              <a:t>We study lines that pass through this area, affected by closures</a:t>
            </a:r>
            <a:endParaRPr lang="en-IL" sz="2400" b="1" dirty="0">
              <a:solidFill>
                <a:schemeClr val="tx1">
                  <a:lumMod val="95000"/>
                  <a:lumOff val="5000"/>
                </a:schemeClr>
              </a:solidFill>
              <a:latin typeface="+mj-lt"/>
            </a:endParaRPr>
          </a:p>
        </p:txBody>
      </p:sp>
      <p:graphicFrame>
        <p:nvGraphicFramePr>
          <p:cNvPr id="23" name="Table 22">
            <a:extLst>
              <a:ext uri="{FF2B5EF4-FFF2-40B4-BE49-F238E27FC236}">
                <a16:creationId xmlns:a16="http://schemas.microsoft.com/office/drawing/2014/main" id="{35534F0D-9443-EFDB-95FF-0B415980AD61}"/>
              </a:ext>
            </a:extLst>
          </p:cNvPr>
          <p:cNvGraphicFramePr>
            <a:graphicFrameLocks noGrp="1"/>
          </p:cNvGraphicFramePr>
          <p:nvPr>
            <p:extLst>
              <p:ext uri="{D42A27DB-BD31-4B8C-83A1-F6EECF244321}">
                <p14:modId xmlns:p14="http://schemas.microsoft.com/office/powerpoint/2010/main" val="2375557082"/>
              </p:ext>
            </p:extLst>
          </p:nvPr>
        </p:nvGraphicFramePr>
        <p:xfrm>
          <a:off x="535813" y="5792400"/>
          <a:ext cx="5454078" cy="1097280"/>
        </p:xfrm>
        <a:graphic>
          <a:graphicData uri="http://schemas.openxmlformats.org/drawingml/2006/table">
            <a:tbl>
              <a:tblPr bandRow="1">
                <a:tableStyleId>{5C22544A-7EE6-4342-B048-85BDC9FD1C3A}</a:tableStyleId>
              </a:tblPr>
              <a:tblGrid>
                <a:gridCol w="2727039">
                  <a:extLst>
                    <a:ext uri="{9D8B030D-6E8A-4147-A177-3AD203B41FA5}">
                      <a16:colId xmlns:a16="http://schemas.microsoft.com/office/drawing/2014/main" val="1008750618"/>
                    </a:ext>
                  </a:extLst>
                </a:gridCol>
                <a:gridCol w="2727039">
                  <a:extLst>
                    <a:ext uri="{9D8B030D-6E8A-4147-A177-3AD203B41FA5}">
                      <a16:colId xmlns:a16="http://schemas.microsoft.com/office/drawing/2014/main" val="3886391512"/>
                    </a:ext>
                  </a:extLst>
                </a:gridCol>
              </a:tblGrid>
              <a:tr h="361436">
                <a:tc rowSpan="3">
                  <a:txBody>
                    <a:bodyPr/>
                    <a:lstStyle/>
                    <a:p>
                      <a:r>
                        <a:rPr lang="he-IL" dirty="0"/>
                        <a:t>מקטע מלא ברחוב עזה </a:t>
                      </a:r>
                      <a:endParaRPr lang="en-IL" dirty="0"/>
                    </a:p>
                  </a:txBody>
                  <a:tcPr/>
                </a:tc>
                <a:tc>
                  <a:txBody>
                    <a:bodyPr/>
                    <a:lstStyle/>
                    <a:p>
                      <a:r>
                        <a:rPr lang="he-IL" dirty="0"/>
                        <a:t>17</a:t>
                      </a:r>
                      <a:endParaRPr lang="en-IL" dirty="0"/>
                    </a:p>
                  </a:txBody>
                  <a:tcPr/>
                </a:tc>
                <a:extLst>
                  <a:ext uri="{0D108BD9-81ED-4DB2-BD59-A6C34878D82A}">
                    <a16:rowId xmlns:a16="http://schemas.microsoft.com/office/drawing/2014/main" val="1432804277"/>
                  </a:ext>
                </a:extLst>
              </a:tr>
              <a:tr h="361436">
                <a:tc vMerge="1">
                  <a:txBody>
                    <a:bodyPr/>
                    <a:lstStyle/>
                    <a:p>
                      <a:endParaRPr lang="en-IL" dirty="0"/>
                    </a:p>
                  </a:txBody>
                  <a:tcPr/>
                </a:tc>
                <a:tc>
                  <a:txBody>
                    <a:bodyPr/>
                    <a:lstStyle/>
                    <a:p>
                      <a:r>
                        <a:rPr lang="he-IL" dirty="0"/>
                        <a:t>19</a:t>
                      </a:r>
                      <a:endParaRPr lang="en-IL" dirty="0"/>
                    </a:p>
                  </a:txBody>
                  <a:tcPr/>
                </a:tc>
                <a:extLst>
                  <a:ext uri="{0D108BD9-81ED-4DB2-BD59-A6C34878D82A}">
                    <a16:rowId xmlns:a16="http://schemas.microsoft.com/office/drawing/2014/main" val="1731315087"/>
                  </a:ext>
                </a:extLst>
              </a:tr>
              <a:tr h="361436">
                <a:tc vMerge="1">
                  <a:txBody>
                    <a:bodyPr/>
                    <a:lstStyle/>
                    <a:p>
                      <a:endParaRPr lang="en-IL" dirty="0"/>
                    </a:p>
                  </a:txBody>
                  <a:tcPr/>
                </a:tc>
                <a:tc>
                  <a:txBody>
                    <a:bodyPr/>
                    <a:lstStyle/>
                    <a:p>
                      <a:r>
                        <a:rPr lang="he-IL" dirty="0"/>
                        <a:t>22</a:t>
                      </a:r>
                      <a:endParaRPr lang="en-IL" dirty="0"/>
                    </a:p>
                  </a:txBody>
                  <a:tcPr/>
                </a:tc>
                <a:extLst>
                  <a:ext uri="{0D108BD9-81ED-4DB2-BD59-A6C34878D82A}">
                    <a16:rowId xmlns:a16="http://schemas.microsoft.com/office/drawing/2014/main" val="1134428342"/>
                  </a:ext>
                </a:extLst>
              </a:tr>
            </a:tbl>
          </a:graphicData>
        </a:graphic>
      </p:graphicFrame>
      <p:graphicFrame>
        <p:nvGraphicFramePr>
          <p:cNvPr id="24" name="Table 23">
            <a:extLst>
              <a:ext uri="{FF2B5EF4-FFF2-40B4-BE49-F238E27FC236}">
                <a16:creationId xmlns:a16="http://schemas.microsoft.com/office/drawing/2014/main" id="{9598E726-0327-3FC0-8358-456BF7546E5D}"/>
              </a:ext>
            </a:extLst>
          </p:cNvPr>
          <p:cNvGraphicFramePr>
            <a:graphicFrameLocks noGrp="1"/>
          </p:cNvGraphicFramePr>
          <p:nvPr>
            <p:extLst>
              <p:ext uri="{D42A27DB-BD31-4B8C-83A1-F6EECF244321}">
                <p14:modId xmlns:p14="http://schemas.microsoft.com/office/powerpoint/2010/main" val="69135055"/>
              </p:ext>
            </p:extLst>
          </p:nvPr>
        </p:nvGraphicFramePr>
        <p:xfrm>
          <a:off x="541652" y="7136620"/>
          <a:ext cx="5502482" cy="950600"/>
        </p:xfrm>
        <a:graphic>
          <a:graphicData uri="http://schemas.openxmlformats.org/drawingml/2006/table">
            <a:tbl>
              <a:tblPr bandRow="1">
                <a:tableStyleId>{5C22544A-7EE6-4342-B048-85BDC9FD1C3A}</a:tableStyleId>
              </a:tblPr>
              <a:tblGrid>
                <a:gridCol w="2751241">
                  <a:extLst>
                    <a:ext uri="{9D8B030D-6E8A-4147-A177-3AD203B41FA5}">
                      <a16:colId xmlns:a16="http://schemas.microsoft.com/office/drawing/2014/main" val="405276116"/>
                    </a:ext>
                  </a:extLst>
                </a:gridCol>
                <a:gridCol w="2751241">
                  <a:extLst>
                    <a:ext uri="{9D8B030D-6E8A-4147-A177-3AD203B41FA5}">
                      <a16:colId xmlns:a16="http://schemas.microsoft.com/office/drawing/2014/main" val="3504088190"/>
                    </a:ext>
                  </a:extLst>
                </a:gridCol>
              </a:tblGrid>
              <a:tr h="475300">
                <a:tc rowSpan="2">
                  <a:txBody>
                    <a:bodyPr/>
                    <a:lstStyle/>
                    <a:p>
                      <a:r>
                        <a:rPr lang="he-IL" dirty="0"/>
                        <a:t>מקטע חלקי ברחוב עזה</a:t>
                      </a:r>
                      <a:endParaRPr lang="en-IL" dirty="0"/>
                    </a:p>
                  </a:txBody>
                  <a:tcPr/>
                </a:tc>
                <a:tc>
                  <a:txBody>
                    <a:bodyPr/>
                    <a:lstStyle/>
                    <a:p>
                      <a:r>
                        <a:rPr lang="he-IL" dirty="0"/>
                        <a:t>9</a:t>
                      </a:r>
                      <a:endParaRPr lang="en-IL" dirty="0"/>
                    </a:p>
                  </a:txBody>
                  <a:tcPr/>
                </a:tc>
                <a:extLst>
                  <a:ext uri="{0D108BD9-81ED-4DB2-BD59-A6C34878D82A}">
                    <a16:rowId xmlns:a16="http://schemas.microsoft.com/office/drawing/2014/main" val="3251774565"/>
                  </a:ext>
                </a:extLst>
              </a:tr>
              <a:tr h="475300">
                <a:tc vMerge="1">
                  <a:txBody>
                    <a:bodyPr/>
                    <a:lstStyle/>
                    <a:p>
                      <a:endParaRPr lang="en-IL" dirty="0"/>
                    </a:p>
                  </a:txBody>
                  <a:tcPr/>
                </a:tc>
                <a:tc>
                  <a:txBody>
                    <a:bodyPr/>
                    <a:lstStyle/>
                    <a:p>
                      <a:r>
                        <a:rPr lang="he-IL" dirty="0"/>
                        <a:t>97</a:t>
                      </a:r>
                      <a:endParaRPr lang="en-IL" dirty="0"/>
                    </a:p>
                  </a:txBody>
                  <a:tcPr/>
                </a:tc>
                <a:extLst>
                  <a:ext uri="{0D108BD9-81ED-4DB2-BD59-A6C34878D82A}">
                    <a16:rowId xmlns:a16="http://schemas.microsoft.com/office/drawing/2014/main" val="3998918602"/>
                  </a:ext>
                </a:extLst>
              </a:tr>
            </a:tbl>
          </a:graphicData>
        </a:graphic>
      </p:graphicFrame>
      <p:graphicFrame>
        <p:nvGraphicFramePr>
          <p:cNvPr id="25" name="Table 24">
            <a:extLst>
              <a:ext uri="{FF2B5EF4-FFF2-40B4-BE49-F238E27FC236}">
                <a16:creationId xmlns:a16="http://schemas.microsoft.com/office/drawing/2014/main" id="{9735DCE3-1D11-EE11-290B-F4A7386AD66D}"/>
              </a:ext>
            </a:extLst>
          </p:cNvPr>
          <p:cNvGraphicFramePr>
            <a:graphicFrameLocks noGrp="1"/>
          </p:cNvGraphicFramePr>
          <p:nvPr>
            <p:extLst>
              <p:ext uri="{D42A27DB-BD31-4B8C-83A1-F6EECF244321}">
                <p14:modId xmlns:p14="http://schemas.microsoft.com/office/powerpoint/2010/main" val="4266378465"/>
              </p:ext>
            </p:extLst>
          </p:nvPr>
        </p:nvGraphicFramePr>
        <p:xfrm>
          <a:off x="541653" y="8545610"/>
          <a:ext cx="5502482" cy="950600"/>
        </p:xfrm>
        <a:graphic>
          <a:graphicData uri="http://schemas.openxmlformats.org/drawingml/2006/table">
            <a:tbl>
              <a:tblPr bandRow="1">
                <a:tableStyleId>{5C22544A-7EE6-4342-B048-85BDC9FD1C3A}</a:tableStyleId>
              </a:tblPr>
              <a:tblGrid>
                <a:gridCol w="2751241">
                  <a:extLst>
                    <a:ext uri="{9D8B030D-6E8A-4147-A177-3AD203B41FA5}">
                      <a16:colId xmlns:a16="http://schemas.microsoft.com/office/drawing/2014/main" val="2110228299"/>
                    </a:ext>
                  </a:extLst>
                </a:gridCol>
                <a:gridCol w="2751241">
                  <a:extLst>
                    <a:ext uri="{9D8B030D-6E8A-4147-A177-3AD203B41FA5}">
                      <a16:colId xmlns:a16="http://schemas.microsoft.com/office/drawing/2014/main" val="405918268"/>
                    </a:ext>
                  </a:extLst>
                </a:gridCol>
              </a:tblGrid>
              <a:tr h="475300">
                <a:tc rowSpan="2">
                  <a:txBody>
                    <a:bodyPr/>
                    <a:lstStyle/>
                    <a:p>
                      <a:r>
                        <a:rPr lang="he-IL" dirty="0"/>
                        <a:t>קווי ביקורת </a:t>
                      </a:r>
                      <a:endParaRPr lang="en-IL" dirty="0"/>
                    </a:p>
                  </a:txBody>
                  <a:tcPr/>
                </a:tc>
                <a:tc>
                  <a:txBody>
                    <a:bodyPr/>
                    <a:lstStyle/>
                    <a:p>
                      <a:r>
                        <a:rPr lang="he-IL" dirty="0"/>
                        <a:t>14</a:t>
                      </a:r>
                      <a:endParaRPr lang="en-IL" dirty="0"/>
                    </a:p>
                  </a:txBody>
                  <a:tcPr/>
                </a:tc>
                <a:extLst>
                  <a:ext uri="{0D108BD9-81ED-4DB2-BD59-A6C34878D82A}">
                    <a16:rowId xmlns:a16="http://schemas.microsoft.com/office/drawing/2014/main" val="2370947822"/>
                  </a:ext>
                </a:extLst>
              </a:tr>
              <a:tr h="475300">
                <a:tc vMerge="1">
                  <a:txBody>
                    <a:bodyPr/>
                    <a:lstStyle/>
                    <a:p>
                      <a:endParaRPr lang="en-IL" dirty="0"/>
                    </a:p>
                  </a:txBody>
                  <a:tcPr/>
                </a:tc>
                <a:tc>
                  <a:txBody>
                    <a:bodyPr/>
                    <a:lstStyle/>
                    <a:p>
                      <a:r>
                        <a:rPr lang="he-IL" dirty="0"/>
                        <a:t>15</a:t>
                      </a:r>
                      <a:endParaRPr lang="en-IL" dirty="0"/>
                    </a:p>
                  </a:txBody>
                  <a:tcPr/>
                </a:tc>
                <a:extLst>
                  <a:ext uri="{0D108BD9-81ED-4DB2-BD59-A6C34878D82A}">
                    <a16:rowId xmlns:a16="http://schemas.microsoft.com/office/drawing/2014/main" val="291553724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1047750"/>
            <a:ext cx="17183100" cy="632420"/>
          </a:xfrm>
          <a:prstGeom prst="rect">
            <a:avLst/>
          </a:prstGeom>
          <a:noFill/>
          <a:ln/>
        </p:spPr>
        <p:txBody>
          <a:bodyPr wrap="square" lIns="25400" tIns="25400" rIns="25400" bIns="25400" rtlCol="0" anchor="t">
            <a:normAutofit/>
          </a:bodyPr>
          <a:lstStyle/>
          <a:p>
            <a:pPr>
              <a:lnSpc>
                <a:spcPct val="102857"/>
              </a:lnSpc>
            </a:pPr>
            <a:r>
              <a:rPr lang="en-US" dirty="0"/>
              <a:t>Exploratory analysis</a:t>
            </a:r>
            <a:endParaRPr lang="en-US" sz="3900" dirty="0"/>
          </a:p>
        </p:txBody>
      </p:sp>
      <p:sp>
        <p:nvSpPr>
          <p:cNvPr id="3" name="Text 1"/>
          <p:cNvSpPr/>
          <p:nvPr/>
        </p:nvSpPr>
        <p:spPr>
          <a:xfrm>
            <a:off x="1333500" y="190877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Ministry of Transport dataset, 2024. 7 bus lines.</a:t>
            </a:r>
            <a:endParaRPr lang="en-US" sz="2100" dirty="0"/>
          </a:p>
        </p:txBody>
      </p:sp>
      <p:sp>
        <p:nvSpPr>
          <p:cNvPr id="4" name="Text 2"/>
          <p:cNvSpPr/>
          <p:nvPr/>
        </p:nvSpPr>
        <p:spPr>
          <a:xfrm>
            <a:off x="1333500" y="230882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Each row: one line, month, day of the week , hour, stop.</a:t>
            </a:r>
            <a:endParaRPr lang="en-US" sz="2100" dirty="0"/>
          </a:p>
        </p:txBody>
      </p:sp>
      <p:sp>
        <p:nvSpPr>
          <p:cNvPr id="5" name="Text 3"/>
          <p:cNvSpPr/>
          <p:nvPr/>
        </p:nvSpPr>
        <p:spPr>
          <a:xfrm>
            <a:off x="1333500" y="2708870"/>
            <a:ext cx="1718310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A full trip ("block") is one sequence of rows.</a:t>
            </a:r>
            <a:endParaRPr lang="en-US" sz="2100" dirty="0"/>
          </a:p>
        </p:txBody>
      </p:sp>
      <p:sp>
        <p:nvSpPr>
          <p:cNvPr id="35" name="Text 33"/>
          <p:cNvSpPr/>
          <p:nvPr/>
        </p:nvSpPr>
        <p:spPr>
          <a:xfrm>
            <a:off x="9144000" y="3808237"/>
            <a:ext cx="8732123"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TABLE 1 — EXAMPLE BLOCK, LINE 19 (SUNDAY, 5AM DEPARTURE)</a:t>
            </a:r>
            <a:endParaRPr lang="en-US" sz="1800" dirty="0"/>
          </a:p>
        </p:txBody>
      </p:sp>
      <p:graphicFrame>
        <p:nvGraphicFramePr>
          <p:cNvPr id="37" name="Table 36">
            <a:extLst>
              <a:ext uri="{FF2B5EF4-FFF2-40B4-BE49-F238E27FC236}">
                <a16:creationId xmlns:a16="http://schemas.microsoft.com/office/drawing/2014/main" id="{D51235D6-964D-B18D-AA4D-93DC8A1867FD}"/>
              </a:ext>
            </a:extLst>
          </p:cNvPr>
          <p:cNvGraphicFramePr>
            <a:graphicFrameLocks noGrp="1"/>
          </p:cNvGraphicFramePr>
          <p:nvPr>
            <p:extLst>
              <p:ext uri="{D42A27DB-BD31-4B8C-83A1-F6EECF244321}">
                <p14:modId xmlns:p14="http://schemas.microsoft.com/office/powerpoint/2010/main" val="1126089513"/>
              </p:ext>
            </p:extLst>
          </p:nvPr>
        </p:nvGraphicFramePr>
        <p:xfrm>
          <a:off x="8411800" y="334851"/>
          <a:ext cx="8732124" cy="3288074"/>
        </p:xfrm>
        <a:graphic>
          <a:graphicData uri="http://schemas.openxmlformats.org/drawingml/2006/table">
            <a:tbl>
              <a:tblPr rtl="1" firstRow="1" firstCol="1" bandRow="1">
                <a:tableStyleId>{5C22544A-7EE6-4342-B048-85BDC9FD1C3A}</a:tableStyleId>
              </a:tblPr>
              <a:tblGrid>
                <a:gridCol w="1703926">
                  <a:extLst>
                    <a:ext uri="{9D8B030D-6E8A-4147-A177-3AD203B41FA5}">
                      <a16:colId xmlns:a16="http://schemas.microsoft.com/office/drawing/2014/main" val="2921456430"/>
                    </a:ext>
                  </a:extLst>
                </a:gridCol>
                <a:gridCol w="1253119">
                  <a:extLst>
                    <a:ext uri="{9D8B030D-6E8A-4147-A177-3AD203B41FA5}">
                      <a16:colId xmlns:a16="http://schemas.microsoft.com/office/drawing/2014/main" val="2785479659"/>
                    </a:ext>
                  </a:extLst>
                </a:gridCol>
                <a:gridCol w="1696975">
                  <a:extLst>
                    <a:ext uri="{9D8B030D-6E8A-4147-A177-3AD203B41FA5}">
                      <a16:colId xmlns:a16="http://schemas.microsoft.com/office/drawing/2014/main" val="117954818"/>
                    </a:ext>
                  </a:extLst>
                </a:gridCol>
                <a:gridCol w="1836984">
                  <a:extLst>
                    <a:ext uri="{9D8B030D-6E8A-4147-A177-3AD203B41FA5}">
                      <a16:colId xmlns:a16="http://schemas.microsoft.com/office/drawing/2014/main" val="2909273038"/>
                    </a:ext>
                  </a:extLst>
                </a:gridCol>
                <a:gridCol w="2241120">
                  <a:extLst>
                    <a:ext uri="{9D8B030D-6E8A-4147-A177-3AD203B41FA5}">
                      <a16:colId xmlns:a16="http://schemas.microsoft.com/office/drawing/2014/main" val="895707439"/>
                    </a:ext>
                  </a:extLst>
                </a:gridCol>
              </a:tblGrid>
              <a:tr h="1019342">
                <a:tc>
                  <a:txBody>
                    <a:bodyPr/>
                    <a:lstStyle/>
                    <a:p>
                      <a:pPr algn="ctr" rtl="0">
                        <a:lnSpc>
                          <a:spcPct val="115000"/>
                        </a:lnSpc>
                        <a:spcAft>
                          <a:spcPts val="800"/>
                        </a:spcAft>
                        <a:buNone/>
                      </a:pPr>
                      <a:r>
                        <a:rPr lang="en-IL" sz="1200" kern="0" dirty="0" err="1">
                          <a:effectLst/>
                        </a:rPr>
                        <a:t>stop_sequence</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0">
                        <a:lnSpc>
                          <a:spcPct val="115000"/>
                        </a:lnSpc>
                        <a:spcAft>
                          <a:spcPts val="800"/>
                        </a:spcAft>
                        <a:buNone/>
                      </a:pPr>
                      <a:r>
                        <a:rPr lang="en-IL" sz="1200" kern="0">
                          <a:effectLst/>
                        </a:rPr>
                        <a:t>Stop name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15000"/>
                        </a:lnSpc>
                        <a:spcAft>
                          <a:spcPts val="800"/>
                        </a:spcAft>
                        <a:buNone/>
                      </a:pPr>
                      <a:r>
                        <a:rPr lang="en-IL" sz="1200" kern="0">
                          <a:effectLst/>
                        </a:rPr>
                        <a:t>n_observations</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15000"/>
                        </a:lnSpc>
                        <a:spcAft>
                          <a:spcPts val="800"/>
                        </a:spcAft>
                        <a:buNone/>
                      </a:pPr>
                      <a:r>
                        <a:rPr lang="en-IL" sz="1200" kern="0" dirty="0" err="1">
                          <a:effectLst/>
                        </a:rPr>
                        <a:t>cumulative_time</a:t>
                      </a:r>
                      <a:r>
                        <a:rPr lang="en-IL" sz="1200" kern="0" dirty="0">
                          <a:effectLst/>
                        </a:rPr>
                        <a:t> (min)</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0">
                        <a:lnSpc>
                          <a:spcPct val="115000"/>
                        </a:lnSpc>
                        <a:spcAft>
                          <a:spcPts val="800"/>
                        </a:spcAft>
                        <a:buNone/>
                      </a:pPr>
                      <a:r>
                        <a:rPr lang="en-IL" sz="1200" kern="0" dirty="0" err="1">
                          <a:effectLst/>
                        </a:rPr>
                        <a:t>cumulative_distance</a:t>
                      </a:r>
                      <a:r>
                        <a:rPr lang="en-IL" sz="1200" kern="0" dirty="0">
                          <a:effectLst/>
                        </a:rPr>
                        <a:t> (m)</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29686075"/>
                  </a:ext>
                </a:extLst>
              </a:tr>
              <a:tr h="510742">
                <a:tc>
                  <a:txBody>
                    <a:bodyPr/>
                    <a:lstStyle/>
                    <a:p>
                      <a:pPr algn="r" rtl="1">
                        <a:lnSpc>
                          <a:spcPct val="115000"/>
                        </a:lnSpc>
                        <a:spcAft>
                          <a:spcPts val="800"/>
                        </a:spcAft>
                        <a:buNone/>
                      </a:pPr>
                      <a:r>
                        <a:rPr lang="he-IL" sz="1200" kern="0">
                          <a:effectLst/>
                        </a:rPr>
                        <a:t>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דולצ'ין/קוליץ</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10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1.46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37916367"/>
                  </a:ext>
                </a:extLst>
              </a:tr>
              <a:tr h="773656">
                <a:tc>
                  <a:txBody>
                    <a:bodyPr/>
                    <a:lstStyle/>
                    <a:p>
                      <a:pPr algn="r" rtl="1">
                        <a:lnSpc>
                          <a:spcPct val="115000"/>
                        </a:lnSpc>
                        <a:spcAft>
                          <a:spcPts val="800"/>
                        </a:spcAft>
                        <a:buNone/>
                      </a:pPr>
                      <a:r>
                        <a:rPr lang="he-IL" sz="1200" kern="0">
                          <a:effectLst/>
                        </a:rPr>
                        <a:t>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הכפר השוודי/סולד</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10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4.96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1,926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55202327"/>
                  </a:ext>
                </a:extLst>
              </a:tr>
              <a:tr h="984334">
                <a:tc>
                  <a:txBody>
                    <a:bodyPr/>
                    <a:lstStyle/>
                    <a:p>
                      <a:pPr algn="r" rtl="1">
                        <a:lnSpc>
                          <a:spcPct val="115000"/>
                        </a:lnSpc>
                        <a:spcAft>
                          <a:spcPts val="800"/>
                        </a:spcAft>
                        <a:buNone/>
                      </a:pPr>
                      <a:r>
                        <a:rPr lang="he-IL" sz="1200" kern="0">
                          <a:effectLst/>
                        </a:rPr>
                        <a:t>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מרכז פיליפ ליאון/סולד</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10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a:effectLst/>
                        </a:rPr>
                        <a:t>6.28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r" rtl="1">
                        <a:lnSpc>
                          <a:spcPct val="115000"/>
                        </a:lnSpc>
                        <a:spcAft>
                          <a:spcPts val="800"/>
                        </a:spcAft>
                        <a:buNone/>
                      </a:pPr>
                      <a:r>
                        <a:rPr lang="he-IL" sz="1200" kern="0" dirty="0">
                          <a:effectLst/>
                        </a:rPr>
                        <a:t>2,244</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92382438"/>
                  </a:ext>
                </a:extLst>
              </a:tr>
            </a:tbl>
          </a:graphicData>
        </a:graphic>
      </p:graphicFrame>
      <p:sp>
        <p:nvSpPr>
          <p:cNvPr id="41" name="Text 0">
            <a:extLst>
              <a:ext uri="{FF2B5EF4-FFF2-40B4-BE49-F238E27FC236}">
                <a16:creationId xmlns:a16="http://schemas.microsoft.com/office/drawing/2014/main" id="{1321C179-FDF1-16F8-3463-99641245EC52}"/>
              </a:ext>
            </a:extLst>
          </p:cNvPr>
          <p:cNvSpPr/>
          <p:nvPr/>
        </p:nvSpPr>
        <p:spPr>
          <a:xfrm>
            <a:off x="1682168" y="5683441"/>
            <a:ext cx="1571625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Cleaning cut duplicates, not real data</a:t>
            </a:r>
            <a:endParaRPr lang="en-US" sz="3900" dirty="0"/>
          </a:p>
        </p:txBody>
      </p:sp>
      <p:sp>
        <p:nvSpPr>
          <p:cNvPr id="43" name="Text 1">
            <a:extLst>
              <a:ext uri="{FF2B5EF4-FFF2-40B4-BE49-F238E27FC236}">
                <a16:creationId xmlns:a16="http://schemas.microsoft.com/office/drawing/2014/main" id="{18784711-CB08-FDE8-653B-F2CE2C62F879}"/>
              </a:ext>
            </a:extLst>
          </p:cNvPr>
          <p:cNvSpPr/>
          <p:nvPr/>
        </p:nvSpPr>
        <p:spPr>
          <a:xfrm>
            <a:off x="1948373" y="6984936"/>
            <a:ext cx="4050100"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708,642 → 603,662</a:t>
            </a:r>
            <a:endParaRPr lang="en-US" sz="3300" dirty="0"/>
          </a:p>
        </p:txBody>
      </p:sp>
      <p:sp>
        <p:nvSpPr>
          <p:cNvPr id="45" name="Text 2">
            <a:extLst>
              <a:ext uri="{FF2B5EF4-FFF2-40B4-BE49-F238E27FC236}">
                <a16:creationId xmlns:a16="http://schemas.microsoft.com/office/drawing/2014/main" id="{53DAC964-A039-A881-8F8E-17BD1335D11E}"/>
              </a:ext>
            </a:extLst>
          </p:cNvPr>
          <p:cNvSpPr/>
          <p:nvPr/>
        </p:nvSpPr>
        <p:spPr>
          <a:xfrm>
            <a:off x="5820782" y="7130986"/>
            <a:ext cx="433746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records after removing duplicates</a:t>
            </a:r>
            <a:endParaRPr lang="en-US" sz="2100" dirty="0"/>
          </a:p>
        </p:txBody>
      </p:sp>
      <p:sp>
        <p:nvSpPr>
          <p:cNvPr id="47" name="Text 3">
            <a:extLst>
              <a:ext uri="{FF2B5EF4-FFF2-40B4-BE49-F238E27FC236}">
                <a16:creationId xmlns:a16="http://schemas.microsoft.com/office/drawing/2014/main" id="{49A594B5-9103-16B1-F878-E3483F985408}"/>
              </a:ext>
            </a:extLst>
          </p:cNvPr>
          <p:cNvSpPr/>
          <p:nvPr/>
        </p:nvSpPr>
        <p:spPr>
          <a:xfrm>
            <a:off x="1948373" y="7810437"/>
            <a:ext cx="1031478"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6.3%</a:t>
            </a:r>
            <a:endParaRPr lang="en-US" sz="3300" dirty="0"/>
          </a:p>
        </p:txBody>
      </p:sp>
      <p:sp>
        <p:nvSpPr>
          <p:cNvPr id="49" name="Text 4">
            <a:extLst>
              <a:ext uri="{FF2B5EF4-FFF2-40B4-BE49-F238E27FC236}">
                <a16:creationId xmlns:a16="http://schemas.microsoft.com/office/drawing/2014/main" id="{0651A4B3-3AE1-774E-ED9B-C8CD35E270E1}"/>
              </a:ext>
            </a:extLst>
          </p:cNvPr>
          <p:cNvSpPr/>
          <p:nvPr/>
        </p:nvSpPr>
        <p:spPr>
          <a:xfrm>
            <a:off x="3094151" y="7956486"/>
            <a:ext cx="5642789"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of rows flagged low-confidence, not deleted</a:t>
            </a:r>
            <a:endParaRPr lang="en-US" sz="2100" dirty="0"/>
          </a:p>
        </p:txBody>
      </p:sp>
      <p:sp>
        <p:nvSpPr>
          <p:cNvPr id="51" name="Text 5">
            <a:extLst>
              <a:ext uri="{FF2B5EF4-FFF2-40B4-BE49-F238E27FC236}">
                <a16:creationId xmlns:a16="http://schemas.microsoft.com/office/drawing/2014/main" id="{E001174B-6B8A-30EC-B2B4-7BA23D742652}"/>
              </a:ext>
            </a:extLst>
          </p:cNvPr>
          <p:cNvSpPr/>
          <p:nvPr/>
        </p:nvSpPr>
        <p:spPr>
          <a:xfrm>
            <a:off x="1948373" y="8635936"/>
            <a:ext cx="2511762" cy="52070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B3261A"/>
                </a:solidFill>
                <a:latin typeface="Helvetica" pitchFamily="34" charset="0"/>
                <a:ea typeface="Helvetica" pitchFamily="34" charset="-122"/>
                <a:cs typeface="Helvetica" pitchFamily="34" charset="-120"/>
              </a:rPr>
              <a:t>25/26 → 1/2</a:t>
            </a:r>
            <a:endParaRPr lang="en-US" sz="3300" dirty="0"/>
          </a:p>
        </p:txBody>
      </p:sp>
      <p:sp>
        <p:nvSpPr>
          <p:cNvPr id="53" name="Text 6">
            <a:extLst>
              <a:ext uri="{FF2B5EF4-FFF2-40B4-BE49-F238E27FC236}">
                <a16:creationId xmlns:a16="http://schemas.microsoft.com/office/drawing/2014/main" id="{342630C7-1F90-B435-9305-02B2A3F37FC3}"/>
              </a:ext>
            </a:extLst>
          </p:cNvPr>
          <p:cNvSpPr/>
          <p:nvPr/>
        </p:nvSpPr>
        <p:spPr>
          <a:xfrm>
            <a:off x="4422294" y="8781987"/>
            <a:ext cx="4386798"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5B5B5B"/>
                </a:solidFill>
                <a:latin typeface="Helvetica" pitchFamily="34" charset="0"/>
                <a:ea typeface="Helvetica" pitchFamily="34" charset="-122"/>
                <a:cs typeface="Helvetica" pitchFamily="34" charset="-120"/>
              </a:rPr>
              <a:t>hours remapped to midnight–2am</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259484"/>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A minority of trips skip stops on Aza St.</a:t>
            </a:r>
            <a:endParaRPr lang="en-US" sz="3900" dirty="0"/>
          </a:p>
        </p:txBody>
      </p:sp>
      <p:sp>
        <p:nvSpPr>
          <p:cNvPr id="3" name="Text 1"/>
          <p:cNvSpPr/>
          <p:nvPr/>
        </p:nvSpPr>
        <p:spPr>
          <a:xfrm>
            <a:off x="878438" y="1227899"/>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Each line has a reference route — its most common path.</a:t>
            </a:r>
            <a:endParaRPr lang="en-US" sz="1950" dirty="0"/>
          </a:p>
        </p:txBody>
      </p:sp>
      <p:sp>
        <p:nvSpPr>
          <p:cNvPr id="4" name="Text 2"/>
          <p:cNvSpPr/>
          <p:nvPr/>
        </p:nvSpPr>
        <p:spPr>
          <a:xfrm>
            <a:off x="878438" y="1781139"/>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A minority of trips skip a segment of stops.</a:t>
            </a:r>
            <a:endParaRPr lang="en-US" sz="1950" dirty="0"/>
          </a:p>
        </p:txBody>
      </p:sp>
      <p:sp>
        <p:nvSpPr>
          <p:cNvPr id="5" name="Text 3"/>
          <p:cNvSpPr/>
          <p:nvPr/>
        </p:nvSpPr>
        <p:spPr>
          <a:xfrm>
            <a:off x="1117065" y="2384506"/>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These are the line's route "variants."</a:t>
            </a:r>
            <a:endParaRPr lang="en-US" sz="1950" dirty="0"/>
          </a:p>
        </p:txBody>
      </p:sp>
      <p:sp>
        <p:nvSpPr>
          <p:cNvPr id="8" name="Text 5"/>
          <p:cNvSpPr/>
          <p:nvPr/>
        </p:nvSpPr>
        <p:spPr>
          <a:xfrm>
            <a:off x="9038897" y="8571148"/>
            <a:ext cx="7172831"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2 — SKIPPED STOPS ON THE AZA ST. DETOUR</a:t>
            </a:r>
            <a:endParaRPr lang="en-US" sz="1800" dirty="0"/>
          </a:p>
        </p:txBody>
      </p:sp>
      <p:graphicFrame>
        <p:nvGraphicFramePr>
          <p:cNvPr id="9" name="Table 8">
            <a:extLst>
              <a:ext uri="{FF2B5EF4-FFF2-40B4-BE49-F238E27FC236}">
                <a16:creationId xmlns:a16="http://schemas.microsoft.com/office/drawing/2014/main" id="{3C5394CB-2E37-BDE5-C36F-DA9DC0B367EF}"/>
              </a:ext>
            </a:extLst>
          </p:cNvPr>
          <p:cNvGraphicFramePr>
            <a:graphicFrameLocks noGrp="1"/>
          </p:cNvGraphicFramePr>
          <p:nvPr>
            <p:extLst>
              <p:ext uri="{D42A27DB-BD31-4B8C-83A1-F6EECF244321}">
                <p14:modId xmlns:p14="http://schemas.microsoft.com/office/powerpoint/2010/main" val="2799646193"/>
              </p:ext>
            </p:extLst>
          </p:nvPr>
        </p:nvGraphicFramePr>
        <p:xfrm>
          <a:off x="447728" y="3305374"/>
          <a:ext cx="6315300" cy="2794981"/>
        </p:xfrm>
        <a:graphic>
          <a:graphicData uri="http://schemas.openxmlformats.org/drawingml/2006/table">
            <a:tbl>
              <a:tblPr rtl="1" firstRow="1" firstCol="1" bandRow="1">
                <a:tableStyleId>{5C22544A-7EE6-4342-B048-85BDC9FD1C3A}</a:tableStyleId>
              </a:tblPr>
              <a:tblGrid>
                <a:gridCol w="1262920">
                  <a:extLst>
                    <a:ext uri="{9D8B030D-6E8A-4147-A177-3AD203B41FA5}">
                      <a16:colId xmlns:a16="http://schemas.microsoft.com/office/drawing/2014/main" val="2054321146"/>
                    </a:ext>
                  </a:extLst>
                </a:gridCol>
                <a:gridCol w="1262920">
                  <a:extLst>
                    <a:ext uri="{9D8B030D-6E8A-4147-A177-3AD203B41FA5}">
                      <a16:colId xmlns:a16="http://schemas.microsoft.com/office/drawing/2014/main" val="117907787"/>
                    </a:ext>
                  </a:extLst>
                </a:gridCol>
                <a:gridCol w="1262920">
                  <a:extLst>
                    <a:ext uri="{9D8B030D-6E8A-4147-A177-3AD203B41FA5}">
                      <a16:colId xmlns:a16="http://schemas.microsoft.com/office/drawing/2014/main" val="765441857"/>
                    </a:ext>
                  </a:extLst>
                </a:gridCol>
                <a:gridCol w="1262920">
                  <a:extLst>
                    <a:ext uri="{9D8B030D-6E8A-4147-A177-3AD203B41FA5}">
                      <a16:colId xmlns:a16="http://schemas.microsoft.com/office/drawing/2014/main" val="2332609061"/>
                    </a:ext>
                  </a:extLst>
                </a:gridCol>
                <a:gridCol w="1263620">
                  <a:extLst>
                    <a:ext uri="{9D8B030D-6E8A-4147-A177-3AD203B41FA5}">
                      <a16:colId xmlns:a16="http://schemas.microsoft.com/office/drawing/2014/main" val="1464218784"/>
                    </a:ext>
                  </a:extLst>
                </a:gridCol>
              </a:tblGrid>
              <a:tr h="1779515">
                <a:tc>
                  <a:txBody>
                    <a:bodyPr/>
                    <a:lstStyle/>
                    <a:p>
                      <a:pPr marR="3175" algn="r" rtl="0">
                        <a:lnSpc>
                          <a:spcPct val="115000"/>
                        </a:lnSpc>
                        <a:spcAft>
                          <a:spcPts val="800"/>
                        </a:spcAft>
                        <a:buNone/>
                      </a:pPr>
                      <a:r>
                        <a:rPr lang="en-IL" sz="1200" kern="100" dirty="0" err="1">
                          <a:effectLst/>
                        </a:rPr>
                        <a:t>stop_sequence</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stop_name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n_observations</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dirty="0" err="1">
                          <a:effectLst/>
                        </a:rPr>
                        <a:t>cumulative_time</a:t>
                      </a:r>
                      <a:r>
                        <a:rPr lang="en-IL" sz="1200" kern="100" dirty="0">
                          <a:effectLst/>
                        </a:rPr>
                        <a:t> (min)</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cumulative_distance (m)</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8226296"/>
                  </a:ext>
                </a:extLst>
              </a:tr>
              <a:tr h="507733">
                <a:tc>
                  <a:txBody>
                    <a:bodyPr/>
                    <a:lstStyle/>
                    <a:p>
                      <a:pPr marR="3175" algn="r" rtl="0">
                        <a:lnSpc>
                          <a:spcPct val="115000"/>
                        </a:lnSpc>
                        <a:spcAft>
                          <a:spcPts val="800"/>
                        </a:spcAft>
                        <a:buNone/>
                      </a:pPr>
                      <a:r>
                        <a:rPr lang="en-IL" sz="1200" kern="100">
                          <a:effectLst/>
                        </a:rPr>
                        <a:t>16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he-IL" sz="1200" kern="100">
                          <a:effectLst/>
                        </a:rPr>
                        <a:t>Herzog/Tchernichovsky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21.11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dirty="0">
                          <a:effectLst/>
                        </a:rPr>
                        <a:t>8,249</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872474619"/>
                  </a:ext>
                </a:extLst>
              </a:tr>
              <a:tr h="507733">
                <a:tc>
                  <a:txBody>
                    <a:bodyPr/>
                    <a:lstStyle/>
                    <a:p>
                      <a:pPr marR="3175" algn="r" rtl="0">
                        <a:lnSpc>
                          <a:spcPct val="115000"/>
                        </a:lnSpc>
                        <a:spcAft>
                          <a:spcPts val="800"/>
                        </a:spcAft>
                        <a:buNone/>
                      </a:pPr>
                      <a:r>
                        <a:rPr lang="en-IL" sz="1200" kern="100">
                          <a:effectLst/>
                        </a:rPr>
                        <a:t>23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he-IL" sz="1200" kern="100">
                          <a:effectLst/>
                        </a:rPr>
                        <a:t>Ussishkin/Bezalel</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a:effectLst/>
                        </a:rPr>
                        <a:t>25.94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R="3175" algn="r" rtl="0">
                        <a:lnSpc>
                          <a:spcPct val="115000"/>
                        </a:lnSpc>
                        <a:spcAft>
                          <a:spcPts val="800"/>
                        </a:spcAft>
                        <a:buNone/>
                      </a:pPr>
                      <a:r>
                        <a:rPr lang="en-IL" sz="1200" kern="100" dirty="0">
                          <a:effectLst/>
                        </a:rPr>
                        <a:t>8,453</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41969211"/>
                  </a:ext>
                </a:extLst>
              </a:tr>
            </a:tbl>
          </a:graphicData>
        </a:graphic>
      </p:graphicFrame>
      <p:sp>
        <p:nvSpPr>
          <p:cNvPr id="10" name="TextBox 9">
            <a:extLst>
              <a:ext uri="{FF2B5EF4-FFF2-40B4-BE49-F238E27FC236}">
                <a16:creationId xmlns:a16="http://schemas.microsoft.com/office/drawing/2014/main" id="{70B9E8F8-E200-E3EF-C946-AE24ADEF8113}"/>
              </a:ext>
            </a:extLst>
          </p:cNvPr>
          <p:cNvSpPr txBox="1"/>
          <p:nvPr/>
        </p:nvSpPr>
        <p:spPr>
          <a:xfrm>
            <a:off x="1536562" y="9740360"/>
            <a:ext cx="7204216" cy="369332"/>
          </a:xfrm>
          <a:prstGeom prst="rect">
            <a:avLst/>
          </a:prstGeom>
          <a:noFill/>
        </p:spPr>
        <p:txBody>
          <a:bodyPr wrap="none" rtlCol="0">
            <a:spAutoFit/>
          </a:bodyPr>
          <a:lstStyle/>
          <a:p>
            <a:r>
              <a:rPr lang="he-IL" dirty="0"/>
              <a:t>Line 22B always completes the full route — excluded from this analysis.</a:t>
            </a:r>
            <a:endParaRPr lang="en-IL" dirty="0"/>
          </a:p>
        </p:txBody>
      </p:sp>
      <p:pic>
        <p:nvPicPr>
          <p:cNvPr id="11" name="תמונה 1">
            <a:extLst>
              <a:ext uri="{FF2B5EF4-FFF2-40B4-BE49-F238E27FC236}">
                <a16:creationId xmlns:a16="http://schemas.microsoft.com/office/drawing/2014/main" id="{420F8CF0-6C77-780B-2ACA-7C3548F3E250}"/>
              </a:ext>
            </a:extLst>
          </p:cNvPr>
          <p:cNvPicPr>
            <a:picLocks noChangeAspect="1"/>
          </p:cNvPicPr>
          <p:nvPr/>
        </p:nvPicPr>
        <p:blipFill>
          <a:blip r:embed="rId3" cstate="print">
            <a:extLst>
              <a:ext uri="{28A0092B-C50C-407E-A947-70E740481C1C}">
                <a14:useLocalDpi xmlns:a14="http://schemas.microsoft.com/office/drawing/2010/main" val="0"/>
              </a:ext>
            </a:extLst>
          </a:blip>
          <a:srcRect t="5586" r="-51"/>
          <a:stretch>
            <a:fillRect/>
          </a:stretch>
        </p:blipFill>
        <p:spPr bwMode="auto">
          <a:xfrm>
            <a:off x="8292426" y="2033635"/>
            <a:ext cx="8429709" cy="6304164"/>
          </a:xfrm>
          <a:prstGeom prst="rect">
            <a:avLst/>
          </a:prstGeom>
          <a:noFill/>
          <a:ln>
            <a:noFill/>
          </a:ln>
        </p:spPr>
      </p:pic>
      <p:sp>
        <p:nvSpPr>
          <p:cNvPr id="12" name="TextBox 11">
            <a:extLst>
              <a:ext uri="{FF2B5EF4-FFF2-40B4-BE49-F238E27FC236}">
                <a16:creationId xmlns:a16="http://schemas.microsoft.com/office/drawing/2014/main" id="{B7F11009-6156-CCA1-BD70-AA9D35D6A3CA}"/>
              </a:ext>
            </a:extLst>
          </p:cNvPr>
          <p:cNvSpPr txBox="1"/>
          <p:nvPr/>
        </p:nvSpPr>
        <p:spPr>
          <a:xfrm>
            <a:off x="665140" y="6459191"/>
            <a:ext cx="6997790" cy="646331"/>
          </a:xfrm>
          <a:prstGeom prst="rect">
            <a:avLst/>
          </a:prstGeom>
          <a:noFill/>
        </p:spPr>
        <p:txBody>
          <a:bodyPr wrap="square">
            <a:spAutoFit/>
          </a:bodyPr>
          <a:lstStyle/>
          <a:p>
            <a:pPr marL="0" indent="0" algn="l">
              <a:buNone/>
            </a:pPr>
            <a:r>
              <a:rPr lang="en-US" sz="1800" kern="0" spc="36" dirty="0" err="1">
                <a:solidFill>
                  <a:srgbClr val="9A9A9A"/>
                </a:solidFill>
                <a:latin typeface="Courier New" pitchFamily="34" charset="0"/>
                <a:ea typeface="Courier New" pitchFamily="34" charset="-122"/>
                <a:cs typeface="Courier New" pitchFamily="34" charset="-120"/>
              </a:rPr>
              <a:t>TableE</a:t>
            </a:r>
            <a:r>
              <a:rPr lang="en-US" sz="1800" kern="0" spc="36" dirty="0">
                <a:solidFill>
                  <a:srgbClr val="9A9A9A"/>
                </a:solidFill>
                <a:latin typeface="Courier New" pitchFamily="34" charset="0"/>
                <a:ea typeface="Courier New" pitchFamily="34" charset="-122"/>
                <a:cs typeface="Courier New" pitchFamily="34" charset="-120"/>
              </a:rPr>
              <a:t> 2 — SKIPPED STOPS ON THE AZA ST. DETOUR- </a:t>
            </a:r>
            <a:r>
              <a:rPr lang="en-US" kern="0" spc="36" dirty="0">
                <a:solidFill>
                  <a:srgbClr val="9A9A9A"/>
                </a:solidFill>
                <a:latin typeface="Courier New" pitchFamily="34" charset="0"/>
                <a:ea typeface="Courier New" pitchFamily="34" charset="-122"/>
                <a:cs typeface="Courier New" pitchFamily="34" charset="-120"/>
              </a:rPr>
              <a:t>e</a:t>
            </a:r>
            <a:r>
              <a:rPr lang="en-US" sz="1800" kern="0" spc="36" dirty="0">
                <a:solidFill>
                  <a:srgbClr val="9A9A9A"/>
                </a:solidFill>
                <a:latin typeface="Courier New" pitchFamily="34" charset="0"/>
                <a:ea typeface="Courier New" pitchFamily="34" charset="-122"/>
                <a:cs typeface="Courier New" pitchFamily="34" charset="-120"/>
              </a:rPr>
              <a:t>xample data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3376315"/>
            <a:ext cx="1571625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How can a resident know the most reliable way out?</a:t>
            </a:r>
            <a:endParaRPr lang="en-US" sz="3900" dirty="0"/>
          </a:p>
        </p:txBody>
      </p:sp>
      <p:sp>
        <p:nvSpPr>
          <p:cNvPr id="4" name="Text 2"/>
          <p:cNvSpPr/>
          <p:nvPr/>
        </p:nvSpPr>
        <p:spPr>
          <a:xfrm>
            <a:off x="1333500" y="5177135"/>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1</a:t>
            </a:r>
            <a:endParaRPr lang="en-US" sz="2550" dirty="0"/>
          </a:p>
        </p:txBody>
      </p:sp>
      <p:sp>
        <p:nvSpPr>
          <p:cNvPr id="5" name="Text 3"/>
          <p:cNvSpPr/>
          <p:nvPr/>
        </p:nvSpPr>
        <p:spPr>
          <a:xfrm>
            <a:off x="2133600" y="5196185"/>
            <a:ext cx="8350131"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When and how often do blockages occur on Aza Street?</a:t>
            </a:r>
            <a:endParaRPr lang="en-US" sz="2400" dirty="0"/>
          </a:p>
        </p:txBody>
      </p:sp>
      <p:sp>
        <p:nvSpPr>
          <p:cNvPr id="6" name="Text 4"/>
          <p:cNvSpPr/>
          <p:nvPr/>
        </p:nvSpPr>
        <p:spPr>
          <a:xfrm>
            <a:off x="1333500" y="5856586"/>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2</a:t>
            </a:r>
            <a:endParaRPr lang="en-US" sz="2550" dirty="0"/>
          </a:p>
        </p:txBody>
      </p:sp>
      <p:sp>
        <p:nvSpPr>
          <p:cNvPr id="7" name="Text 5"/>
          <p:cNvSpPr/>
          <p:nvPr/>
        </p:nvSpPr>
        <p:spPr>
          <a:xfrm>
            <a:off x="2133600" y="5875636"/>
            <a:ext cx="7156460"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Does the detour make the trip longer or shorter?</a:t>
            </a:r>
            <a:endParaRPr lang="en-US" sz="2400" dirty="0"/>
          </a:p>
        </p:txBody>
      </p:sp>
      <p:sp>
        <p:nvSpPr>
          <p:cNvPr id="8" name="Text 6"/>
          <p:cNvSpPr/>
          <p:nvPr/>
        </p:nvSpPr>
        <p:spPr>
          <a:xfrm>
            <a:off x="1333500" y="6536035"/>
            <a:ext cx="6096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B3261A"/>
                </a:solidFill>
                <a:latin typeface="Helvetica" pitchFamily="34" charset="0"/>
                <a:ea typeface="Helvetica" pitchFamily="34" charset="-122"/>
                <a:cs typeface="Helvetica" pitchFamily="34" charset="-120"/>
              </a:rPr>
              <a:t>3</a:t>
            </a:r>
            <a:endParaRPr lang="en-US" sz="2550" dirty="0"/>
          </a:p>
        </p:txBody>
      </p:sp>
      <p:sp>
        <p:nvSpPr>
          <p:cNvPr id="9" name="Text 7"/>
          <p:cNvSpPr/>
          <p:nvPr/>
        </p:nvSpPr>
        <p:spPr>
          <a:xfrm>
            <a:off x="2133600" y="6555085"/>
            <a:ext cx="7597825" cy="387350"/>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61616"/>
                </a:solidFill>
                <a:latin typeface="Helvetica" pitchFamily="34" charset="0"/>
                <a:ea typeface="Helvetica" pitchFamily="34" charset="-122"/>
                <a:cs typeface="Helvetica" pitchFamily="34" charset="-120"/>
              </a:rPr>
              <a:t>Do blockages also affect lines that skip Aza Street?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travel time of reference routes</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Longer routes take longer: Line 9 ~20 km/90 min, Line 97 ~10 km/44 min.</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All seven lines share one daily rhythm — rising, peaking at midday, dropping by evening.</a:t>
            </a:r>
            <a:endParaRPr lang="en-US" sz="1950" dirty="0"/>
          </a:p>
        </p:txBody>
      </p:sp>
      <p:sp>
        <p:nvSpPr>
          <p:cNvPr id="6" name="Shape 4"/>
          <p:cNvSpPr/>
          <p:nvPr/>
        </p:nvSpPr>
        <p:spPr>
          <a:xfrm>
            <a:off x="1333500" y="3100000"/>
            <a:ext cx="7610500" cy="4438905"/>
          </a:xfrm>
          <a:prstGeom prst="roundRect">
            <a:avLst>
              <a:gd name="adj" fmla="val 1290"/>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489" b="-1489"/>
          <a:stretch/>
        </p:blipFill>
        <p:spPr>
          <a:xfrm>
            <a:off x="1333500" y="3100000"/>
            <a:ext cx="7610500" cy="4438905"/>
          </a:xfrm>
          <a:prstGeom prst="rect">
            <a:avLst/>
          </a:prstGeom>
        </p:spPr>
      </p:pic>
      <p:sp>
        <p:nvSpPr>
          <p:cNvPr id="8" name="Text 5"/>
          <p:cNvSpPr/>
          <p:nvPr/>
        </p:nvSpPr>
        <p:spPr>
          <a:xfrm>
            <a:off x="1864204" y="7672255"/>
            <a:ext cx="6549092"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3A — BASELINE TRIP DURATION BY LINE</a:t>
            </a:r>
            <a:endParaRPr lang="en-US" sz="1800" dirty="0"/>
          </a:p>
        </p:txBody>
      </p:sp>
      <p:sp>
        <p:nvSpPr>
          <p:cNvPr id="12" name="Shape 4b"/>
          <p:cNvSpPr/>
          <p:nvPr/>
        </p:nvSpPr>
        <p:spPr>
          <a:xfrm>
            <a:off x="9541558" y="3100000"/>
            <a:ext cx="7215384" cy="4438905"/>
          </a:xfrm>
          <a:prstGeom prst="roundRect">
            <a:avLst>
              <a:gd name="adj" fmla="val 1290"/>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13" name="Image 0b" descr="preencoded.png"/>
          <p:cNvPicPr>
            <a:picLocks noChangeAspect="1"/>
          </p:cNvPicPr>
          <p:nvPr/>
        </p:nvPicPr>
        <p:blipFill>
          <a:blip r:embed="rId4"/>
          <a:srcRect t="-1374" b="-1374"/>
          <a:stretch/>
        </p:blipFill>
        <p:spPr>
          <a:xfrm>
            <a:off x="9541558" y="3100000"/>
            <a:ext cx="7215384" cy="4438905"/>
          </a:xfrm>
          <a:prstGeom prst="rect">
            <a:avLst/>
          </a:prstGeom>
        </p:spPr>
      </p:pic>
      <p:sp>
        <p:nvSpPr>
          <p:cNvPr id="14" name="Text 5b"/>
          <p:cNvSpPr/>
          <p:nvPr/>
        </p:nvSpPr>
        <p:spPr>
          <a:xfrm>
            <a:off x="9250965" y="7672255"/>
            <a:ext cx="7796570"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3B — BASELINE TRAVEL TIME BY DEPARTURE HOUR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44102" y="2982495"/>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21 confirmed blockage events, mostly Saturdays</a:t>
            </a:r>
            <a:endParaRPr lang="en-US" sz="3900" dirty="0"/>
          </a:p>
        </p:txBody>
      </p:sp>
      <p:sp>
        <p:nvSpPr>
          <p:cNvPr id="3" name="Text 1"/>
          <p:cNvSpPr/>
          <p:nvPr/>
        </p:nvSpPr>
        <p:spPr>
          <a:xfrm>
            <a:off x="844102" y="3805415"/>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11 of 21 events are Saturday nights, 7pm–midnight.</a:t>
            </a:r>
            <a:endParaRPr lang="en-US" sz="1950" dirty="0"/>
          </a:p>
        </p:txBody>
      </p:sp>
      <p:sp>
        <p:nvSpPr>
          <p:cNvPr id="4" name="Text 2"/>
          <p:cNvSpPr/>
          <p:nvPr/>
        </p:nvSpPr>
        <p:spPr>
          <a:xfrm>
            <a:off x="844102" y="4161015"/>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 rest cluster on weekdays.</a:t>
            </a:r>
            <a:endParaRPr lang="en-US" sz="1950" dirty="0"/>
          </a:p>
        </p:txBody>
      </p:sp>
      <p:pic>
        <p:nvPicPr>
          <p:cNvPr id="7" name="Image 0" descr="preencoded.png"/>
          <p:cNvPicPr>
            <a:picLocks noChangeAspect="1"/>
          </p:cNvPicPr>
          <p:nvPr/>
        </p:nvPicPr>
        <p:blipFill>
          <a:blip r:embed="rId3"/>
          <a:srcRect t="-1678" b="-1678"/>
          <a:stretch/>
        </p:blipFill>
        <p:spPr>
          <a:xfrm>
            <a:off x="5065026" y="4122915"/>
            <a:ext cx="8741252" cy="4775915"/>
          </a:xfrm>
          <a:prstGeom prst="rect">
            <a:avLst/>
          </a:prstGeom>
        </p:spPr>
      </p:pic>
      <p:sp>
        <p:nvSpPr>
          <p:cNvPr id="8" name="Text 5"/>
          <p:cNvSpPr/>
          <p:nvPr/>
        </p:nvSpPr>
        <p:spPr>
          <a:xfrm>
            <a:off x="5458321" y="8977610"/>
            <a:ext cx="8108385"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6 — CONFIRMED BLOCKAGE HOURS BY MONTH AND DAY</a:t>
            </a:r>
            <a:endParaRPr lang="en-US" sz="1800" dirty="0"/>
          </a:p>
        </p:txBody>
      </p:sp>
      <p:sp>
        <p:nvSpPr>
          <p:cNvPr id="10" name="Text 0">
            <a:extLst>
              <a:ext uri="{FF2B5EF4-FFF2-40B4-BE49-F238E27FC236}">
                <a16:creationId xmlns:a16="http://schemas.microsoft.com/office/drawing/2014/main" id="{44609C44-7892-8252-1186-143395059F78}"/>
              </a:ext>
            </a:extLst>
          </p:cNvPr>
          <p:cNvSpPr/>
          <p:nvPr/>
        </p:nvSpPr>
        <p:spPr>
          <a:xfrm>
            <a:off x="934254" y="383759"/>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When does Blockages occur </a:t>
            </a:r>
            <a:endParaRPr lang="en-US" sz="3900" dirty="0"/>
          </a:p>
        </p:txBody>
      </p:sp>
      <p:sp>
        <p:nvSpPr>
          <p:cNvPr id="12" name="Text 1">
            <a:extLst>
              <a:ext uri="{FF2B5EF4-FFF2-40B4-BE49-F238E27FC236}">
                <a16:creationId xmlns:a16="http://schemas.microsoft.com/office/drawing/2014/main" id="{A0022F45-1435-2B79-8CE0-25B85344F0F3}"/>
              </a:ext>
            </a:extLst>
          </p:cNvPr>
          <p:cNvSpPr/>
          <p:nvPr/>
        </p:nvSpPr>
        <p:spPr>
          <a:xfrm>
            <a:off x="934254" y="1206679"/>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5%–12% of corridor trips detour on an average weekday.- at least  3 lines run on </a:t>
            </a:r>
            <a:r>
              <a:rPr lang="en-US" sz="1950" dirty="0" err="1">
                <a:solidFill>
                  <a:srgbClr val="5B5B5B"/>
                </a:solidFill>
                <a:latin typeface="Helvetica" pitchFamily="34" charset="0"/>
                <a:ea typeface="Helvetica" pitchFamily="34" charset="-122"/>
                <a:cs typeface="Helvetica" pitchFamily="34" charset="-120"/>
              </a:rPr>
              <a:t>blockadge</a:t>
            </a:r>
            <a:r>
              <a:rPr lang="en-US" sz="1950" dirty="0">
                <a:solidFill>
                  <a:srgbClr val="5B5B5B"/>
                </a:solidFill>
                <a:latin typeface="Helvetica" pitchFamily="34" charset="0"/>
                <a:ea typeface="Helvetica" pitchFamily="34" charset="-122"/>
                <a:cs typeface="Helvetica" pitchFamily="34" charset="-120"/>
              </a:rPr>
              <a:t> variants , same time  </a:t>
            </a:r>
            <a:endParaRPr lang="en-US" sz="1950" dirty="0"/>
          </a:p>
        </p:txBody>
      </p:sp>
      <p:sp>
        <p:nvSpPr>
          <p:cNvPr id="14" name="Text 2">
            <a:extLst>
              <a:ext uri="{FF2B5EF4-FFF2-40B4-BE49-F238E27FC236}">
                <a16:creationId xmlns:a16="http://schemas.microsoft.com/office/drawing/2014/main" id="{3BA4FE2F-5AFA-F65C-0D3B-067303E0214D}"/>
              </a:ext>
            </a:extLst>
          </p:cNvPr>
          <p:cNvSpPr/>
          <p:nvPr/>
        </p:nvSpPr>
        <p:spPr>
          <a:xfrm>
            <a:off x="934254" y="1562279"/>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Saturday nights jump to 66%–84%.</a:t>
            </a:r>
            <a:endParaRPr lang="en-US" sz="1950" dirty="0"/>
          </a:p>
        </p:txBody>
      </p:sp>
      <p:sp>
        <p:nvSpPr>
          <p:cNvPr id="16" name="Text 3">
            <a:extLst>
              <a:ext uri="{FF2B5EF4-FFF2-40B4-BE49-F238E27FC236}">
                <a16:creationId xmlns:a16="http://schemas.microsoft.com/office/drawing/2014/main" id="{35542E4A-66F6-40B7-FCDC-ED76591865EF}"/>
              </a:ext>
            </a:extLst>
          </p:cNvPr>
          <p:cNvSpPr/>
          <p:nvPr/>
        </p:nvSpPr>
        <p:spPr>
          <a:xfrm>
            <a:off x="934254" y="1917879"/>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Control lines 14/15 stay near 0%.</a:t>
            </a:r>
            <a:endParaRPr lang="en-US" sz="1950" dirty="0"/>
          </a:p>
        </p:txBody>
      </p:sp>
      <p:sp>
        <p:nvSpPr>
          <p:cNvPr id="17" name="TextBox 16">
            <a:extLst>
              <a:ext uri="{FF2B5EF4-FFF2-40B4-BE49-F238E27FC236}">
                <a16:creationId xmlns:a16="http://schemas.microsoft.com/office/drawing/2014/main" id="{49A28C27-C1C0-387F-F22C-332FA94CB441}"/>
              </a:ext>
            </a:extLst>
          </p:cNvPr>
          <p:cNvSpPr txBox="1"/>
          <p:nvPr/>
        </p:nvSpPr>
        <p:spPr>
          <a:xfrm>
            <a:off x="844102" y="4713668"/>
            <a:ext cx="4130772" cy="923330"/>
          </a:xfrm>
          <a:prstGeom prst="rect">
            <a:avLst/>
          </a:prstGeom>
          <a:noFill/>
        </p:spPr>
        <p:txBody>
          <a:bodyPr wrap="square" rtlCol="0">
            <a:spAutoFit/>
          </a:bodyPr>
          <a:lstStyle/>
          <a:p>
            <a:r>
              <a:rPr lang="en-US" dirty="0"/>
              <a:t>On confirmed events, the data indicates that the duration of the blockages differ between lines</a:t>
            </a:r>
            <a:endParaRPr lang="en-IL"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err="1">
                <a:solidFill>
                  <a:srgbClr val="161616"/>
                </a:solidFill>
                <a:latin typeface="Helvetica" pitchFamily="34" charset="0"/>
                <a:ea typeface="Helvetica" pitchFamily="34" charset="-122"/>
                <a:cs typeface="Helvetica" pitchFamily="34" charset="-120"/>
              </a:rPr>
              <a:t>Treval</a:t>
            </a:r>
            <a:r>
              <a:rPr lang="en-US" sz="3900" b="1" dirty="0">
                <a:solidFill>
                  <a:srgbClr val="161616"/>
                </a:solidFill>
                <a:latin typeface="Helvetica" pitchFamily="34" charset="0"/>
                <a:ea typeface="Helvetica" pitchFamily="34" charset="-122"/>
                <a:cs typeface="Helvetica" pitchFamily="34" charset="-120"/>
              </a:rPr>
              <a:t> time of The detour </a:t>
            </a:r>
            <a:r>
              <a:rPr lang="en-US" sz="3900" b="1" dirty="0" err="1">
                <a:solidFill>
                  <a:srgbClr val="161616"/>
                </a:solidFill>
                <a:latin typeface="Helvetica" pitchFamily="34" charset="0"/>
                <a:ea typeface="Helvetica" pitchFamily="34" charset="-122"/>
                <a:cs typeface="Helvetica" pitchFamily="34" charset="-120"/>
              </a:rPr>
              <a:t>varient</a:t>
            </a:r>
            <a:endParaRPr lang="en-US" sz="3900" dirty="0"/>
          </a:p>
        </p:txBody>
      </p:sp>
      <p:sp>
        <p:nvSpPr>
          <p:cNvPr id="3" name="Text 1"/>
          <p:cNvSpPr/>
          <p:nvPr/>
        </p:nvSpPr>
        <p:spPr>
          <a:xfrm>
            <a:off x="1333500" y="17754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On average, detours save 8 to 16 minutes.</a:t>
            </a:r>
            <a:endParaRPr lang="en-US" sz="195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Statistically significant for all 5 detouring lines.</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During rush hour, the advantage disappears.</a:t>
            </a:r>
            <a:endParaRPr lang="en-US" sz="1950" dirty="0"/>
          </a:p>
        </p:txBody>
      </p:sp>
      <p:sp>
        <p:nvSpPr>
          <p:cNvPr id="6" name="Shape 4"/>
          <p:cNvSpPr/>
          <p:nvPr/>
        </p:nvSpPr>
        <p:spPr>
          <a:xfrm>
            <a:off x="4305697" y="3129260"/>
            <a:ext cx="9676507"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pic>
        <p:nvPicPr>
          <p:cNvPr id="7" name="Image 0" descr="preencoded.png"/>
          <p:cNvPicPr>
            <a:picLocks noChangeAspect="1"/>
          </p:cNvPicPr>
          <p:nvPr/>
        </p:nvPicPr>
        <p:blipFill>
          <a:blip r:embed="rId3"/>
          <a:srcRect t="-1515" b="-1515"/>
          <a:stretch/>
        </p:blipFill>
        <p:spPr>
          <a:xfrm>
            <a:off x="4305697" y="3129260"/>
            <a:ext cx="9676507" cy="5715000"/>
          </a:xfrm>
          <a:prstGeom prst="rect">
            <a:avLst/>
          </a:prstGeom>
        </p:spPr>
      </p:pic>
      <p:sp>
        <p:nvSpPr>
          <p:cNvPr id="8" name="Text 5"/>
          <p:cNvSpPr/>
          <p:nvPr/>
        </p:nvSpPr>
        <p:spPr>
          <a:xfrm>
            <a:off x="6096199" y="8977610"/>
            <a:ext cx="6705055"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FIGURE 7 — MEDIAN TRAVEL-TIME DELTA BY HOUR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33500" y="952500"/>
            <a:ext cx="17183100" cy="632420"/>
          </a:xfrm>
          <a:prstGeom prst="rect">
            <a:avLst/>
          </a:prstGeom>
          <a:noFill/>
          <a:ln/>
        </p:spPr>
        <p:txBody>
          <a:bodyPr wrap="square" lIns="25400" tIns="25400" rIns="25400" bIns="25400" rtlCol="0" anchor="t">
            <a:normAutofit lnSpcReduction="10000"/>
          </a:bodyPr>
          <a:lstStyle/>
          <a:p>
            <a:pPr marL="0" indent="0" algn="l">
              <a:lnSpc>
                <a:spcPct val="102857"/>
              </a:lnSpc>
              <a:buNone/>
            </a:pPr>
            <a:r>
              <a:rPr lang="en-US" sz="3900" b="1" dirty="0">
                <a:solidFill>
                  <a:srgbClr val="161616"/>
                </a:solidFill>
                <a:latin typeface="Helvetica" pitchFamily="34" charset="0"/>
                <a:ea typeface="Helvetica" pitchFamily="34" charset="-122"/>
                <a:cs typeface="Helvetica" pitchFamily="34" charset="-120"/>
              </a:rPr>
              <a:t>Effect of Blockages on the control lines 14/15</a:t>
            </a:r>
            <a:endParaRPr lang="en-US" sz="3900" dirty="0"/>
          </a:p>
        </p:txBody>
      </p:sp>
      <p:sp>
        <p:nvSpPr>
          <p:cNvPr id="4" name="Text 2"/>
          <p:cNvSpPr/>
          <p:nvPr/>
        </p:nvSpPr>
        <p:spPr>
          <a:xfrm>
            <a:off x="1333500" y="21310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Mann-Whitney and permutation tests: no significant difference.</a:t>
            </a:r>
            <a:endParaRPr lang="en-US" sz="1950" dirty="0"/>
          </a:p>
        </p:txBody>
      </p:sp>
      <p:sp>
        <p:nvSpPr>
          <p:cNvPr id="5" name="Text 3"/>
          <p:cNvSpPr/>
          <p:nvPr/>
        </p:nvSpPr>
        <p:spPr>
          <a:xfrm>
            <a:off x="1333500" y="2486620"/>
            <a:ext cx="17183100" cy="31750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5B5B5B"/>
                </a:solidFill>
                <a:latin typeface="Helvetica" pitchFamily="34" charset="0"/>
                <a:ea typeface="Helvetica" pitchFamily="34" charset="-122"/>
                <a:cs typeface="Helvetica" pitchFamily="34" charset="-120"/>
              </a:rPr>
              <a:t>Their travel times are unaffected by the closures.</a:t>
            </a:r>
            <a:endParaRPr lang="en-US" sz="1950" dirty="0"/>
          </a:p>
        </p:txBody>
      </p:sp>
      <p:sp>
        <p:nvSpPr>
          <p:cNvPr id="6" name="Shape 4"/>
          <p:cNvSpPr/>
          <p:nvPr/>
        </p:nvSpPr>
        <p:spPr>
          <a:xfrm>
            <a:off x="4239738" y="3144837"/>
            <a:ext cx="10040343" cy="5715000"/>
          </a:xfrm>
          <a:prstGeom prst="roundRect">
            <a:avLst>
              <a:gd name="adj" fmla="val 1333"/>
            </a:avLst>
          </a:prstGeom>
          <a:solidFill>
            <a:srgbClr val="FFFFFF"/>
          </a:solidFill>
          <a:ln w="6350">
            <a:solidFill>
              <a:srgbClr val="E5E2DD"/>
            </a:solidFill>
            <a:prstDash val="solid"/>
          </a:ln>
          <a:effectLst>
            <a:outerShdw blurRad="190500" dist="19050" dir="5400000" algn="bl" rotWithShape="0">
              <a:srgbClr val="000000">
                <a:alpha val="6000"/>
              </a:srgbClr>
            </a:outerShdw>
          </a:effectLst>
        </p:spPr>
        <p:txBody>
          <a:bodyPr/>
          <a:lstStyle/>
          <a:p>
            <a:endParaRPr lang="en-IL"/>
          </a:p>
        </p:txBody>
      </p:sp>
      <p:sp>
        <p:nvSpPr>
          <p:cNvPr id="8" name="Text 5"/>
          <p:cNvSpPr/>
          <p:nvPr/>
        </p:nvSpPr>
        <p:spPr>
          <a:xfrm>
            <a:off x="5103912" y="8977610"/>
            <a:ext cx="8888086" cy="29845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 dirty="0">
                <a:solidFill>
                  <a:srgbClr val="9A9A9A"/>
                </a:solidFill>
                <a:latin typeface="Courier New" pitchFamily="34" charset="0"/>
                <a:ea typeface="Courier New" pitchFamily="34" charset="-122"/>
                <a:cs typeface="Courier New" pitchFamily="34" charset="-120"/>
              </a:rPr>
              <a:t>TABLE 4 — CONTROL LINES' TRAVEL TIME, BLOCKADE VS. NORMAL</a:t>
            </a:r>
            <a:endParaRPr lang="en-US" sz="1800" dirty="0"/>
          </a:p>
        </p:txBody>
      </p:sp>
      <p:graphicFrame>
        <p:nvGraphicFramePr>
          <p:cNvPr id="9" name="Table 8">
            <a:extLst>
              <a:ext uri="{FF2B5EF4-FFF2-40B4-BE49-F238E27FC236}">
                <a16:creationId xmlns:a16="http://schemas.microsoft.com/office/drawing/2014/main" id="{FD05D3E5-00FF-CE4C-EEBC-2A2304918539}"/>
              </a:ext>
            </a:extLst>
          </p:cNvPr>
          <p:cNvGraphicFramePr>
            <a:graphicFrameLocks noGrp="1"/>
          </p:cNvGraphicFramePr>
          <p:nvPr>
            <p:extLst>
              <p:ext uri="{D42A27DB-BD31-4B8C-83A1-F6EECF244321}">
                <p14:modId xmlns:p14="http://schemas.microsoft.com/office/powerpoint/2010/main" val="2181504862"/>
              </p:ext>
            </p:extLst>
          </p:nvPr>
        </p:nvGraphicFramePr>
        <p:xfrm>
          <a:off x="1333500" y="3674564"/>
          <a:ext cx="14501609" cy="4655545"/>
        </p:xfrm>
        <a:graphic>
          <a:graphicData uri="http://schemas.openxmlformats.org/drawingml/2006/table">
            <a:tbl>
              <a:tblPr rtl="1" firstRow="1" firstCol="1" bandRow="1">
                <a:tableStyleId>{5C22544A-7EE6-4342-B048-85BDC9FD1C3A}</a:tableStyleId>
              </a:tblPr>
              <a:tblGrid>
                <a:gridCol w="1436918">
                  <a:extLst>
                    <a:ext uri="{9D8B030D-6E8A-4147-A177-3AD203B41FA5}">
                      <a16:colId xmlns:a16="http://schemas.microsoft.com/office/drawing/2014/main" val="1023828986"/>
                    </a:ext>
                  </a:extLst>
                </a:gridCol>
                <a:gridCol w="1668677">
                  <a:extLst>
                    <a:ext uri="{9D8B030D-6E8A-4147-A177-3AD203B41FA5}">
                      <a16:colId xmlns:a16="http://schemas.microsoft.com/office/drawing/2014/main" val="3354785250"/>
                    </a:ext>
                  </a:extLst>
                </a:gridCol>
                <a:gridCol w="1579285">
                  <a:extLst>
                    <a:ext uri="{9D8B030D-6E8A-4147-A177-3AD203B41FA5}">
                      <a16:colId xmlns:a16="http://schemas.microsoft.com/office/drawing/2014/main" val="913154608"/>
                    </a:ext>
                  </a:extLst>
                </a:gridCol>
                <a:gridCol w="1715031">
                  <a:extLst>
                    <a:ext uri="{9D8B030D-6E8A-4147-A177-3AD203B41FA5}">
                      <a16:colId xmlns:a16="http://schemas.microsoft.com/office/drawing/2014/main" val="2745182700"/>
                    </a:ext>
                  </a:extLst>
                </a:gridCol>
                <a:gridCol w="1556108">
                  <a:extLst>
                    <a:ext uri="{9D8B030D-6E8A-4147-A177-3AD203B41FA5}">
                      <a16:colId xmlns:a16="http://schemas.microsoft.com/office/drawing/2014/main" val="2419429844"/>
                    </a:ext>
                  </a:extLst>
                </a:gridCol>
                <a:gridCol w="1556108">
                  <a:extLst>
                    <a:ext uri="{9D8B030D-6E8A-4147-A177-3AD203B41FA5}">
                      <a16:colId xmlns:a16="http://schemas.microsoft.com/office/drawing/2014/main" val="1425210001"/>
                    </a:ext>
                  </a:extLst>
                </a:gridCol>
                <a:gridCol w="1559420">
                  <a:extLst>
                    <a:ext uri="{9D8B030D-6E8A-4147-A177-3AD203B41FA5}">
                      <a16:colId xmlns:a16="http://schemas.microsoft.com/office/drawing/2014/main" val="2645671824"/>
                    </a:ext>
                  </a:extLst>
                </a:gridCol>
                <a:gridCol w="1715031">
                  <a:extLst>
                    <a:ext uri="{9D8B030D-6E8A-4147-A177-3AD203B41FA5}">
                      <a16:colId xmlns:a16="http://schemas.microsoft.com/office/drawing/2014/main" val="1275042065"/>
                    </a:ext>
                  </a:extLst>
                </a:gridCol>
                <a:gridCol w="1715031">
                  <a:extLst>
                    <a:ext uri="{9D8B030D-6E8A-4147-A177-3AD203B41FA5}">
                      <a16:colId xmlns:a16="http://schemas.microsoft.com/office/drawing/2014/main" val="3537773490"/>
                    </a:ext>
                  </a:extLst>
                </a:gridCol>
              </a:tblGrid>
              <a:tr h="2035977">
                <a:tc>
                  <a:txBody>
                    <a:bodyPr/>
                    <a:lstStyle/>
                    <a:p>
                      <a:pPr indent="152400" algn="l" rtl="0">
                        <a:lnSpc>
                          <a:spcPct val="115000"/>
                        </a:lnSpc>
                        <a:spcAft>
                          <a:spcPts val="800"/>
                        </a:spcAft>
                        <a:buNone/>
                      </a:pPr>
                      <a:r>
                        <a:rPr lang="he-IL" sz="1200" kern="0">
                          <a:effectLst/>
                        </a:rPr>
                        <a:t>Line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Stratum</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n </a:t>
                      </a:r>
                      <a:r>
                        <a:rPr lang="he-IL" sz="1200" kern="0">
                          <a:effectLst/>
                        </a:rPr>
                        <a:t>blockage</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n </a:t>
                      </a:r>
                      <a:r>
                        <a:rPr lang="he-IL" sz="1200" kern="0">
                          <a:effectLst/>
                        </a:rPr>
                        <a:t>normal</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Median blockage (min)</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Median normal (min)</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Δ (</a:t>
                      </a:r>
                      <a:r>
                        <a:rPr lang="he-IL" sz="1200" kern="0">
                          <a:effectLst/>
                        </a:rPr>
                        <a:t>min</a:t>
                      </a:r>
                      <a:r>
                        <a:rPr lang="en-IL" sz="1200" kern="0">
                          <a:effectLst/>
                        </a:rPr>
                        <a:t>)</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p </a:t>
                      </a:r>
                      <a:r>
                        <a:rPr lang="he-IL" sz="1200" kern="0">
                          <a:effectLst/>
                        </a:rPr>
                        <a:t>Mann-Whitney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en-IL" sz="1200" kern="0">
                          <a:effectLst/>
                        </a:rPr>
                        <a:t>p t </a:t>
                      </a:r>
                      <a:r>
                        <a:rPr lang="he-IL" sz="1200" kern="0">
                          <a:effectLst/>
                        </a:rPr>
                        <a:t>Welch</a:t>
                      </a:r>
                      <a:r>
                        <a:rPr lang="en-IL" sz="1200" kern="0">
                          <a:effectLst/>
                        </a:rPr>
                        <a:t>'s</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90748588"/>
                  </a:ext>
                </a:extLst>
              </a:tr>
              <a:tr h="654892">
                <a:tc>
                  <a:txBody>
                    <a:bodyPr/>
                    <a:lstStyle/>
                    <a:p>
                      <a:pPr indent="152400" algn="l" rtl="0">
                        <a:lnSpc>
                          <a:spcPct val="115000"/>
                        </a:lnSpc>
                        <a:spcAft>
                          <a:spcPts val="800"/>
                        </a:spcAft>
                        <a:buNone/>
                      </a:pPr>
                      <a:r>
                        <a:rPr lang="he-IL" sz="1200" kern="0">
                          <a:effectLst/>
                        </a:rPr>
                        <a:t>15</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Saturday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52.9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52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0.376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0.353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82396812"/>
                  </a:ext>
                </a:extLst>
              </a:tr>
              <a:tr h="654892">
                <a:tc>
                  <a:txBody>
                    <a:bodyPr/>
                    <a:lstStyle/>
                    <a:p>
                      <a:pPr indent="152400" algn="l" rtl="0">
                        <a:lnSpc>
                          <a:spcPct val="115000"/>
                        </a:lnSpc>
                        <a:spcAft>
                          <a:spcPts val="800"/>
                        </a:spcAft>
                        <a:buNone/>
                      </a:pPr>
                      <a:r>
                        <a:rPr lang="he-IL" sz="1200" kern="0">
                          <a:effectLst/>
                        </a:rPr>
                        <a:t>15</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Weekday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153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746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64.8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66.6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0.941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0.543</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97207710"/>
                  </a:ext>
                </a:extLst>
              </a:tr>
              <a:tr h="654892">
                <a:tc>
                  <a:txBody>
                    <a:bodyPr/>
                    <a:lstStyle/>
                    <a:p>
                      <a:pPr indent="152400" algn="l" rtl="0">
                        <a:lnSpc>
                          <a:spcPct val="115000"/>
                        </a:lnSpc>
                        <a:spcAft>
                          <a:spcPts val="800"/>
                        </a:spcAft>
                        <a:buNone/>
                      </a:pPr>
                      <a:r>
                        <a:rPr lang="he-IL" sz="1200" kern="0">
                          <a:effectLst/>
                        </a:rPr>
                        <a:t>14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Saturday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40</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37.8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36.6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1.2</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0.317</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0.256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16328421"/>
                  </a:ext>
                </a:extLst>
              </a:tr>
              <a:tr h="654892">
                <a:tc>
                  <a:txBody>
                    <a:bodyPr/>
                    <a:lstStyle/>
                    <a:p>
                      <a:pPr indent="152400" algn="l" rtl="0">
                        <a:lnSpc>
                          <a:spcPct val="115000"/>
                        </a:lnSpc>
                        <a:spcAft>
                          <a:spcPts val="800"/>
                        </a:spcAft>
                        <a:buNone/>
                      </a:pPr>
                      <a:r>
                        <a:rPr lang="he-IL" sz="1200" kern="0">
                          <a:effectLst/>
                        </a:rPr>
                        <a:t>14</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Weekday</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198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1,108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48</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47.1</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0.9</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a:effectLst/>
                        </a:rPr>
                        <a:t>0.156</a:t>
                      </a:r>
                      <a:endParaRPr lang="en-IL"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indent="152400" algn="l" rtl="0">
                        <a:lnSpc>
                          <a:spcPct val="115000"/>
                        </a:lnSpc>
                        <a:spcAft>
                          <a:spcPts val="800"/>
                        </a:spcAft>
                        <a:buNone/>
                      </a:pPr>
                      <a:r>
                        <a:rPr lang="he-IL" sz="1200" kern="0" dirty="0">
                          <a:effectLst/>
                        </a:rPr>
                        <a:t>0.064</a:t>
                      </a:r>
                      <a:endParaRPr lang="en-IL"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59002881"/>
                  </a:ext>
                </a:extLst>
              </a:tr>
            </a:tbl>
          </a:graphicData>
        </a:graphic>
      </p:graphicFrame>
      <p:sp>
        <p:nvSpPr>
          <p:cNvPr id="7" name="TextBox 6">
            <a:extLst>
              <a:ext uri="{FF2B5EF4-FFF2-40B4-BE49-F238E27FC236}">
                <a16:creationId xmlns:a16="http://schemas.microsoft.com/office/drawing/2014/main" id="{74E94E7D-EE00-D7F0-5336-6EF536450AFA}"/>
              </a:ext>
            </a:extLst>
          </p:cNvPr>
          <p:cNvSpPr txBox="1"/>
          <p:nvPr/>
        </p:nvSpPr>
        <p:spPr>
          <a:xfrm>
            <a:off x="1333500" y="1706679"/>
            <a:ext cx="4877489" cy="369332"/>
          </a:xfrm>
          <a:prstGeom prst="rect">
            <a:avLst/>
          </a:prstGeom>
          <a:noFill/>
        </p:spPr>
        <p:txBody>
          <a:bodyPr wrap="none" rtlCol="0">
            <a:spAutoFit/>
          </a:bodyPr>
          <a:lstStyle/>
          <a:p>
            <a:r>
              <a:rPr lang="en-US" dirty="0" err="1"/>
              <a:t>Bolcadge</a:t>
            </a:r>
            <a:r>
              <a:rPr lang="en-US" dirty="0"/>
              <a:t> – only 1 line is using the blocked variant </a:t>
            </a:r>
            <a:endParaRPr lang="en-IL"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8C637-14B1-7C8F-8FBB-28B202143BD8}"/>
              </a:ext>
            </a:extLst>
          </p:cNvPr>
          <p:cNvSpPr txBox="1"/>
          <p:nvPr/>
        </p:nvSpPr>
        <p:spPr>
          <a:xfrm>
            <a:off x="1136469" y="1618138"/>
            <a:ext cx="17151531" cy="2585323"/>
          </a:xfrm>
          <a:prstGeom prst="rect">
            <a:avLst/>
          </a:prstGeom>
          <a:noFill/>
        </p:spPr>
        <p:txBody>
          <a:bodyPr wrap="square" rtlCol="0">
            <a:spAutoFit/>
          </a:bodyPr>
          <a:lstStyle/>
          <a:p>
            <a:r>
              <a:rPr lang="en-US" dirty="0"/>
              <a:t>Summery </a:t>
            </a:r>
            <a:endParaRPr lang="he-IL" dirty="0"/>
          </a:p>
          <a:p>
            <a:endParaRPr lang="he-IL" dirty="0"/>
          </a:p>
          <a:p>
            <a:r>
              <a:rPr lang="he-IL" dirty="0"/>
              <a:t>לא מצאנו הבדלים לרעה על התחבורה הציבורית בירושלים בזמן חסימות </a:t>
            </a:r>
          </a:p>
          <a:p>
            <a:r>
              <a:rPr lang="he-IL" dirty="0"/>
              <a:t>אפשר לומר שחסימת רחוב ראשי לא בהכרח גורמת לעומס מיוחד על הכבישין נסביב </a:t>
            </a:r>
          </a:p>
          <a:p>
            <a:endParaRPr lang="he-IL" dirty="0"/>
          </a:p>
          <a:p>
            <a:r>
              <a:rPr lang="he-IL" dirty="0"/>
              <a:t>הנתונים מעידים על כאוס , אין סדר , אין לדעת מה המסלול בו השתמשו האוטובסים. </a:t>
            </a:r>
          </a:p>
          <a:p>
            <a:r>
              <a:rPr lang="he-IL" dirty="0"/>
              <a:t>כאשר יש חסימה אמנם האוטובוס מהיר יות ראבל האזרח צריך ללכת יותצר , וכדי להשלים מידע על זה צריך להשיג מידע על משתמשי אוטובוס שהוא אינו זמין . או לא מצאנו אותו </a:t>
            </a:r>
          </a:p>
          <a:p>
            <a:endParaRPr lang="he-IL" dirty="0"/>
          </a:p>
          <a:p>
            <a:r>
              <a:rPr lang="he-IL" dirty="0"/>
              <a:t>ותכלס זה בעיקר מה שחסר לנו כדי להשלים את התמונה </a:t>
            </a:r>
          </a:p>
        </p:txBody>
      </p:sp>
    </p:spTree>
    <p:extLst>
      <p:ext uri="{BB962C8B-B14F-4D97-AF65-F5344CB8AC3E}">
        <p14:creationId xmlns:p14="http://schemas.microsoft.com/office/powerpoint/2010/main" val="1364455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1537</Words>
  <Application>Microsoft Office PowerPoint</Application>
  <PresentationFormat>Custom</PresentationFormat>
  <Paragraphs>180</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Courier New</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Avishag Schwartz</cp:lastModifiedBy>
  <cp:revision>3</cp:revision>
  <dcterms:created xsi:type="dcterms:W3CDTF">2026-08-03T09:38:02Z</dcterms:created>
  <dcterms:modified xsi:type="dcterms:W3CDTF">2026-08-03T11:07:01Z</dcterms:modified>
</cp:coreProperties>
</file>