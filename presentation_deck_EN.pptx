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9" r:id="rId4"/>
    <p:sldId id="260" r:id="rId5"/>
    <p:sldId id="261" r:id="rId6"/>
    <p:sldId id="258" r:id="rId7"/>
    <p:sldId id="262" r:id="rId8"/>
    <p:sldId id="264" r:id="rId10"/>
    <p:sldId id="265" r:id="rId11"/>
    <p:sldId id="266" r:id="rId12"/>
    <p:sldId id="267" r:id="rId13"/>
    <p:sldId id="268" r:id="rId14"/>
    <p:sldId id="270" r:id="rId15"/>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534" y="84"/>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9:40:08.739"/>
    </inkml:context>
    <inkml:brush xml:id="br0">
      <inkml:brushProperty name="width" value="0.07938" units="cm"/>
      <inkml:brushProperty name="height" value="0.07938" units="cm"/>
      <inkml:brushProperty name="color" value="#E71224"/>
    </inkml:brush>
  </inkml:definitions>
  <inkml:trace contextRef="#ctx0" brushRef="#br0">1 1 24575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9:40:08.740"/>
    </inkml:context>
    <inkml:brush xml:id="br0">
      <inkml:brushProperty name="width" value="0.07938" units="cm"/>
      <inkml:brushProperty name="height" value="0.07938" units="cm"/>
      <inkml:brushProperty name="color" value="#E71224"/>
    </inkml:brush>
  </inkml:definitions>
  <inkml:trace contextRef="#ctx0" brushRef="#br0">1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9:40:08.741"/>
    </inkml:context>
    <inkml:brush xml:id="br0">
      <inkml:brushProperty name="width" value="0.07938" units="cm"/>
      <inkml:brushProperty name="height" value="0.07938" units="cm"/>
      <inkml:brushProperty name="color" value="#E71224"/>
    </inkml:brush>
  </inkml:definitions>
  <inkml:trace contextRef="#ctx0" brushRef="#br0">0 21552 24575,'0'0'0,"0"0"0,0 0 0,0 0 0,0 0 0,0 0 0,0 0 0,0 0 0,0 0 0,0 0 0,5-3 0,101-92 0,-43 37 0,3 2 0,3 2 0,131-76 0,-35 44 0,277-100 0,-323 146 0,550-157 0,-323 137 0,-190 35 0,-45 5 0,315-37 0,-217 51 0,-55 2 0,262-38 0,-65-5 0,55-11 0,-194 16 0,178-47 0,-291 61 0,157-43 0,-221 64 0,365-101 0,-310 72 0,90-50 0,-24 10 0,-34 20 0,-2-4 0,190-130 0,-169 94 0,-72 51 0,111-92 0,-61 35 0,31-25 0,174-224 0,-239 252 0,-19 24 0,279-297 0,-288 310 0,-3-1 0,60-91 0,-69 92 0,239-296 0,-41 118 0,36-38 0,-207 200 0,97-81 0,92-51 0,-81 66 0,38-64 0,-55 44 0,202-133 0,-197 165 0,120-129 0,31-25 0,-110 121 0,88-65 0,21 17 0,-266 183 0,161-106 0,-187 116 0,-2 1 0,0-2 0,-2 0 0,-1-2 0,38-50 0,-52 59 0,1 1 0,-1-1 0,-1 1 0,0-2 0,-1 1 0,-1-1 0,-1 0 0,0 0 0,0 0 0,-1 0 0,-2 0 0,1 0 0,-1 0 0,-1 0 0,-1 0 0,-5-24 0,-8-15 0,-2 0 0,-2 2 0,-34-64 0,-13-41 0,39 91 0,-40-74 0,38 85 0,-43-119 0,21-27 0,-16-50 0,55 218 0,0 2 0,-2 1 0,-2 0 0,-19-29 0,29 49 0,-1-1 0,-2 2 0,1 0 0,-1 0 0,0 0 0,0 2 0,-1-1 0,1 1 0,-2 1 0,1 0 0,-2 0 0,1 0 0,-1 1 0,-16-4 0,-11 0 0,-2 2 0,1 2 0,-1 2 0,1 2 0,-2 1 0,1 1 0,-67 13 0,-277 82 0,376-93 0,-270 96 0,175-57 0,-178 43 0,147-56 0,0-5 0,-171 6 0,14-12 0,-187-2 0,445-17 0,1-4 0,0 1 0,0-2 0,0-2 0,0-2 0,1-1 0,-31-14 0,51 19 0,2-2 0,-2 1 0,1-1 0,2-1 0,-1 0 0,1 0 0,0-1 0,0-1 0,1 1 0,1-1 0,-1 1 0,2-2 0,0 0 0,0 0 0,0 0 0,2 0 0,-5-23 0,0-7 0,1-1 0,2-1 0,2 1 0,1-49 0,15-164 0,-3-71 0,-9 241 0,19-145 0,1-37 0,-29-148 0,0 110 0,-15-18 0,-2 24 0,-1-81 0,5 138 0,25-139 0,1 82 0,-4-290 0,-4 437 0,-37-235 0,13 167 0,-62-299 0,21 155 0,24 88 0,-54-397 0,-29-178 0,70 624 0,29 131 0,-17-131 0,14 42 0,-62-212 0,74 305 0,4-1 0,-7-106 0,-20-128 0,19 206 0,6-2 0,4-1 0,4-151 0,10 258 0,0-1 0,1 1 0,2 0 0,0 0 0,6-23 0,-7 38 0,-1-1 0,1 1 0,-2 0 0,1 0 0,2-2 0,-1 2 0,-1 0 0,1 0 0,1 0 0,-2 0 0,2 2 0,0-2 0,0 0 0,-1 0 0,1 1 0,0 1 0,0-2 0,0 1 0,1 1 0,-1-1 0,0 1 0,0-1 0,2 1 0,-2-1 0,0 2 0,1-1 0,-1 1 0,2 0 0,-2 0 0,1 0 0,-1 0 0,0 0 0,6 1 0,15 4 0,0 1 0,0 0 0,-1 1 0,-1 2 0,29 15 0,105 68 0,-21-11 0,-40-38 0,1-4 0,160 42 0,29 11 0,-184-52 0,-49-17 0,2-4 0,93 25 0,-15-26 0,0-5 0,219-7 0,-187-6 0,16 0 0,276 11 0,-318-7 0,142-13 0,-35-1 0,-208 10 0,1-3 0,-2-2 0,0-1 0,0-3 0,0 0 0,0-1 0,-2-2 0,1-2 0,40-23 0,-38 14 0,1-1 0,-1-1 0,-2-2 0,-1-2 0,-1-1 0,-1-1 0,35-49 0,-23 22 0,-4-4 0,-1 1 0,35-80 0,-29 40 0,42-152 0,-6-23 0,60-194 0,-116 379 0,-14 47 0,28-67 0,-39 110-65,0-1 0,1 2 0,-1-1 0,0 1 0,2-2 0,-2 1 0,1 1 0,-1-2 0,2 2 0,-2-1 0,1 1 0,-1-2 0,2 2 0,-1-1 0,-1 1 0,2 0 0,-2-2 0,1 2 0,1 0 0,-1-1 0,10-1-6761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9:40:08.742"/>
    </inkml:context>
    <inkml:brush xml:id="br0">
      <inkml:brushProperty name="width" value="0.07938" units="cm"/>
      <inkml:brushProperty name="height" value="0.07938" units="cm"/>
      <inkml:brushProperty name="color" value="#F6630D"/>
    </inkml:brush>
  </inkml:definitions>
  <inkml:trace contextRef="#ctx0" brushRef="#br0">1 21424 24575,'0'0'0,"0"0"0,0 0 0,0 0 0,0 0 0,0 0 0,0 0 0,0 0 0,0 0 0,0 0 0,27-22 0,84-61 0,3 7 0,3 5 0,3 4 0,3 5 0,1 7 0,4 5 0,182-46 0,-119 50 0,385-43 0,-277 50 0,536-141 0,-768 164 0,106-32 0,260-36 0,-327 72 0,414-56 0,67-38 0,-287 61 0,-23 4 0,-208 28 0,134-46 0,196-125 0,-141 58 0,-137 63 0,209-141 0,-103 57 0,-130 81 0,-4-3 0,-1-5 0,83-89 0,-157 146 0,664-668 0,-191 94 0,-432 517 0,138-157 0,-79 98 0,20-38 0,71-81 0,244-174 0,-263 237 0,6-6 0,269-183 0,-74 76 0,312-223 0,-601 462 0,118-57 0,38-19 0,-216 110 0,0 1 0,-2-2 0,66-68 0,-86 77 0,0-3 0,-2 0 0,0 0 0,-2-1 0,-1-1 0,-1-1 0,-1 0 0,10-30 0,-16 33 0,0 0 0,-2 0 0,0 0 0,-2-1 0,-2 1 0,1-2 0,-2 2 0,-2-1 0,1 1 0,-8-30 0,-14-41 0,-55-145 0,-56-82 0,32 85 0,94 217 0,-148-325 0,135 308 0,-2 1 0,1 1 0,-3 1 0,-2 1 0,-2 1 0,-60-53 0,75 74 0,-2 2 0,0-1 0,-1 2 0,1 1 0,0-1 0,-1 2 0,-1 0 0,0 2 0,0-1 0,0 2 0,0 0 0,0 2 0,0 1 0,-21 0 0,-30 6 0,0 1 0,-93 25 0,120-25 0,-373 109 0,28-8 0,325-95 0,-509 103 0,419-92 0,-275 6 0,381-30 0,2-2 0,-2-1 0,-66-15 0,94 12 0,0 2 0,0-2 0,0-2 0,1 1 0,0-2 0,1 0 0,0 0 0,0-2 0,0-1 0,3 0 0,-17-15 0,5-1 0,-1-1 0,4-2 0,-1-1 0,2 1 0,2-4 0,1 2 0,1-3 0,2 2 0,3-2 0,0-2 0,1 1 0,4-1 0,0 1 0,-2-52 0,2-445 0,54 182 0,-2 25 0,-17 24 0,12-249 0,-38 340 0,-18-517 0,2 369 0,-8-60 0,-8-10 0,30 400 0,-9-75 0,-42-203 0,31 217 0,-22-184 0,-29-128 0,-66-286 0,136 688 0,-75-413 0,-39-161 0,67 358 0,39 175 0,-147-627 0,136 585 0,-14-173 0,29 188 0,-2 2 0,-5-2 0,-1 1 0,-30-80 0,18 71 0,1 1 0,6-4 0,2 2 0,-5-82 0,-23-115 0,-8-89 0,47 298 0,-1-15 0,6-87 0,0 145 0,3-1 0,0 0 0,2 2 0,1-2 0,-1 1 0,3 1 0,-1-1 0,18-26 0,-20 38 0,3 1 0,-2-1 0,3 2 0,-2-1 0,3 1 0,-2 0 0,1 0 0,0 1 0,2 1 0,-1-1 0,1 2 0,-1 0 0,3 0 0,-3 0 0,2 2 0,0-1 0,0 2 0,24-4 0,-12 4 0,0 0 0,0 3 0,0 0 0,0 0 0,0 3 0,-2 0 0,3 1 0,-1 1 0,22 10 0,65 27 0,131 70 0,239 100 0,79-34 0,-107-26 0,-68-20 0,2-23 0,-286-80 0,130 19 0,-169-39 0,1-5 0,0-1 0,87-6 0,-118-1 0,-2-2 0,0-2 0,1 1 0,-2-4 0,1 1 0,-2-2 0,1-2 0,28-17 0,-2-5 0,-1-2 0,87-80 0,-115 94 0,-4 0 0,1-3 0,-2 0 0,-2-2 0,-1 1 0,29-61 0,61-200 0,-50 119 0,67-268 0,-83 272 0,43-83 0,-5 16 0,-41 83-1365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9:40:08.743"/>
    </inkml:context>
    <inkml:brush xml:id="br0">
      <inkml:brushProperty name="width" value="0.07938" units="cm"/>
      <inkml:brushProperty name="height" value="0.07938" units="cm"/>
      <inkml:brushProperty name="color" value="#FFC114"/>
    </inkml:brush>
  </inkml:definitions>
  <inkml:trace contextRef="#ctx0" brushRef="#br0">715 0 24575,'0'0'0,"0"0"0,-1 2 0,-1-1 0,1-1 0,-2 2 0,2-1 0,-1-1 0,1 2 0,-1-1 0,0 1 0,1-1 0,-1 1 0,-2 2 0,-3 4 0,-19 16 0,1 0 0,1 3 0,1 0 0,2 0 0,0 1 0,3 2 0,0 2 0,-15 35 0,10-11 0,4-1 0,1 2 0,3 2 0,-8 64 0,5-6 0,-48 162 0,50-231 0,-2 0 0,-1-2 0,-2 1 0,-4-2 0,-54 81 0,62-104 0,1 1 0,3 1 0,-1 1 0,1 1 0,2-1 0,0 1 0,-8 40 0,18-63-105,1-2 0,0 2 0,-2-1 0,2 1 0,0-2 0,0 2 0,0-1 0,0 1 0,2-2 0,-2 2 0,0-1 0,1 4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9:40:08.744"/>
    </inkml:context>
    <inkml:brush xml:id="br0">
      <inkml:brushProperty name="width" value="0.07938" units="cm"/>
      <inkml:brushProperty name="height" value="0.07938" units="cm"/>
      <inkml:brushProperty name="color" value="#FFC114"/>
    </inkml:brush>
  </inkml:definitions>
  <inkml:trace contextRef="#ctx0" brushRef="#br0">10770 1 24575,'-15'135'0,"-6"2"0,-6-4 0,-63 190 0,60-241 0,-17 52 0,-124 242 0,141-321 0,-157 297 0,179-334 0,1 0 0,1-1 0,0 3 0,1 0 0,1-1 0,1 1 0,0-1 0,1 1 0,2-1 0,0 1 0,5 29 0,-4-38 0,2-1 0,0 0 0,0 1 0,0 0 0,2-1 0,-1-1 0,1 2 0,1-2 0,-2 0 0,4 0 0,-2 0 0,1-2 0,-1 1 0,2 1 0,1-3 0,-2 1 0,2 1 0,0-2 0,0 0 0,0-2 0,0 2 0,17 5 0,217 65 0,-171-56 0,-41-11 0,1 0 0,-2 3 0,0 0 0,0 1 0,28 20 0,-46-25 0,0 1 0,0 1 0,-1-1 0,-1 2 0,1-1 0,-1 2 0,-1 0 0,0 0 0,-1 0 0,-1 2 0,1-2 0,-2 1 0,6 19 0,1 8 0,-2 2 0,-2 0 0,6 60 0,-3 132 0,-11-205 0,-17 578 0,-29-269 0,-8 115 0,76 189 0,-4-317 0,11 119 0,-16-340 0,2-2 0,41 127 0,48 37 0,-13-46 0,143 406 0,-119-326 0,-80-216 0,1-2 0,7-1 0,1-1 0,4-2 0,68 79 0,243 357 0,17 62 0,-101-209 0,-162-225 0,156 258 0,-210-293 0,4-3 0,95 113 0,-136-190 0,-4-2 0,1 4 0,-2 0 0,0 0 0,-3 1 0,0 1 0,-3 0 0,0 1 0,-2 1 0,-1-2 0,-1 2 0,4 54 0,-9-24 0,-3-2 0,-2 1 0,-2 1 0,-4-1 0,-20 85 0,17-112 0,-2 2 0,-1-1 0,-29 52 0,-67 95 0,55-96 0,-4-3 0,-2-2 0,-5-2 0,-3-5 0,-95 82 0,-83 26 0,77-63 0,89-56 0,-4-6 0,-2-2 0,-149 67 0,82-60 0,-167 81 0,-53 61 0,226-133 0,-50 29 0,108-47 0,3 5 0,3 4 0,-81 77 0,69-53 0,-213 189 0,-20-24 0,65-88 0,2-1 0,191-115 0,-104 96 0,130-100 0,-291 250 0,265-240 0,2 1 0,3 5 0,3 1 0,3 4 0,-94 131 0,142-177 0,-189 273 0,144-220 0,-120 123 0,69-81 0,3 4 0,-108 164 0,-123 105 0,-2 3 0,253-282 0,-7-4 0,-131 115 0,223-219 0,-212 214 0,61-56 0,64-71 0,13-8 0,-4-4 0,-3-3 0,-106 71 0,-505 370 0,638-473 0,-3-2 0,0-2 0,-120 52 0,-202 55 0,263-103 0,38-11 0,0-4 0,-1-4 0,-137 20 0,70-25 0,-46 5 0,-331-4 0,415-23 0,-213 16 0,271 0 0,2 0 0,0 2 0,0 3 0,0 1 0,2 4 0,1 1 0,1 2 0,1 0 0,-58 45 0,4 8 0,4 4 0,-140 151 0,146-127 0,-105 160 0,-46 60 0,82-154 0,-77 93 0,184-202 0,-2 0 0,-89 75 0,134-130-1365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9:40:08.745"/>
    </inkml:context>
    <inkml:brush xml:id="br0">
      <inkml:brushProperty name="width" value="0.07938" units="cm"/>
      <inkml:brushProperty name="height" value="0.07938" units="cm"/>
      <inkml:brushProperty name="color" value="#FFC114"/>
    </inkml:brush>
  </inkml:definitions>
  <inkml:trace contextRef="#ctx0" brushRef="#br0">0 1 24575,'0'0'0,"0"0"0,0 0 0,0 0 0,0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9:40:08.746"/>
    </inkml:context>
    <inkml:brush xml:id="br0">
      <inkml:brushProperty name="width" value="0.07938" units="cm"/>
      <inkml:brushProperty name="height" value="0.07938" units="cm"/>
      <inkml:brushProperty name="color" value="#FFC114"/>
    </inkml:brush>
  </inkml:definitions>
  <inkml:trace contextRef="#ctx0" brushRef="#br0">1 0 24575,'0'0'0,"0"0"0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9:40:08.747"/>
    </inkml:context>
    <inkml:brush xml:id="br0">
      <inkml:brushProperty name="width" value="0.07938" units="cm"/>
      <inkml:brushProperty name="height" value="0.07938" units="cm"/>
      <inkml:brushProperty name="color" value="#FFC114"/>
    </inkml:brush>
  </inkml:definitions>
  <inkml:trace contextRef="#ctx0" brushRef="#br0">0 0 24575,'0'0'-8191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9:40:08.748"/>
    </inkml:context>
    <inkml:brush xml:id="br0">
      <inkml:brushProperty name="width" value="0.07938" units="cm"/>
      <inkml:brushProperty name="height" value="0.07938" units="cm"/>
      <inkml:brushProperty name="color" value="#FFC114"/>
    </inkml:brush>
  </inkml:definitions>
  <inkml:trace contextRef="#ctx0" brushRef="#br0">0 0 24575,'0'0'-8191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9:40:08.749"/>
    </inkml:context>
    <inkml:brush xml:id="br0">
      <inkml:brushProperty name="width" value="0.07938" units="cm"/>
      <inkml:brushProperty name="height" value="0.07938" units="cm"/>
      <inkml:brushProperty name="color" value="#5B2D90"/>
    </inkml:brush>
  </inkml:definitions>
  <inkml:trace contextRef="#ctx0" brushRef="#br0">13760 0 24575,'0'0'0,"3"2"0,313 58 0,169 42 0,-338-65 0,-81-23 0,94 34 0,-140-41 0,-2 2 0,0 0 0,0 0 0,0 2 0,-2 1 0,1 0 0,-1 0 0,-1 1 0,18 22 0,-22-23 0,-2 3 0,0-2 0,0 2 0,-2 0 0,-1 0 0,2 0 0,-4 2 0,8 23 0,17 143 0,-20-112 0,18 310 0,-33 0 0,3-290 0,9 560 0,-17-189 0,-1-109 0,23 50 0,-4-106 0,7-88 0,43 229 0,4 45 0,77 492 0,-27-101 0,-93-691 0,30 321 0,-34-297 0,16 180 0,76 401 0,44 235 0,-67-572 0,-56-280 0,40 179 0,103 373 0,-152-612 0,36 201 0,58 135 0,-104-423 0,-1-2 0,4 1 0,-1-2 0,1 1 0,1-1 0,1-1 0,2-1 0,0 1 0,0-2 0,2 0 0,1 0 0,0-3 0,0 1 0,24 14 0,30 15 0,3-3 0,130 54 0,-116-57 0,58 32 0,198 127 0,-261-146 0,84 61 0,-114-71 0,-2 1 0,-1 4 0,-3 2 0,57 74 0,-90-103 0,-1 1 0,-2 0 0,0 1 0,0 1 0,-3-1 0,0 1 0,-2 1 0,1 0 0,-2 0 0,-2 0 0,1 1 0,-4-1 0,1 2 0,-1-2 0,-2 1 0,-1-1 0,-8 45 0,5-48 0,-1 0 0,0 0 0,-1 0 0,-2 0 0,0-1 0,-2-1 0,-1 1 0,0-1 0,0-1 0,-28 29 0,35-41 0,-359 369 0,134-158 0,130-116 0,-4-5 0,-137 96 0,230-186 0,2 0 0,-1 0 0,-1-2 0,1 1 0,-2-2 0,1 1 0,1-2 0,-2 1 0,0-2 0,1 1 0,-1-1 0,-19-1 0,-7-3 0,1-3 0,-59-13 0,60 10 0,0 1 0,-63-4 0,-6 14 0,-123 19 0,-2 1 0,154-19 0,-1 5 0,1 2 0,-98 28 0,42-1 0,-162 70 0,-323 211 0,-182 90 0,733-380 0,-2-2 0,1-4 0,-2-2 0,-93 13 0,37-17 0,-200 2 0,-67-30 0,320 5 0,0-4 0,0-2 0,-96-32 0,164 43 0,-161-59 0,139 50 0,2-1 0,0 0 0,2-3 0,-34-24 0,47 30 0,0 0 0,0-1 0,2-1 0,-1 1 0,1-1 0,-1 1 0,2-2 0,0 0 0,2 0 0,-1 0 0,1 0 0,1-2 0,0 2 0,0-1 0,0-13 0,0-17 0,0 1 0,3 0 0,7-56 0,2 44 0,3 0 0,2 2 0,2-1 0,41-86 0,6-20 0,75-188 0,-19 53 0,-35 38 0,58-322 0,-106 388 0,-9-2 0,-7-2 0,-10 1 0,-16-236 0,-7 285 0,-8 1 0,-5 1 0,-7 1 0,-91-245 0,82 269 0,9 23 0,-3 1 0,-5 1 0,-55-94 0,-27-6 0,-208-354 0,223 362 0,-8 4 0,-215-258 0,256 351 0,-5 4 0,-125-103 0,193 177 0,0 0 0,-2 0 0,1 2 0,-1-1 0,1 1 0,-2 1 0,0 0 0,1 1 0,-1 1 0,-1-1 0,1 2 0,0 2 0,0-1 0,-2 1 0,2 1 0,-1 0 0,1 1 0,-2 1 0,2-1 0,0 4 0,0-2 0,0 1 0,0 1 0,0 1 0,2 0 0,-2 1 0,1 1 0,1-1 0,1 2 0,-2 0 0,-16 18 0,-28 33 0,1 2 0,3 4 0,3 0 0,-84 148 0,-120 320 0,99-141 0,0-3 0,61-165 0,-112 236 0,164-379 0,13-22 0,-45 65 0,55-97 0,-110 145 0,110-152 0,1-2 0,-1-1 0,-1 0 0,-1-1 0,-46 26 0,19-17 0,-4-4 0,1-1 0,-2-1 0,0-5 0,-2-2 0,-98 13 0,52-17 0,0-5 0,-191-16 0,139-10 0,-302-88 0,333 76 0,-941-328 0,509 119 0,233 101 0,185 77 0,-166-104 0,-109-110 0,109 39 0,183 141 0,27 18 0,4-3 0,4-3 0,4-5 0,-87-125 0,-162-280 0,16 31 0,83 131 0,192 275 0,-58-90 0,-128-150 0,-26-3 0,-221-241 0,154 238 0,43 43 0,-175-143 0,422 380-58,20 19-105,2 1-1,-1-2 1,-2 2 0,1 0-1,-1 2 1,0-2-1,-15-6 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9:40:08.750"/>
    </inkml:context>
    <inkml:brush xml:id="br0">
      <inkml:brushProperty name="width" value="0.07938" units="cm"/>
      <inkml:brushProperty name="height" value="0.07938" units="cm"/>
      <inkml:brushProperty name="color" value="#B28DDB"/>
    </inkml:brush>
  </inkml:definitions>
  <inkml:trace contextRef="#ctx0" brushRef="#br0">1 1 24575,'0'0'0,"0"0"0,0 0 0,0 0 0,0 0 0,19 17 0,-11-10 0,230 169 0,-166-130 0,-4 4 0,95 86 0,316 373 0,-391-412 0,-16-14 0,-3 2 0,86 145 0,-95-142 0,4-4 0,76 80 0,-7-7 0,-82-88 0,77 140 0,-88-136 0,101 136 0,-16-50 0,179 307 0,-227-346 0,134 162 0,-149-205 0,101 152 0,-107-145 0,4-1 0,106 113 0,121 55 0,-43-38 0,-154-134 0,5-2 0,205 125 0,238 71 0,49 6 0,-532-252 0,1-3 0,1-1 0,1-2 0,2-5 0,-1-1 0,2-3 0,-1-3 0,2-1 0,107-4 0,280-40 0,-368 23 0,-2-4 0,1-4 0,113-45 0,-91 23 0,146-86 0,-152 72 0,168-137 0,-227 161 0,-1 0 0,-3-3 0,0-1 0,-1-2 0,-4-2 0,46-79 0,182-480 0,-59 123 0,110-105 0,-280 533 0,164-263 0,-164 273 0,3 0 0,0 3 0,3 0 0,1 3 0,58-47 0,-62 61 0,0 1 0,1 0 0,1 3 0,1 0 0,0 3 0,0 0 0,1 1 0,55-7 0,-52 14 0,1 2 0,-1 1 0,1 2 0,-1 2 0,1 0 0,-1 3 0,44 14 0,-15-1 0,0 5 0,122 63 0,-121-52 0,-19-13 0,-1 4 0,-1 1 0,61 48 0,-71-44 0,-2 4 0,1 1 0,-4 1 0,38 56 0,92 176 0,-94-149 0,-13-29 0,-9-19 0,-3 2 0,48 124 0,-34-29 0,47 119 0,-65-189 0,-4 2 0,32 167 0,-66-266 0,23 98 0,34 145 0,-42-194 0,85 336 0,-88-323 0,-3-1 0,-3 2 0,-1 1 0,-8 75 0,-8 157 0,11-173 0,-6-1 0,-24 130 0,-169 596 0,44-374 0,100-314 0,-64 109 0,53-131 0,48-98 0,3 1 0,0 2 0,3 0 0,-9 72 0,12-36 0,6 143 0,3-202 0,0-1 0,2 2 0,1-2 0,1 1 0,1-1 0,-1 0 0,4 0 0,-2 0 0,3-1 0,0 1 0,1-2 0,1-1 0,20 30 0,4-7 0,2-1 0,1-1 0,2-3 0,1-1 0,2-2 0,1-2 0,1-1 0,3-3 0,0-3 0,58 24 0,-38-24 0,1-4 0,0-2 0,1-3 0,1-5 0,-1-1 0,2-3 0,0-4 0,122-13 0,-35-5 0,0-8 0,-3-8 0,0-5 0,-3-8 0,229-99 0,-235 76 0,176-112 0,-158 71 0,-59 37 0,218-111 0,-201 129 0,251-75 0,-317 114 0,0 3 0,1 3 0,1 3 0,-1 1 0,1 4 0,116 11 0,-145-4 0,2 2 0,-2 1 0,0 1 0,0 1 0,-2 2 0,1 1 0,31 20 0,-44-23 0,2-2 0,0-2 0,0 2 0,0-3 0,0 0 0,27 5 0,-34-10 0,-2 1 0,1-2 0,1 0 0,-1 0 0,1-2 0,-1 1 0,-1-1 0,2-1 0,-1 2 0,-1-2 0,2-2 0,-2 2 0,16-10 0,22-13 0,20-13 0,1-1 0,92-74 0,26-59 0,-67 59 0,-8 21 0,142-93 0,-19 18 0,110-117 0,199-169 0,-282 239 0,-114 98 0,1 0 0,74-60 0,-139 111 0,2 3 0,2 5 0,147-74 0,-99 61 0,201-139 0,68-45 0,-392 248 0,438-250 0,-372 211 0,228-145 0,-251 151 0,-1-1 0,-3-4 0,63-67 0,185-248 0,-173 190 0,45-53 0,-150 197 0,1 1 0,2 2 0,2 1 0,-1 1 0,2 0 0,0 1 0,32-14 0,-44 26 0,0 2 0,0 0 0,0 0 0,1 2 0,-1-1 0,2 2 0,-1 0 0,1 2 0,-1-1 0,1 2 0,-1 0 0,1 0 0,-1 3 0,1-1 0,-2 1 0,19 6 0,19 10 0,-1 4 0,-1 1 0,-1 3 0,-1 1 0,-2 4 0,-1 1 0,-1 1 0,51 53 0,110 144 0,-143-154 0,3-4 0,81 71 0,196 146 0,-133-107 0,63 49 0,111 14 0,-268-169 0,152 133 0,-104-78 0,490 355 0,-618-461 0,288 212 0,-180-119 0,162 173 0,-33-16 0,-150-139 0,75 73 0,-176-191 0,-5-1 0,2-3 0,-1 2 0,3-2 0,39 22 0,-43-34-1365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9:40:08.751"/>
    </inkml:context>
    <inkml:brush xml:id="br0">
      <inkml:brushProperty name="width" value="0.07938" units="cm"/>
      <inkml:brushProperty name="height" value="0.07938" units="cm"/>
      <inkml:brushProperty name="color" value="#00A0D7"/>
    </inkml:brush>
  </inkml:definitions>
  <inkml:trace contextRef="#ctx0" brushRef="#br0">0 1 24575,'181'76'0,"-119"-53"0,-2 2 0,66 39 0,-62-21 0,1 2 0,-4 3 0,58 57 0,143 186 0,-209-225 0,61 72 0,186 298 0,-222-300 0,156 201 0,-170-247 0,-2 2 0,-5 2 0,58 133 0,89 137 0,-13-31 0,-128-204 0,6-3 0,142 198 0,-85-156 0,102 125 0,-168-224 0,5-2 0,71 61 0,218 167 0,-27-40 0,-264-213 0,2-4 0,1-2 0,108 39 0,60 3 0,4-12 0,389 57 0,285-33 0,-844-90 0,-2-5 0,0-2 0,0-2 0,0-5 0,-2-1 0,116-43 0,-93 20 0,0-1 0,-3-6 0,-3-3 0,95-69 0,-115 66 0,-2-1 0,-2-4 0,-2-1 0,-4-3 0,63-91 0,-12 2 0,150-292 0,-91 114 0,-64 119 0,95-190 0,2 92 0,-149 245 0,3 1 0,102-96 0,-117 127 0,1 1 0,2 2 0,0 2 0,2 0 0,1 3 0,45-18 0,-53 27 0,1 2 0,1 1 0,0 1 0,0 2 0,0 0 0,1 3 0,-1 2 0,65 4 0,-64 1 0,-1 1 0,2 2 0,-2 1 0,0 2 0,0 1 0,-2 1 0,1 3 0,40 22 0,-66-32 0,66 34 0,-3 4 0,76 61 0,-137-97 0,26 22 0,-34-28 0,2 1 0,-1-1 0,1-1 0,-1 2 0,-1-1 0,2 1 0,-1-1 0,-1 1 0,2-1 0,-2 1 0,1-1 0,-1 2 0,2-1 0,-2-1 0,0 1 0,1-1 0,-1 1 0,0 4 0,-33 33 0,18-14 0,3-1 0,0 2 0,2 1 0,-1 0 0,-7 40 0,-19 146 0,26-139 0,-79 668 0,-66 557 0,95-877 0,-8 44 0,19-4 0,32-223 0,-18 263 0,8-64 0,-10 568 0,35-683 0,12 668 0,39-335 0,-10-1 0,-32-528 0,-5 101 0,-37 309 0,18-393 0,-4-3 0,-64 207 0,56-257 0,-3-1 0,-6 0 0,-1-3 0,-89 137 0,-207 211 0,306-398 0,-30 37 0,-141 179 0,88-102 0,-206 215 0,272-325-1365,11-14-5461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9:40:08.752"/>
    </inkml:context>
    <inkml:brush xml:id="br0">
      <inkml:brushProperty name="width" value="0.07938" units="cm"/>
      <inkml:brushProperty name="height" value="0.07938" units="cm"/>
      <inkml:brushProperty name="color" value="#33CCFF"/>
    </inkml:brush>
  </inkml:definitions>
  <inkml:trace contextRef="#ctx0" brushRef="#br0">573 1 24575,'10'27'0,"1"8"0,-1-1 0,-2 2 0,-1 0 0,-3 0 0,3 68 0,-24 188 0,5-145 0,5 119 0,11-1 0,53 374 0,154 515 0,-143-689 0,-43 4 0,26 194 0,0-22 0,20 1643 0,-65-1139 0,-7-571 0,18-50 0,-2-170 0,-36 1017 0,2-1020 0,-41 537 0,-32 496 0,86-833 0,6-151 0,-28 155 0,1-22 0,19-242 0,-2 586 0,17-449 0,2 425 0,-16-553 0,-67 441 0,13-454 0,26-139 0,4-34 0,-5 0 0,-83 171 0,119-282 0,-227 479 0,168-373 0,-4-2 0,-99 127 0,123-186-1365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92900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room. This is a data science EDA project on Jerusalem public bus data, focused on one practical question: when protests close Aza Street in Rehavia, which buses are actually affected, and is the detour worth worrying about? Introduce yourself and the course.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Rehavia sits at the center of Jerusalem's protest activity, and the Prime Minister's residence is on Aza Street, right through the neighborhood. Police close the street repeatedly for security reasons, which disrupts the bus lines that run through it. This is the real-world motivation behind the whole analysis: a resident needs to know which lines are reliable and when.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source: Israel's Ministry of Transport open dataset, 'Arrival to station, day and hours' — a pipe-delimited export aggregating average ride behavior per (route, month, day-of-week, hour, stop). The project covers 7 commercial lines across 16 underlying route_ids. Walk through the example table: this is one block — one full trip on line 19, departing at 5am on a Sunday in January — shown stop by stop, with cumulative travel time and distance growing down the rows.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708,642 raw rows (filtered to the 16 target route_ids) contained a structural export artifact: about 3 overlapping batches produced duplicate keys. A block-aware majority-vote dedup resolved these down to 603,662 rows. Separately, 6.3% of rows have fewer than 8 underlying observations and are flagged low-confidence rather than dropped, since they're often legitimate low-traffic late-night slots. Hours 25/26 in the raw 26-hour clock are remapped to display as 1am/2am for readability — no rows are dropped by this remap.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line has a reference route: its single most common stop sequence. A minority of trips skip a contiguous segment of stops instead — these are the line's route variants. Figure 2 shows exactly which stops each corridor line skips on its detour, and confirms all three shared-corridor lines (17, 19, 22) skip the same physical Aza Street segment, while control line 15 never detours at all.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project's central research question and the three sub-questions that structure the rest of the deck. Sub-question 1 is answered by phases 06 and 13 (frequency and timing of blockages). Sub-question 2 is answered by phases 05, 09, and 12 (does the detour cost or save time, with statistical backing). Sub-question 3 is answered by phase 08, using control lines 14 and 15 that never pass through Aza Street.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a strong, near-mechanical correlation between how long a route physically is and how long the trip takes end-to-end. Line 9 is the longest studied line at roughly 20 km and 90 minutes average baseline travel time. Line 97 is the shortest, roughly 10 km and 44 minutes. This ranking matters later — it's the backdrop against which we measure detour costs and savings per line.</a:t>
            </a:r>
          </a:p>
          <a:p>
            <a:r>
              <a:rPr lang="en-US" dirty="0"/>
              <a:t>Beyond ranking, every one of the 7 lines follows the same daily shape: travel time is lowest at dawn, climbs through the morning rush, peaks around midday to early afternoon (traffic congestion, not distance), and drops back down toward evening and night. This shared rhythm is the 'normal' baseline we compare blockage windows against.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project's variant-detection rule, 5-12% of trips on the three shared-corridor lines (17, 19, 22) use the detour on an average weekday. That share jumps sharply on Saturday nights, to 66-84% depending on the line and month. The two control lines, 14 and 15, sit at essentially 0% year-round — they never detour, because they don't share the blocked segment. Figure 5 isolates just the Saturday row of each line's monthly heatmap so all seven can be compared side by side.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Zooming from monthly shares down to the exact day-of-week/hour level, the full-year calendar scan confirms 21 distinct blockage events. 11 of the 21 are Saturday nights, 7pm to midnight — the dominant, expected pattern. The remaining 10 are weekday events, clustered on specific months and days that line up with Knesset session days, suggesting parliamentary security closures as a secondary driver.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practical finding: on average, the detour route is faster than the regular route, not slower. Savings run 8 to 16 minutes depending on the line, and permutation tests confirm the effect is statistically significant for all 5 lines that detour. The one caveat is rush hour — during the busiest daytime hours, the time advantage shrinks or disappears, since congestion on the detour road eats into the shorter distance.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Lines 14 and 15 never pass through Aza Street, so they serve as a control group. Comparing their travel time during confirmed blockade windows against matched normal times, using both Mann-Whitney U and a day/hour-stratified permutation test, shows no statistically significant difference. Effects that looked significant in an earlier pass do not hold up once the more complete blockage-window definition and stratified test are applied — the blockage's impact stays local to the corridor lines.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 the three sub-questions together into one answer. Blockages are frequent but predictable — they cluster overwhelmingly on Saturday nights, with a secondary weekday pattern tied to Knesset sessions. When they happen, the detour is faster on average, not slower, except right at rush hour. And the effect stays contained to the corridor lines — control lines are statistically unaffected. Bottom line for a Rehavia resident: there's no single line that's riskier to take, just a predictable time window to plan around.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instructor and students, and open the floor for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customXml" Target="../ink/ink6.xml"/><Relationship Id="rId18" Type="http://schemas.openxmlformats.org/officeDocument/2006/relationships/customXml" Target="../ink/ink9.xml"/><Relationship Id="rId26" Type="http://schemas.openxmlformats.org/officeDocument/2006/relationships/customXml" Target="../ink/ink14.xml"/><Relationship Id="rId3" Type="http://schemas.openxmlformats.org/officeDocument/2006/relationships/image" Target="../media/image1.png"/><Relationship Id="rId21" Type="http://schemas.openxmlformats.org/officeDocument/2006/relationships/image" Target="../media/image8.png"/><Relationship Id="rId7" Type="http://schemas.openxmlformats.org/officeDocument/2006/relationships/customXml" Target="../ink/ink3.xml"/><Relationship Id="rId12" Type="http://schemas.openxmlformats.org/officeDocument/2006/relationships/image" Target="../media/image5.png"/><Relationship Id="rId17" Type="http://schemas.openxmlformats.org/officeDocument/2006/relationships/customXml" Target="../ink/ink8.xml"/><Relationship Id="rId25" Type="http://schemas.openxmlformats.org/officeDocument/2006/relationships/image" Target="../media/image10.png"/><Relationship Id="rId2" Type="http://schemas.openxmlformats.org/officeDocument/2006/relationships/notesSlide" Target="../notesSlides/notesSlide2.xml"/><Relationship Id="rId16" Type="http://schemas.openxmlformats.org/officeDocument/2006/relationships/image" Target="../media/image7.png"/><Relationship Id="rId20" Type="http://schemas.openxmlformats.org/officeDocument/2006/relationships/customXml" Target="../ink/ink11.xml"/><Relationship Id="rId1" Type="http://schemas.openxmlformats.org/officeDocument/2006/relationships/slideLayout" Target="../slideLayouts/slideLayout1.xml"/><Relationship Id="rId6" Type="http://schemas.openxmlformats.org/officeDocument/2006/relationships/customXml" Target="../ink/ink2.xml"/><Relationship Id="rId11" Type="http://schemas.openxmlformats.org/officeDocument/2006/relationships/customXml" Target="../ink/ink5.xml"/><Relationship Id="rId24" Type="http://schemas.openxmlformats.org/officeDocument/2006/relationships/customXml" Target="../ink/ink13.xml"/><Relationship Id="rId5" Type="http://schemas.openxmlformats.org/officeDocument/2006/relationships/image" Target="../media/image2.png"/><Relationship Id="rId15" Type="http://schemas.openxmlformats.org/officeDocument/2006/relationships/customXml" Target="../ink/ink7.xml"/><Relationship Id="rId23" Type="http://schemas.openxmlformats.org/officeDocument/2006/relationships/image" Target="../media/image9.png"/><Relationship Id="rId10" Type="http://schemas.openxmlformats.org/officeDocument/2006/relationships/image" Target="../media/image4.png"/><Relationship Id="rId19" Type="http://schemas.openxmlformats.org/officeDocument/2006/relationships/customXml" Target="../ink/ink10.xml"/><Relationship Id="rId4" Type="http://schemas.openxmlformats.org/officeDocument/2006/relationships/customXml" Target="../ink/ink1.xml"/><Relationship Id="rId9" Type="http://schemas.openxmlformats.org/officeDocument/2006/relationships/customXml" Target="../ink/ink4.xml"/><Relationship Id="rId14" Type="http://schemas.openxmlformats.org/officeDocument/2006/relationships/image" Target="../media/image6.png"/><Relationship Id="rId22" Type="http://schemas.openxmlformats.org/officeDocument/2006/relationships/customXml" Target="../ink/ink12.xml"/><Relationship Id="rId27" Type="http://schemas.openxmlformats.org/officeDocument/2006/relationships/image" Target="../media/image1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524000" y="3516809"/>
            <a:ext cx="609600" cy="57150"/>
          </a:xfrm>
          <a:prstGeom prst="rect">
            <a:avLst/>
          </a:prstGeom>
          <a:solidFill>
            <a:srgbClr val="B3261A"/>
          </a:solidFill>
          <a:ln/>
        </p:spPr>
        <p:txBody>
          <a:bodyPr/>
          <a:lstStyle/>
          <a:p>
            <a:endParaRPr lang="en-IL"/>
          </a:p>
        </p:txBody>
      </p:sp>
      <p:sp>
        <p:nvSpPr>
          <p:cNvPr id="3" name="Text 1"/>
          <p:cNvSpPr/>
          <p:nvPr/>
        </p:nvSpPr>
        <p:spPr>
          <a:xfrm>
            <a:off x="1524000" y="4031159"/>
            <a:ext cx="14716125" cy="1659533"/>
          </a:xfrm>
          <a:prstGeom prst="rect">
            <a:avLst/>
          </a:prstGeom>
          <a:noFill/>
          <a:ln/>
        </p:spPr>
        <p:txBody>
          <a:bodyPr wrap="square" lIns="25400" tIns="25400" rIns="25400" bIns="25400" rtlCol="0" anchor="t">
            <a:normAutofit fontScale="77500" lnSpcReduction="20000"/>
          </a:bodyPr>
          <a:lstStyle/>
          <a:p>
            <a:pPr marL="0" indent="0" algn="l">
              <a:lnSpc>
                <a:spcPct val="97466"/>
              </a:lnSpc>
              <a:buNone/>
            </a:pPr>
            <a:r>
              <a:rPr lang="he-IL" sz="5700" b="1" dirty="0">
                <a:solidFill>
                  <a:srgbClr val="161616"/>
                </a:solidFill>
                <a:latin typeface="Helvetica" pitchFamily="34" charset="0"/>
                <a:ea typeface="Helvetica" pitchFamily="34" charset="-122"/>
                <a:cs typeface="Helvetica" pitchFamily="34" charset="-120"/>
              </a:rPr>
              <a:t>The Impact of Urban Road Closures on Public Transit</a:t>
            </a:r>
          </a:p>
          <a:p>
            <a:pPr marL="0" indent="0" algn="l">
              <a:lnSpc>
                <a:spcPct val="97466"/>
              </a:lnSpc>
              <a:buNone/>
            </a:pPr>
            <a:endParaRPr lang="he-IL" sz="5700" b="1" dirty="0">
              <a:solidFill>
                <a:srgbClr val="161616"/>
              </a:solidFill>
              <a:latin typeface="Helvetica" pitchFamily="34" charset="0"/>
              <a:ea typeface="Helvetica" pitchFamily="34" charset="-122"/>
              <a:cs typeface="Helvetica" pitchFamily="34" charset="-120"/>
            </a:endParaRPr>
          </a:p>
          <a:p>
            <a:pPr marL="0" indent="0" algn="l">
              <a:lnSpc>
                <a:spcPct val="97466"/>
              </a:lnSpc>
              <a:buNone/>
            </a:pPr>
            <a:r>
              <a:rPr lang="he-IL" sz="5700" b="1" dirty="0">
                <a:solidFill>
                  <a:srgbClr val="161616"/>
                </a:solidFill>
                <a:latin typeface="Helvetica" pitchFamily="34" charset="0"/>
                <a:ea typeface="Helvetica" pitchFamily="34" charset="-122"/>
                <a:cs typeface="Helvetica" pitchFamily="34" charset="-120"/>
              </a:rPr>
              <a:t>Case Study: Jerusalem </a:t>
            </a:r>
            <a:endParaRPr lang="en-US" sz="5700" dirty="0"/>
          </a:p>
        </p:txBody>
      </p:sp>
      <p:sp>
        <p:nvSpPr>
          <p:cNvPr id="4" name="Text 2"/>
          <p:cNvSpPr/>
          <p:nvPr/>
        </p:nvSpPr>
        <p:spPr>
          <a:xfrm>
            <a:off x="1524000" y="6033592"/>
            <a:ext cx="16764000" cy="3683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6B6B6B"/>
                </a:solidFill>
                <a:latin typeface="Helvetica" pitchFamily="34" charset="0"/>
                <a:ea typeface="Helvetica" pitchFamily="34" charset="-122"/>
                <a:cs typeface="Helvetica" pitchFamily="34" charset="-120"/>
              </a:rPr>
              <a:t>Course 71253 — Introduction to Data Science</a:t>
            </a:r>
            <a:endParaRPr lang="en-US" sz="2250" dirty="0"/>
          </a:p>
        </p:txBody>
      </p:sp>
      <p:sp>
        <p:nvSpPr>
          <p:cNvPr id="5" name="Text 3"/>
          <p:cNvSpPr/>
          <p:nvPr/>
        </p:nvSpPr>
        <p:spPr>
          <a:xfrm>
            <a:off x="1524000" y="6439992"/>
            <a:ext cx="16764000" cy="3683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6B6B6B"/>
                </a:solidFill>
                <a:latin typeface="Helvetica" pitchFamily="34" charset="0"/>
                <a:ea typeface="Helvetica" pitchFamily="34" charset="-122"/>
                <a:cs typeface="Helvetica" pitchFamily="34" charset="-120"/>
              </a:rPr>
              <a:t>Student names here</a:t>
            </a:r>
            <a:endParaRPr lang="en-US" sz="2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444234" y="528355"/>
            <a:ext cx="15864432" cy="632420"/>
          </a:xfrm>
          <a:prstGeom prst="rect">
            <a:avLst/>
          </a:prstGeom>
          <a:noFill/>
          <a:ln/>
        </p:spPr>
        <p:txBody>
          <a:bodyPr wrap="square" lIns="25400" tIns="25400" rIns="25400" bIns="25400" rtlCol="0" anchor="t">
            <a:normAutofit/>
          </a:bodyPr>
          <a:lstStyle/>
          <a:p>
            <a:pPr marL="0" indent="0" algn="l">
              <a:lnSpc>
                <a:spcPct val="102857"/>
              </a:lnSpc>
              <a:buNone/>
            </a:pPr>
            <a:r>
              <a:rPr lang="en-US" sz="3900" b="1" dirty="0">
                <a:solidFill>
                  <a:srgbClr val="161616"/>
                </a:solidFill>
                <a:latin typeface="Helvetica" pitchFamily="34" charset="0"/>
                <a:ea typeface="Helvetica" pitchFamily="34" charset="-122"/>
                <a:cs typeface="Helvetica" pitchFamily="34" charset="-120"/>
              </a:rPr>
              <a:t>Aza Street closures make </a:t>
            </a:r>
            <a:r>
              <a:rPr lang="en-US" sz="3900" b="1" dirty="0" err="1">
                <a:solidFill>
                  <a:srgbClr val="161616"/>
                </a:solidFill>
                <a:latin typeface="Helvetica" pitchFamily="34" charset="0"/>
                <a:ea typeface="Helvetica" pitchFamily="34" charset="-122"/>
                <a:cs typeface="Helvetica" pitchFamily="34" charset="-120"/>
              </a:rPr>
              <a:t>Rehavia's</a:t>
            </a:r>
            <a:r>
              <a:rPr lang="en-US" sz="3900" b="1" dirty="0">
                <a:solidFill>
                  <a:srgbClr val="161616"/>
                </a:solidFill>
                <a:latin typeface="Helvetica" pitchFamily="34" charset="0"/>
                <a:ea typeface="Helvetica" pitchFamily="34" charset="-122"/>
                <a:cs typeface="Helvetica" pitchFamily="34" charset="-120"/>
              </a:rPr>
              <a:t> buses </a:t>
            </a:r>
            <a:r>
              <a:rPr lang="en-US" sz="3900" b="1" dirty="0" err="1">
                <a:solidFill>
                  <a:srgbClr val="161616"/>
                </a:solidFill>
                <a:latin typeface="Helvetica" pitchFamily="34" charset="0"/>
                <a:ea typeface="Helvetica" pitchFamily="34" charset="-122"/>
                <a:cs typeface="Helvetica" pitchFamily="34" charset="-120"/>
              </a:rPr>
              <a:t>untrustable</a:t>
            </a:r>
            <a:r>
              <a:rPr lang="en-US" sz="3900" b="1" dirty="0">
                <a:solidFill>
                  <a:srgbClr val="161616"/>
                </a:solidFill>
                <a:latin typeface="Helvetica" pitchFamily="34" charset="0"/>
                <a:ea typeface="Helvetica" pitchFamily="34" charset="-122"/>
                <a:cs typeface="Helvetica" pitchFamily="34" charset="-120"/>
              </a:rPr>
              <a:t> </a:t>
            </a:r>
            <a:endParaRPr lang="he-IL" sz="3900" b="1" dirty="0">
              <a:solidFill>
                <a:srgbClr val="161616"/>
              </a:solidFill>
              <a:latin typeface="Helvetica" pitchFamily="34" charset="0"/>
              <a:ea typeface="Helvetica" pitchFamily="34" charset="-122"/>
              <a:cs typeface="Helvetica" pitchFamily="34" charset="-120"/>
            </a:endParaRPr>
          </a:p>
        </p:txBody>
      </p:sp>
      <p:sp>
        <p:nvSpPr>
          <p:cNvPr id="3" name="Text 1"/>
          <p:cNvSpPr/>
          <p:nvPr/>
        </p:nvSpPr>
        <p:spPr>
          <a:xfrm>
            <a:off x="1418641" y="2670445"/>
            <a:ext cx="17183100" cy="34290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5B5B5B"/>
                </a:solidFill>
                <a:latin typeface="Helvetica" pitchFamily="34" charset="0"/>
                <a:ea typeface="Helvetica" pitchFamily="34" charset="-122"/>
                <a:cs typeface="Helvetica" pitchFamily="34" charset="-120"/>
              </a:rPr>
              <a:t>Rehavia is a hub of ongoing protests.</a:t>
            </a:r>
            <a:endParaRPr lang="en-US" sz="2100" dirty="0"/>
          </a:p>
        </p:txBody>
      </p:sp>
      <p:sp>
        <p:nvSpPr>
          <p:cNvPr id="4" name="Text 2"/>
          <p:cNvSpPr/>
          <p:nvPr/>
        </p:nvSpPr>
        <p:spPr>
          <a:xfrm>
            <a:off x="1309021" y="2043860"/>
            <a:ext cx="17183100" cy="34290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5B5B5B"/>
                </a:solidFill>
                <a:latin typeface="Helvetica" pitchFamily="34" charset="0"/>
                <a:ea typeface="Helvetica" pitchFamily="34" charset="-122"/>
                <a:cs typeface="Helvetica" pitchFamily="34" charset="-120"/>
              </a:rPr>
              <a:t>The Prime Minister lives on Aza Street.</a:t>
            </a:r>
            <a:endParaRPr lang="en-US" sz="2100" dirty="0"/>
          </a:p>
        </p:txBody>
      </p:sp>
      <p:sp>
        <p:nvSpPr>
          <p:cNvPr id="5" name="Text 3"/>
          <p:cNvSpPr/>
          <p:nvPr/>
        </p:nvSpPr>
        <p:spPr>
          <a:xfrm>
            <a:off x="1418641" y="3316370"/>
            <a:ext cx="17183100" cy="34290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5B5B5B"/>
                </a:solidFill>
                <a:latin typeface="Helvetica" pitchFamily="34" charset="0"/>
                <a:ea typeface="Helvetica" pitchFamily="34" charset="-122"/>
                <a:cs typeface="Helvetica" pitchFamily="34" charset="-120"/>
              </a:rPr>
              <a:t>Police repeatedly close the street to traffic.</a:t>
            </a:r>
            <a:endParaRPr lang="en-US" sz="2100" dirty="0"/>
          </a:p>
        </p:txBody>
      </p:sp>
      <p:sp>
        <p:nvSpPr>
          <p:cNvPr id="6" name="Text 4"/>
          <p:cNvSpPr/>
          <p:nvPr/>
        </p:nvSpPr>
        <p:spPr>
          <a:xfrm>
            <a:off x="8968531" y="9378410"/>
            <a:ext cx="7952423" cy="29845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6" dirty="0">
                <a:solidFill>
                  <a:srgbClr val="9A9A9A"/>
                </a:solidFill>
                <a:latin typeface="Courier New" pitchFamily="34" charset="0"/>
                <a:ea typeface="Courier New" pitchFamily="34" charset="-122"/>
                <a:cs typeface="Courier New" pitchFamily="34" charset="-120"/>
              </a:rPr>
              <a:t>FIGURE 1 — MAP OF REHAVIA AND THE STUDIED BUS LINES</a:t>
            </a:r>
            <a:endParaRPr lang="en-US" sz="1800" dirty="0"/>
          </a:p>
        </p:txBody>
      </p:sp>
      <p:pic>
        <p:nvPicPr>
          <p:cNvPr id="7" name="Content Placeholder 4">
            <a:extLst>
              <a:ext uri="{FF2B5EF4-FFF2-40B4-BE49-F238E27FC236}">
                <a16:creationId xmlns:a16="http://schemas.microsoft.com/office/drawing/2014/main" id="{5B2E3958-271F-2EFD-E41A-FCFE886F2A02}"/>
              </a:ext>
            </a:extLst>
          </p:cNvPr>
          <p:cNvPicPr>
            <a:picLocks noChangeAspect="1"/>
          </p:cNvPicPr>
          <p:nvPr/>
        </p:nvPicPr>
        <p:blipFill>
          <a:blip r:embed="rId3"/>
          <a:srcRect t="9423" r="243" b="12846"/>
          <a:stretch>
            <a:fillRect/>
          </a:stretch>
        </p:blipFill>
        <p:spPr>
          <a:xfrm>
            <a:off x="6672417" y="1254380"/>
            <a:ext cx="11199455" cy="7968780"/>
          </a:xfrm>
          <a:prstGeom prst="rect">
            <a:avLst/>
          </a:prstGeom>
          <a:ln w="28575">
            <a:solidFill>
              <a:schemeClr val="tx1"/>
            </a:solidFill>
          </a:ln>
        </p:spPr>
      </p:pic>
      <mc:AlternateContent xmlns:mc="http://schemas.openxmlformats.org/markup-compatibility/2006">
        <mc:Choice xmlns:p14="http://schemas.microsoft.com/office/powerpoint/2010/main" Requires="p14">
          <p:contentPart p14:bwMode="auto" r:id="rId4">
            <p14:nvContentPartPr>
              <p14:cNvPr id="8" name="Ink 7">
                <a:extLst>
                  <a:ext uri="{FF2B5EF4-FFF2-40B4-BE49-F238E27FC236}">
                    <a16:creationId xmlns:a16="http://schemas.microsoft.com/office/drawing/2014/main" id="{641D843F-7263-1537-30AE-4FD15BA200E8}"/>
                  </a:ext>
                </a:extLst>
              </p14:cNvPr>
              <p14:cNvContentPartPr/>
              <p14:nvPr/>
            </p14:nvContentPartPr>
            <p14:xfrm>
              <a:off x="12551365" y="-234566"/>
              <a:ext cx="540" cy="540"/>
            </p14:xfrm>
          </p:contentPart>
        </mc:Choice>
        <mc:Fallback>
          <p:pic>
            <p:nvPicPr>
              <p:cNvPr id="8" name="Ink 7">
                <a:extLst>
                  <a:ext uri="{FF2B5EF4-FFF2-40B4-BE49-F238E27FC236}">
                    <a16:creationId xmlns:a16="http://schemas.microsoft.com/office/drawing/2014/main" id="{641D843F-7263-1537-30AE-4FD15BA200E8}"/>
                  </a:ext>
                </a:extLst>
              </p:cNvPr>
              <p:cNvPicPr/>
              <p:nvPr/>
            </p:nvPicPr>
            <p:blipFill>
              <a:blip r:embed="rId5"/>
              <a:stretch>
                <a:fillRect/>
              </a:stretch>
            </p:blipFill>
            <p:spPr>
              <a:xfrm>
                <a:off x="12529765" y="-256166"/>
                <a:ext cx="42660" cy="426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9" name="Ink 8">
                <a:extLst>
                  <a:ext uri="{FF2B5EF4-FFF2-40B4-BE49-F238E27FC236}">
                    <a16:creationId xmlns:a16="http://schemas.microsoft.com/office/drawing/2014/main" id="{7B5C7F10-A8A5-7254-C155-FC100B670E6D}"/>
                  </a:ext>
                </a:extLst>
              </p14:cNvPr>
              <p14:cNvContentPartPr/>
              <p14:nvPr/>
            </p14:nvContentPartPr>
            <p14:xfrm>
              <a:off x="11395959" y="704430"/>
              <a:ext cx="540" cy="540"/>
            </p14:xfrm>
          </p:contentPart>
        </mc:Choice>
        <mc:Fallback>
          <p:pic>
            <p:nvPicPr>
              <p:cNvPr id="9" name="Ink 8">
                <a:extLst>
                  <a:ext uri="{FF2B5EF4-FFF2-40B4-BE49-F238E27FC236}">
                    <a16:creationId xmlns:a16="http://schemas.microsoft.com/office/drawing/2014/main" id="{7B5C7F10-A8A5-7254-C155-FC100B670E6D}"/>
                  </a:ext>
                </a:extLst>
              </p:cNvPr>
              <p:cNvPicPr/>
              <p:nvPr/>
            </p:nvPicPr>
            <p:blipFill>
              <a:blip r:embed="rId5"/>
              <a:stretch>
                <a:fillRect/>
              </a:stretch>
            </p:blipFill>
            <p:spPr>
              <a:xfrm>
                <a:off x="11374359" y="682830"/>
                <a:ext cx="42660" cy="4266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0" name="Ink 9">
                <a:extLst>
                  <a:ext uri="{FF2B5EF4-FFF2-40B4-BE49-F238E27FC236}">
                    <a16:creationId xmlns:a16="http://schemas.microsoft.com/office/drawing/2014/main" id="{FE518C89-B40D-12F9-41CC-5A2933D3361E}"/>
                  </a:ext>
                </a:extLst>
              </p14:cNvPr>
              <p14:cNvContentPartPr/>
              <p14:nvPr/>
            </p14:nvContentPartPr>
            <p14:xfrm>
              <a:off x="9131071" y="1166900"/>
              <a:ext cx="4692060" cy="7759260"/>
            </p14:xfrm>
          </p:contentPart>
        </mc:Choice>
        <mc:Fallback>
          <p:pic>
            <p:nvPicPr>
              <p:cNvPr id="10" name="Ink 9">
                <a:extLst>
                  <a:ext uri="{FF2B5EF4-FFF2-40B4-BE49-F238E27FC236}">
                    <a16:creationId xmlns:a16="http://schemas.microsoft.com/office/drawing/2014/main" id="{FE518C89-B40D-12F9-41CC-5A2933D3361E}"/>
                  </a:ext>
                </a:extLst>
              </p:cNvPr>
              <p:cNvPicPr/>
              <p:nvPr/>
            </p:nvPicPr>
            <p:blipFill>
              <a:blip r:embed="rId8"/>
              <a:stretch>
                <a:fillRect/>
              </a:stretch>
            </p:blipFill>
            <p:spPr>
              <a:xfrm>
                <a:off x="9116673" y="1152499"/>
                <a:ext cx="4720137" cy="7787342"/>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1" name="Ink 10">
                <a:extLst>
                  <a:ext uri="{FF2B5EF4-FFF2-40B4-BE49-F238E27FC236}">
                    <a16:creationId xmlns:a16="http://schemas.microsoft.com/office/drawing/2014/main" id="{8F420FE2-1448-0DA0-0BFA-C1C99CCE5540}"/>
                  </a:ext>
                </a:extLst>
              </p14:cNvPr>
              <p14:cNvContentPartPr/>
              <p14:nvPr/>
            </p14:nvContentPartPr>
            <p14:xfrm>
              <a:off x="9172111" y="1191200"/>
              <a:ext cx="4647780" cy="7712820"/>
            </p14:xfrm>
          </p:contentPart>
        </mc:Choice>
        <mc:Fallback>
          <p:pic>
            <p:nvPicPr>
              <p:cNvPr id="11" name="Ink 10">
                <a:extLst>
                  <a:ext uri="{FF2B5EF4-FFF2-40B4-BE49-F238E27FC236}">
                    <a16:creationId xmlns:a16="http://schemas.microsoft.com/office/drawing/2014/main" id="{8F420FE2-1448-0DA0-0BFA-C1C99CCE5540}"/>
                  </a:ext>
                </a:extLst>
              </p:cNvPr>
              <p:cNvPicPr/>
              <p:nvPr/>
            </p:nvPicPr>
            <p:blipFill>
              <a:blip r:embed="rId10"/>
              <a:stretch>
                <a:fillRect/>
              </a:stretch>
            </p:blipFill>
            <p:spPr>
              <a:xfrm>
                <a:off x="9157710" y="1176800"/>
                <a:ext cx="4675861" cy="7740901"/>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2" name="Ink 11">
                <a:extLst>
                  <a:ext uri="{FF2B5EF4-FFF2-40B4-BE49-F238E27FC236}">
                    <a16:creationId xmlns:a16="http://schemas.microsoft.com/office/drawing/2014/main" id="{A58518FB-3891-E8D8-772B-A3DDDF0735A4}"/>
                  </a:ext>
                </a:extLst>
              </p14:cNvPr>
              <p14:cNvContentPartPr/>
              <p14:nvPr/>
            </p14:nvContentPartPr>
            <p14:xfrm>
              <a:off x="13572571" y="1254380"/>
              <a:ext cx="258120" cy="607500"/>
            </p14:xfrm>
          </p:contentPart>
        </mc:Choice>
        <mc:Fallback>
          <p:pic>
            <p:nvPicPr>
              <p:cNvPr id="12" name="Ink 11">
                <a:extLst>
                  <a:ext uri="{FF2B5EF4-FFF2-40B4-BE49-F238E27FC236}">
                    <a16:creationId xmlns:a16="http://schemas.microsoft.com/office/drawing/2014/main" id="{A58518FB-3891-E8D8-772B-A3DDDF0735A4}"/>
                  </a:ext>
                </a:extLst>
              </p:cNvPr>
              <p:cNvPicPr/>
              <p:nvPr/>
            </p:nvPicPr>
            <p:blipFill>
              <a:blip r:embed="rId12"/>
              <a:stretch>
                <a:fillRect/>
              </a:stretch>
            </p:blipFill>
            <p:spPr>
              <a:xfrm>
                <a:off x="13558151" y="1239993"/>
                <a:ext cx="286600" cy="635555"/>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3" name="Ink 12">
                <a:extLst>
                  <a:ext uri="{FF2B5EF4-FFF2-40B4-BE49-F238E27FC236}">
                    <a16:creationId xmlns:a16="http://schemas.microsoft.com/office/drawing/2014/main" id="{85047706-3202-4C73-12EA-2224CBC06BE7}"/>
                  </a:ext>
                </a:extLst>
              </p14:cNvPr>
              <p14:cNvContentPartPr/>
              <p14:nvPr/>
            </p14:nvContentPartPr>
            <p14:xfrm>
              <a:off x="9900571" y="1234940"/>
              <a:ext cx="4965300" cy="7988220"/>
            </p14:xfrm>
          </p:contentPart>
        </mc:Choice>
        <mc:Fallback>
          <p:pic>
            <p:nvPicPr>
              <p:cNvPr id="13" name="Ink 12">
                <a:extLst>
                  <a:ext uri="{FF2B5EF4-FFF2-40B4-BE49-F238E27FC236}">
                    <a16:creationId xmlns:a16="http://schemas.microsoft.com/office/drawing/2014/main" id="{85047706-3202-4C73-12EA-2224CBC06BE7}"/>
                  </a:ext>
                </a:extLst>
              </p:cNvPr>
              <p:cNvPicPr/>
              <p:nvPr/>
            </p:nvPicPr>
            <p:blipFill>
              <a:blip r:embed="rId14"/>
              <a:stretch>
                <a:fillRect/>
              </a:stretch>
            </p:blipFill>
            <p:spPr>
              <a:xfrm>
                <a:off x="9886169" y="1220540"/>
                <a:ext cx="4993383" cy="8016301"/>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4" name="Ink 13">
                <a:extLst>
                  <a:ext uri="{FF2B5EF4-FFF2-40B4-BE49-F238E27FC236}">
                    <a16:creationId xmlns:a16="http://schemas.microsoft.com/office/drawing/2014/main" id="{31A07E69-B31C-74DB-E262-A5A204AE03DC}"/>
                  </a:ext>
                </a:extLst>
              </p14:cNvPr>
              <p14:cNvContentPartPr/>
              <p14:nvPr/>
            </p14:nvContentPartPr>
            <p14:xfrm>
              <a:off x="15766591" y="6720800"/>
              <a:ext cx="540" cy="540"/>
            </p14:xfrm>
          </p:contentPart>
        </mc:Choice>
        <mc:Fallback>
          <p:pic>
            <p:nvPicPr>
              <p:cNvPr id="14" name="Ink 13">
                <a:extLst>
                  <a:ext uri="{FF2B5EF4-FFF2-40B4-BE49-F238E27FC236}">
                    <a16:creationId xmlns:a16="http://schemas.microsoft.com/office/drawing/2014/main" id="{31A07E69-B31C-74DB-E262-A5A204AE03DC}"/>
                  </a:ext>
                </a:extLst>
              </p:cNvPr>
              <p:cNvPicPr/>
              <p:nvPr/>
            </p:nvPicPr>
            <p:blipFill>
              <a:blip r:embed="rId16"/>
              <a:stretch>
                <a:fillRect/>
              </a:stretch>
            </p:blipFill>
            <p:spPr>
              <a:xfrm>
                <a:off x="15744991" y="6699200"/>
                <a:ext cx="42660" cy="4266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5" name="Ink 14">
                <a:extLst>
                  <a:ext uri="{FF2B5EF4-FFF2-40B4-BE49-F238E27FC236}">
                    <a16:creationId xmlns:a16="http://schemas.microsoft.com/office/drawing/2014/main" id="{CF819E49-0B5F-B248-0441-399A74222D9B}"/>
                  </a:ext>
                </a:extLst>
              </p14:cNvPr>
              <p14:cNvContentPartPr/>
              <p14:nvPr/>
            </p14:nvContentPartPr>
            <p14:xfrm>
              <a:off x="8967991" y="4930700"/>
              <a:ext cx="540" cy="540"/>
            </p14:xfrm>
          </p:contentPart>
        </mc:Choice>
        <mc:Fallback>
          <p:pic>
            <p:nvPicPr>
              <p:cNvPr id="15" name="Ink 14">
                <a:extLst>
                  <a:ext uri="{FF2B5EF4-FFF2-40B4-BE49-F238E27FC236}">
                    <a16:creationId xmlns:a16="http://schemas.microsoft.com/office/drawing/2014/main" id="{CF819E49-0B5F-B248-0441-399A74222D9B}"/>
                  </a:ext>
                </a:extLst>
              </p:cNvPr>
              <p:cNvPicPr/>
              <p:nvPr/>
            </p:nvPicPr>
            <p:blipFill>
              <a:blip r:embed="rId16"/>
              <a:stretch>
                <a:fillRect/>
              </a:stretch>
            </p:blipFill>
            <p:spPr>
              <a:xfrm>
                <a:off x="8946391" y="4909100"/>
                <a:ext cx="42660" cy="426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6" name="Ink 15">
                <a:extLst>
                  <a:ext uri="{FF2B5EF4-FFF2-40B4-BE49-F238E27FC236}">
                    <a16:creationId xmlns:a16="http://schemas.microsoft.com/office/drawing/2014/main" id="{717F2260-D3BD-793F-5362-D92C1DAD12DC}"/>
                  </a:ext>
                </a:extLst>
              </p14:cNvPr>
              <p14:cNvContentPartPr/>
              <p14:nvPr/>
            </p14:nvContentPartPr>
            <p14:xfrm>
              <a:off x="4095031" y="4026200"/>
              <a:ext cx="540" cy="540"/>
            </p14:xfrm>
          </p:contentPart>
        </mc:Choice>
        <mc:Fallback>
          <p:pic>
            <p:nvPicPr>
              <p:cNvPr id="16" name="Ink 15">
                <a:extLst>
                  <a:ext uri="{FF2B5EF4-FFF2-40B4-BE49-F238E27FC236}">
                    <a16:creationId xmlns:a16="http://schemas.microsoft.com/office/drawing/2014/main" id="{717F2260-D3BD-793F-5362-D92C1DAD12DC}"/>
                  </a:ext>
                </a:extLst>
              </p:cNvPr>
              <p:cNvPicPr/>
              <p:nvPr/>
            </p:nvPicPr>
            <p:blipFill>
              <a:blip r:embed="rId16"/>
              <a:stretch>
                <a:fillRect/>
              </a:stretch>
            </p:blipFill>
            <p:spPr>
              <a:xfrm>
                <a:off x="4073431" y="4004600"/>
                <a:ext cx="42660" cy="4266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7" name="Ink 16">
                <a:extLst>
                  <a:ext uri="{FF2B5EF4-FFF2-40B4-BE49-F238E27FC236}">
                    <a16:creationId xmlns:a16="http://schemas.microsoft.com/office/drawing/2014/main" id="{B59BEBC3-1469-B4B9-5692-96147E217714}"/>
                  </a:ext>
                </a:extLst>
              </p14:cNvPr>
              <p14:cNvContentPartPr/>
              <p14:nvPr/>
            </p14:nvContentPartPr>
            <p14:xfrm>
              <a:off x="4095031" y="4026200"/>
              <a:ext cx="540" cy="540"/>
            </p14:xfrm>
          </p:contentPart>
        </mc:Choice>
        <mc:Fallback>
          <p:pic>
            <p:nvPicPr>
              <p:cNvPr id="17" name="Ink 16">
                <a:extLst>
                  <a:ext uri="{FF2B5EF4-FFF2-40B4-BE49-F238E27FC236}">
                    <a16:creationId xmlns:a16="http://schemas.microsoft.com/office/drawing/2014/main" id="{B59BEBC3-1469-B4B9-5692-96147E217714}"/>
                  </a:ext>
                </a:extLst>
              </p:cNvPr>
              <p:cNvPicPr/>
              <p:nvPr/>
            </p:nvPicPr>
            <p:blipFill>
              <a:blip r:embed="rId16"/>
              <a:stretch>
                <a:fillRect/>
              </a:stretch>
            </p:blipFill>
            <p:spPr>
              <a:xfrm>
                <a:off x="4073431" y="4004600"/>
                <a:ext cx="42660" cy="42660"/>
              </a:xfrm>
              <a:prstGeom prst="rect">
                <a:avLst/>
              </a:prstGeom>
            </p:spPr>
          </p:pic>
        </mc:Fallback>
      </mc:AlternateContent>
      <p:graphicFrame>
        <p:nvGraphicFramePr>
          <p:cNvPr id="18" name="Table 17">
            <a:extLst>
              <a:ext uri="{FF2B5EF4-FFF2-40B4-BE49-F238E27FC236}">
                <a16:creationId xmlns:a16="http://schemas.microsoft.com/office/drawing/2014/main" id="{440235BD-BA12-5C0F-AC26-3DFD0A7AC321}"/>
              </a:ext>
            </a:extLst>
          </p:cNvPr>
          <p:cNvGraphicFramePr>
            <a:graphicFrameLocks noGrp="1"/>
          </p:cNvGraphicFramePr>
          <p:nvPr>
            <p:extLst>
              <p:ext uri="{D42A27DB-BD31-4B8C-83A1-F6EECF244321}">
                <p14:modId xmlns:p14="http://schemas.microsoft.com/office/powerpoint/2010/main" val="3050477723"/>
              </p:ext>
            </p:extLst>
          </p:nvPr>
        </p:nvGraphicFramePr>
        <p:xfrm>
          <a:off x="3275126" y="6518840"/>
          <a:ext cx="1893948" cy="3893820"/>
        </p:xfrm>
        <a:graphic>
          <a:graphicData uri="http://schemas.openxmlformats.org/drawingml/2006/table">
            <a:tbl>
              <a:tblPr bandRow="1">
                <a:tableStyleId>{5C22544A-7EE6-4342-B048-85BDC9FD1C3A}</a:tableStyleId>
              </a:tblPr>
              <a:tblGrid>
                <a:gridCol w="1893948">
                  <a:extLst>
                    <a:ext uri="{9D8B030D-6E8A-4147-A177-3AD203B41FA5}">
                      <a16:colId xmlns:a16="http://schemas.microsoft.com/office/drawing/2014/main" val="49010450"/>
                    </a:ext>
                  </a:extLst>
                </a:gridCol>
              </a:tblGrid>
              <a:tr h="556260">
                <a:tc>
                  <a:txBody>
                    <a:bodyPr/>
                    <a:lstStyle/>
                    <a:p>
                      <a:r>
                        <a:rPr lang="en-US" sz="2700" dirty="0">
                          <a:solidFill>
                            <a:srgbClr val="FF0000"/>
                          </a:solidFill>
                        </a:rPr>
                        <a:t>17</a:t>
                      </a:r>
                      <a:endParaRPr lang="en-IL" sz="2700" dirty="0">
                        <a:solidFill>
                          <a:srgbClr val="FF0000"/>
                        </a:solidFill>
                      </a:endParaRPr>
                    </a:p>
                  </a:txBody>
                  <a:tcPr marL="137160" marR="137160" marT="68580" marB="68580"/>
                </a:tc>
                <a:extLst>
                  <a:ext uri="{0D108BD9-81ED-4DB2-BD59-A6C34878D82A}">
                    <a16:rowId xmlns:a16="http://schemas.microsoft.com/office/drawing/2014/main" val="4200643240"/>
                  </a:ext>
                </a:extLst>
              </a:tr>
              <a:tr h="556260">
                <a:tc>
                  <a:txBody>
                    <a:bodyPr/>
                    <a:lstStyle/>
                    <a:p>
                      <a:r>
                        <a:rPr lang="en-US" sz="2700" dirty="0">
                          <a:solidFill>
                            <a:schemeClr val="accent2"/>
                          </a:solidFill>
                        </a:rPr>
                        <a:t>19</a:t>
                      </a:r>
                      <a:endParaRPr lang="en-IL" sz="2700" dirty="0">
                        <a:solidFill>
                          <a:schemeClr val="accent2"/>
                        </a:solidFill>
                      </a:endParaRPr>
                    </a:p>
                  </a:txBody>
                  <a:tcPr marL="137160" marR="137160" marT="68580" marB="68580"/>
                </a:tc>
                <a:extLst>
                  <a:ext uri="{0D108BD9-81ED-4DB2-BD59-A6C34878D82A}">
                    <a16:rowId xmlns:a16="http://schemas.microsoft.com/office/drawing/2014/main" val="2396150257"/>
                  </a:ext>
                </a:extLst>
              </a:tr>
              <a:tr h="556260">
                <a:tc>
                  <a:txBody>
                    <a:bodyPr/>
                    <a:lstStyle/>
                    <a:p>
                      <a:r>
                        <a:rPr lang="en-US" sz="2700" dirty="0">
                          <a:solidFill>
                            <a:srgbClr val="FFC000"/>
                          </a:solidFill>
                        </a:rPr>
                        <a:t>22</a:t>
                      </a:r>
                      <a:endParaRPr lang="en-IL" sz="2700" dirty="0">
                        <a:solidFill>
                          <a:srgbClr val="FFC000"/>
                        </a:solidFill>
                      </a:endParaRPr>
                    </a:p>
                  </a:txBody>
                  <a:tcPr marL="137160" marR="137160" marT="68580" marB="68580"/>
                </a:tc>
                <a:extLst>
                  <a:ext uri="{0D108BD9-81ED-4DB2-BD59-A6C34878D82A}">
                    <a16:rowId xmlns:a16="http://schemas.microsoft.com/office/drawing/2014/main" val="2507102329"/>
                  </a:ext>
                </a:extLst>
              </a:tr>
              <a:tr h="556260">
                <a:tc>
                  <a:txBody>
                    <a:bodyPr/>
                    <a:lstStyle/>
                    <a:p>
                      <a:r>
                        <a:rPr lang="en-US" sz="2700" dirty="0">
                          <a:solidFill>
                            <a:srgbClr val="CC99FF"/>
                          </a:solidFill>
                        </a:rPr>
                        <a:t>97</a:t>
                      </a:r>
                      <a:endParaRPr lang="en-IL" sz="2700" dirty="0">
                        <a:solidFill>
                          <a:srgbClr val="CC99FF"/>
                        </a:solidFill>
                      </a:endParaRPr>
                    </a:p>
                  </a:txBody>
                  <a:tcPr marL="137160" marR="137160" marT="68580" marB="68580"/>
                </a:tc>
                <a:extLst>
                  <a:ext uri="{0D108BD9-81ED-4DB2-BD59-A6C34878D82A}">
                    <a16:rowId xmlns:a16="http://schemas.microsoft.com/office/drawing/2014/main" val="2570180431"/>
                  </a:ext>
                </a:extLst>
              </a:tr>
              <a:tr h="556260">
                <a:tc>
                  <a:txBody>
                    <a:bodyPr/>
                    <a:lstStyle/>
                    <a:p>
                      <a:r>
                        <a:rPr lang="en-US" sz="2700" dirty="0">
                          <a:solidFill>
                            <a:srgbClr val="7030A0"/>
                          </a:solidFill>
                        </a:rPr>
                        <a:t>9</a:t>
                      </a:r>
                      <a:endParaRPr lang="en-IL" sz="2700" dirty="0">
                        <a:solidFill>
                          <a:srgbClr val="7030A0"/>
                        </a:solidFill>
                      </a:endParaRPr>
                    </a:p>
                  </a:txBody>
                  <a:tcPr marL="137160" marR="137160" marT="68580" marB="68580"/>
                </a:tc>
                <a:extLst>
                  <a:ext uri="{0D108BD9-81ED-4DB2-BD59-A6C34878D82A}">
                    <a16:rowId xmlns:a16="http://schemas.microsoft.com/office/drawing/2014/main" val="2845044101"/>
                  </a:ext>
                </a:extLst>
              </a:tr>
              <a:tr h="556260">
                <a:tc>
                  <a:txBody>
                    <a:bodyPr/>
                    <a:lstStyle/>
                    <a:p>
                      <a:r>
                        <a:rPr lang="en-US" sz="2700" dirty="0">
                          <a:solidFill>
                            <a:schemeClr val="tx2">
                              <a:lumMod val="75000"/>
                              <a:lumOff val="25000"/>
                            </a:schemeClr>
                          </a:solidFill>
                        </a:rPr>
                        <a:t>14</a:t>
                      </a:r>
                      <a:endParaRPr lang="en-IL" sz="2700" dirty="0">
                        <a:solidFill>
                          <a:schemeClr val="tx2">
                            <a:lumMod val="75000"/>
                            <a:lumOff val="25000"/>
                          </a:schemeClr>
                        </a:solidFill>
                      </a:endParaRPr>
                    </a:p>
                  </a:txBody>
                  <a:tcPr marL="137160" marR="137160" marT="68580" marB="68580"/>
                </a:tc>
                <a:extLst>
                  <a:ext uri="{0D108BD9-81ED-4DB2-BD59-A6C34878D82A}">
                    <a16:rowId xmlns:a16="http://schemas.microsoft.com/office/drawing/2014/main" val="2903330409"/>
                  </a:ext>
                </a:extLst>
              </a:tr>
              <a:tr h="556260">
                <a:tc>
                  <a:txBody>
                    <a:bodyPr/>
                    <a:lstStyle/>
                    <a:p>
                      <a:r>
                        <a:rPr lang="en-US" sz="2700" dirty="0">
                          <a:solidFill>
                            <a:schemeClr val="accent1">
                              <a:lumMod val="60000"/>
                              <a:lumOff val="40000"/>
                            </a:schemeClr>
                          </a:solidFill>
                        </a:rPr>
                        <a:t>15</a:t>
                      </a:r>
                      <a:endParaRPr lang="en-IL" sz="2700" dirty="0">
                        <a:solidFill>
                          <a:schemeClr val="accent1">
                            <a:lumMod val="60000"/>
                            <a:lumOff val="40000"/>
                          </a:schemeClr>
                        </a:solidFill>
                      </a:endParaRPr>
                    </a:p>
                  </a:txBody>
                  <a:tcPr marL="137160" marR="137160" marT="68580" marB="68580"/>
                </a:tc>
                <a:extLst>
                  <a:ext uri="{0D108BD9-81ED-4DB2-BD59-A6C34878D82A}">
                    <a16:rowId xmlns:a16="http://schemas.microsoft.com/office/drawing/2014/main" val="1418542733"/>
                  </a:ext>
                </a:extLst>
              </a:tr>
            </a:tbl>
          </a:graphicData>
        </a:graphic>
      </p:graphicFrame>
      <mc:AlternateContent xmlns:mc="http://schemas.openxmlformats.org/markup-compatibility/2006">
        <mc:Choice xmlns:p14="http://schemas.microsoft.com/office/powerpoint/2010/main" Requires="p14">
          <p:contentPart p14:bwMode="auto" r:id="rId20">
            <p14:nvContentPartPr>
              <p14:cNvPr id="19" name="Ink 18">
                <a:extLst>
                  <a:ext uri="{FF2B5EF4-FFF2-40B4-BE49-F238E27FC236}">
                    <a16:creationId xmlns:a16="http://schemas.microsoft.com/office/drawing/2014/main" id="{1B9348E8-2DF1-89D3-30EE-6F883ACB804E}"/>
                  </a:ext>
                </a:extLst>
              </p14:cNvPr>
              <p14:cNvContentPartPr/>
              <p14:nvPr/>
            </p14:nvContentPartPr>
            <p14:xfrm>
              <a:off x="6565531" y="1444460"/>
              <a:ext cx="6616620" cy="5957280"/>
            </p14:xfrm>
          </p:contentPart>
        </mc:Choice>
        <mc:Fallback>
          <p:pic>
            <p:nvPicPr>
              <p:cNvPr id="19" name="Ink 18">
                <a:extLst>
                  <a:ext uri="{FF2B5EF4-FFF2-40B4-BE49-F238E27FC236}">
                    <a16:creationId xmlns:a16="http://schemas.microsoft.com/office/drawing/2014/main" id="{1B9348E8-2DF1-89D3-30EE-6F883ACB804E}"/>
                  </a:ext>
                </a:extLst>
              </p:cNvPr>
              <p:cNvPicPr/>
              <p:nvPr/>
            </p:nvPicPr>
            <p:blipFill>
              <a:blip r:embed="rId21"/>
              <a:stretch>
                <a:fillRect/>
              </a:stretch>
            </p:blipFill>
            <p:spPr>
              <a:xfrm>
                <a:off x="6551131" y="1430061"/>
                <a:ext cx="6644701" cy="5985358"/>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0" name="Ink 19">
                <a:extLst>
                  <a:ext uri="{FF2B5EF4-FFF2-40B4-BE49-F238E27FC236}">
                    <a16:creationId xmlns:a16="http://schemas.microsoft.com/office/drawing/2014/main" id="{84B80E5B-8F91-ECF8-EE7B-4E19CC75AED0}"/>
                  </a:ext>
                </a:extLst>
              </p14:cNvPr>
              <p14:cNvContentPartPr/>
              <p14:nvPr/>
            </p14:nvContentPartPr>
            <p14:xfrm>
              <a:off x="6783151" y="3857720"/>
              <a:ext cx="10005660" cy="3597480"/>
            </p14:xfrm>
          </p:contentPart>
        </mc:Choice>
        <mc:Fallback>
          <p:pic>
            <p:nvPicPr>
              <p:cNvPr id="20" name="Ink 19">
                <a:extLst>
                  <a:ext uri="{FF2B5EF4-FFF2-40B4-BE49-F238E27FC236}">
                    <a16:creationId xmlns:a16="http://schemas.microsoft.com/office/drawing/2014/main" id="{84B80E5B-8F91-ECF8-EE7B-4E19CC75AED0}"/>
                  </a:ext>
                </a:extLst>
              </p:cNvPr>
              <p:cNvPicPr/>
              <p:nvPr/>
            </p:nvPicPr>
            <p:blipFill>
              <a:blip r:embed="rId23"/>
              <a:stretch>
                <a:fillRect/>
              </a:stretch>
            </p:blipFill>
            <p:spPr>
              <a:xfrm>
                <a:off x="6768751" y="3843320"/>
                <a:ext cx="10033741" cy="362556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1" name="Ink 20">
                <a:extLst>
                  <a:ext uri="{FF2B5EF4-FFF2-40B4-BE49-F238E27FC236}">
                    <a16:creationId xmlns:a16="http://schemas.microsoft.com/office/drawing/2014/main" id="{B79B77FE-11CD-E455-2FDF-0487581A9E51}"/>
                  </a:ext>
                </a:extLst>
              </p14:cNvPr>
              <p14:cNvContentPartPr/>
              <p14:nvPr/>
            </p14:nvContentPartPr>
            <p14:xfrm>
              <a:off x="6896011" y="3845840"/>
              <a:ext cx="3803760" cy="5346000"/>
            </p14:xfrm>
          </p:contentPart>
        </mc:Choice>
        <mc:Fallback>
          <p:pic>
            <p:nvPicPr>
              <p:cNvPr id="21" name="Ink 20">
                <a:extLst>
                  <a:ext uri="{FF2B5EF4-FFF2-40B4-BE49-F238E27FC236}">
                    <a16:creationId xmlns:a16="http://schemas.microsoft.com/office/drawing/2014/main" id="{B79B77FE-11CD-E455-2FDF-0487581A9E51}"/>
                  </a:ext>
                </a:extLst>
              </p:cNvPr>
              <p:cNvPicPr/>
              <p:nvPr/>
            </p:nvPicPr>
            <p:blipFill>
              <a:blip r:embed="rId25"/>
              <a:stretch>
                <a:fillRect/>
              </a:stretch>
            </p:blipFill>
            <p:spPr>
              <a:xfrm>
                <a:off x="6881610" y="3831438"/>
                <a:ext cx="3832203" cy="5374084"/>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22" name="Ink 21">
                <a:extLst>
                  <a:ext uri="{FF2B5EF4-FFF2-40B4-BE49-F238E27FC236}">
                    <a16:creationId xmlns:a16="http://schemas.microsoft.com/office/drawing/2014/main" id="{4D70D98A-D62E-CF6D-1A5D-970FE7752F11}"/>
                  </a:ext>
                </a:extLst>
              </p14:cNvPr>
              <p14:cNvContentPartPr/>
              <p14:nvPr/>
            </p14:nvContentPartPr>
            <p14:xfrm>
              <a:off x="10010191" y="1325660"/>
              <a:ext cx="421200" cy="7792200"/>
            </p14:xfrm>
          </p:contentPart>
        </mc:Choice>
        <mc:Fallback>
          <p:pic>
            <p:nvPicPr>
              <p:cNvPr id="22" name="Ink 21">
                <a:extLst>
                  <a:ext uri="{FF2B5EF4-FFF2-40B4-BE49-F238E27FC236}">
                    <a16:creationId xmlns:a16="http://schemas.microsoft.com/office/drawing/2014/main" id="{4D70D98A-D62E-CF6D-1A5D-970FE7752F11}"/>
                  </a:ext>
                </a:extLst>
              </p:cNvPr>
              <p:cNvPicPr/>
              <p:nvPr/>
            </p:nvPicPr>
            <p:blipFill>
              <a:blip r:embed="rId27"/>
              <a:stretch>
                <a:fillRect/>
              </a:stretch>
            </p:blipFill>
            <p:spPr>
              <a:xfrm>
                <a:off x="9995779" y="1311260"/>
                <a:ext cx="449664" cy="7820280"/>
              </a:xfrm>
              <a:prstGeom prst="rect">
                <a:avLst/>
              </a:prstGeom>
            </p:spPr>
          </p:pic>
        </mc:Fallback>
      </mc:AlternateContent>
      <p:sp>
        <p:nvSpPr>
          <p:cNvPr id="27" name="TextBox 26">
            <a:extLst>
              <a:ext uri="{FF2B5EF4-FFF2-40B4-BE49-F238E27FC236}">
                <a16:creationId xmlns:a16="http://schemas.microsoft.com/office/drawing/2014/main" id="{8E37BD80-9AE3-1ED8-E5A8-DAB5191B1EF8}"/>
              </a:ext>
            </a:extLst>
          </p:cNvPr>
          <p:cNvSpPr txBox="1"/>
          <p:nvPr/>
        </p:nvSpPr>
        <p:spPr>
          <a:xfrm>
            <a:off x="1803352" y="1453793"/>
            <a:ext cx="4300000" cy="369332"/>
          </a:xfrm>
          <a:prstGeom prst="rect">
            <a:avLst/>
          </a:prstGeom>
          <a:noFill/>
        </p:spPr>
        <p:txBody>
          <a:bodyPr wrap="none" rtlCol="0">
            <a:spAutoFit/>
          </a:bodyPr>
          <a:lstStyle/>
          <a:p>
            <a:r>
              <a:rPr lang="he-IL" dirty="0"/>
              <a:t>A narrow, central main traffic artery</a:t>
            </a:r>
            <a:endParaRPr lang="en-IL" dirty="0"/>
          </a:p>
        </p:txBody>
      </p:sp>
      <p:sp>
        <p:nvSpPr>
          <p:cNvPr id="28" name="TextBox 27">
            <a:extLst>
              <a:ext uri="{FF2B5EF4-FFF2-40B4-BE49-F238E27FC236}">
                <a16:creationId xmlns:a16="http://schemas.microsoft.com/office/drawing/2014/main" id="{479922D7-9525-38AC-54C3-BA296975FE8E}"/>
              </a:ext>
            </a:extLst>
          </p:cNvPr>
          <p:cNvSpPr txBox="1"/>
          <p:nvPr/>
        </p:nvSpPr>
        <p:spPr>
          <a:xfrm>
            <a:off x="1237095" y="4051072"/>
            <a:ext cx="9300000" cy="369332"/>
          </a:xfrm>
          <a:prstGeom prst="rect">
            <a:avLst/>
          </a:prstGeom>
          <a:noFill/>
        </p:spPr>
        <p:txBody>
          <a:bodyPr wrap="none" rtlCol="0">
            <a:spAutoFit/>
          </a:bodyPr>
          <a:lstStyle/>
          <a:p>
            <a:r>
              <a:rPr lang="he-IL" dirty="0"/>
              <a:t>We study lines that pass through this area, affected by closures</a:t>
            </a:r>
            <a:endParaRPr lang="en-I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33500" y="1047750"/>
            <a:ext cx="17183100" cy="632420"/>
          </a:xfrm>
          <a:prstGeom prst="rect">
            <a:avLst/>
          </a:prstGeom>
          <a:noFill/>
          <a:ln/>
        </p:spPr>
        <p:txBody>
          <a:bodyPr wrap="square" lIns="25400" tIns="25400" rIns="25400" bIns="25400" rtlCol="0" anchor="t">
            <a:normAutofit lnSpcReduction="10000"/>
          </a:bodyPr>
          <a:lstStyle/>
          <a:p>
            <a:pPr marL="0" indent="0" algn="l">
              <a:lnSpc>
                <a:spcPct val="102857"/>
              </a:lnSpc>
              <a:buNone/>
            </a:pPr>
            <a:r>
              <a:rPr lang="en-US" sz="3900" b="1" dirty="0">
                <a:solidFill>
                  <a:srgbClr val="161616"/>
                </a:solidFill>
                <a:latin typeface="Helvetica" pitchFamily="34" charset="0"/>
                <a:ea typeface="Helvetica" pitchFamily="34" charset="-122"/>
                <a:cs typeface="Helvetica" pitchFamily="34" charset="-120"/>
              </a:rPr>
              <a:t>One row = one stop on one trip</a:t>
            </a:r>
            <a:endParaRPr lang="en-US" sz="3900" dirty="0"/>
          </a:p>
        </p:txBody>
      </p:sp>
      <p:sp>
        <p:nvSpPr>
          <p:cNvPr id="3" name="Text 1"/>
          <p:cNvSpPr/>
          <p:nvPr/>
        </p:nvSpPr>
        <p:spPr>
          <a:xfrm>
            <a:off x="1333500" y="1908770"/>
            <a:ext cx="17183100" cy="34290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5B5B5B"/>
                </a:solidFill>
                <a:latin typeface="Helvetica" pitchFamily="34" charset="0"/>
                <a:ea typeface="Helvetica" pitchFamily="34" charset="-122"/>
                <a:cs typeface="Helvetica" pitchFamily="34" charset="-120"/>
              </a:rPr>
              <a:t>Ministry of Transport dataset, 2024. 7 bus lines.</a:t>
            </a:r>
            <a:endParaRPr lang="en-US" sz="2100" dirty="0"/>
          </a:p>
        </p:txBody>
      </p:sp>
      <p:sp>
        <p:nvSpPr>
          <p:cNvPr id="4" name="Text 2"/>
          <p:cNvSpPr/>
          <p:nvPr/>
        </p:nvSpPr>
        <p:spPr>
          <a:xfrm>
            <a:off x="1333500" y="2308820"/>
            <a:ext cx="17183100" cy="34290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5B5B5B"/>
                </a:solidFill>
                <a:latin typeface="Helvetica" pitchFamily="34" charset="0"/>
                <a:ea typeface="Helvetica" pitchFamily="34" charset="-122"/>
                <a:cs typeface="Helvetica" pitchFamily="34" charset="-120"/>
              </a:rPr>
              <a:t>Each row: one line, month, day, hour, stop.</a:t>
            </a:r>
            <a:endParaRPr lang="en-US" sz="2100" dirty="0"/>
          </a:p>
        </p:txBody>
      </p:sp>
      <p:sp>
        <p:nvSpPr>
          <p:cNvPr id="5" name="Text 3"/>
          <p:cNvSpPr/>
          <p:nvPr/>
        </p:nvSpPr>
        <p:spPr>
          <a:xfrm>
            <a:off x="1333500" y="2708870"/>
            <a:ext cx="17183100" cy="34290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5B5B5B"/>
                </a:solidFill>
                <a:latin typeface="Helvetica" pitchFamily="34" charset="0"/>
                <a:ea typeface="Helvetica" pitchFamily="34" charset="-122"/>
                <a:cs typeface="Helvetica" pitchFamily="34" charset="-120"/>
              </a:rPr>
              <a:t>A full trip ("block") is one sequence of rows.</a:t>
            </a:r>
            <a:endParaRPr lang="en-US" sz="2100" dirty="0"/>
          </a:p>
        </p:txBody>
      </p:sp>
      <p:sp>
        <p:nvSpPr>
          <p:cNvPr id="6" name="Shape 4"/>
          <p:cNvSpPr/>
          <p:nvPr/>
        </p:nvSpPr>
        <p:spPr>
          <a:xfrm>
            <a:off x="3232150" y="4246860"/>
            <a:ext cx="11823700" cy="3708400"/>
          </a:xfrm>
          <a:prstGeom prst="roundRect">
            <a:avLst>
              <a:gd name="adj" fmla="val 3596"/>
            </a:avLst>
          </a:prstGeom>
          <a:solidFill>
            <a:srgbClr val="FFFFFF"/>
          </a:solidFill>
          <a:ln w="6350">
            <a:solidFill>
              <a:srgbClr val="E5E2DD"/>
            </a:solidFill>
            <a:prstDash val="solid"/>
          </a:ln>
          <a:effectLst>
            <a:outerShdw blurRad="228600" dist="19050" dir="5400000" algn="bl" rotWithShape="0">
              <a:srgbClr val="000000">
                <a:alpha val="6000"/>
              </a:srgbClr>
            </a:outerShdw>
          </a:effectLst>
        </p:spPr>
        <p:txBody>
          <a:bodyPr/>
          <a:lstStyle/>
          <a:p>
            <a:endParaRPr lang="en-IL"/>
          </a:p>
        </p:txBody>
      </p:sp>
      <p:sp>
        <p:nvSpPr>
          <p:cNvPr id="7" name="Shape 5"/>
          <p:cNvSpPr/>
          <p:nvPr/>
        </p:nvSpPr>
        <p:spPr>
          <a:xfrm>
            <a:off x="3238500" y="4253210"/>
            <a:ext cx="11811000" cy="647700"/>
          </a:xfrm>
          <a:prstGeom prst="rect">
            <a:avLst/>
          </a:prstGeom>
          <a:solidFill>
            <a:srgbClr val="B3261A"/>
          </a:solidFill>
          <a:ln/>
        </p:spPr>
        <p:txBody>
          <a:bodyPr/>
          <a:lstStyle/>
          <a:p>
            <a:endParaRPr lang="en-IL"/>
          </a:p>
        </p:txBody>
      </p:sp>
      <p:sp>
        <p:nvSpPr>
          <p:cNvPr id="8" name="Text 6"/>
          <p:cNvSpPr/>
          <p:nvPr/>
        </p:nvSpPr>
        <p:spPr>
          <a:xfrm>
            <a:off x="3486150" y="4443710"/>
            <a:ext cx="1457325" cy="304800"/>
          </a:xfrm>
          <a:prstGeom prst="rect">
            <a:avLst/>
          </a:prstGeom>
          <a:noFill/>
          <a:ln/>
        </p:spPr>
        <p:txBody>
          <a:bodyPr wrap="square" lIns="25400" tIns="25400" rIns="25400" bIns="25400" rtlCol="0" anchor="ctr">
            <a:normAutofit lnSpcReduction="10000"/>
          </a:bodyPr>
          <a:lstStyle/>
          <a:p>
            <a:pPr marL="0" indent="0" algn="l">
              <a:buNone/>
            </a:pPr>
            <a:r>
              <a:rPr lang="en-US" sz="1800" b="1" kern="0" spc="18" dirty="0">
                <a:solidFill>
                  <a:srgbClr val="FFFFFF"/>
                </a:solidFill>
                <a:latin typeface="Helvetica" pitchFamily="34" charset="0"/>
                <a:ea typeface="Helvetica" pitchFamily="34" charset="-122"/>
                <a:cs typeface="Helvetica" pitchFamily="34" charset="-120"/>
              </a:rPr>
              <a:t>Stop #</a:t>
            </a:r>
            <a:endParaRPr lang="en-US" sz="1800" dirty="0"/>
          </a:p>
        </p:txBody>
      </p:sp>
      <p:sp>
        <p:nvSpPr>
          <p:cNvPr id="9" name="Text 7"/>
          <p:cNvSpPr/>
          <p:nvPr/>
        </p:nvSpPr>
        <p:spPr>
          <a:xfrm>
            <a:off x="5362575" y="4443710"/>
            <a:ext cx="2099469" cy="304800"/>
          </a:xfrm>
          <a:prstGeom prst="rect">
            <a:avLst/>
          </a:prstGeom>
          <a:noFill/>
          <a:ln/>
        </p:spPr>
        <p:txBody>
          <a:bodyPr wrap="square" lIns="25400" tIns="25400" rIns="25400" bIns="25400" rtlCol="0" anchor="ctr">
            <a:normAutofit lnSpcReduction="10000"/>
          </a:bodyPr>
          <a:lstStyle/>
          <a:p>
            <a:pPr marL="0" indent="0" algn="l">
              <a:buNone/>
            </a:pPr>
            <a:r>
              <a:rPr lang="en-US" sz="1800" b="1" kern="0" spc="18" dirty="0">
                <a:solidFill>
                  <a:srgbClr val="FFFFFF"/>
                </a:solidFill>
                <a:latin typeface="Helvetica" pitchFamily="34" charset="0"/>
                <a:ea typeface="Helvetica" pitchFamily="34" charset="-122"/>
                <a:cs typeface="Helvetica" pitchFamily="34" charset="-120"/>
              </a:rPr>
              <a:t>Stop code</a:t>
            </a:r>
            <a:endParaRPr lang="en-US" sz="1800" dirty="0"/>
          </a:p>
        </p:txBody>
      </p:sp>
      <p:sp>
        <p:nvSpPr>
          <p:cNvPr id="10" name="Text 8"/>
          <p:cNvSpPr/>
          <p:nvPr/>
        </p:nvSpPr>
        <p:spPr>
          <a:xfrm>
            <a:off x="7775940" y="4443710"/>
            <a:ext cx="3116691" cy="304800"/>
          </a:xfrm>
          <a:prstGeom prst="rect">
            <a:avLst/>
          </a:prstGeom>
          <a:noFill/>
          <a:ln/>
        </p:spPr>
        <p:txBody>
          <a:bodyPr wrap="square" lIns="25400" tIns="25400" rIns="25400" bIns="25400" rtlCol="0" anchor="ctr">
            <a:normAutofit lnSpcReduction="10000"/>
          </a:bodyPr>
          <a:lstStyle/>
          <a:p>
            <a:pPr marL="0" indent="0" algn="r">
              <a:buNone/>
            </a:pPr>
            <a:r>
              <a:rPr lang="en-US" sz="1800" b="1" kern="0" spc="18" dirty="0">
                <a:solidFill>
                  <a:srgbClr val="FFFFFF"/>
                </a:solidFill>
                <a:latin typeface="Helvetica" pitchFamily="34" charset="0"/>
                <a:ea typeface="Helvetica" pitchFamily="34" charset="-122"/>
                <a:cs typeface="Helvetica" pitchFamily="34" charset="-120"/>
              </a:rPr>
              <a:t>Cum. time (min)</a:t>
            </a:r>
            <a:endParaRPr lang="en-US" sz="1800" dirty="0"/>
          </a:p>
        </p:txBody>
      </p:sp>
      <p:sp>
        <p:nvSpPr>
          <p:cNvPr id="11" name="Text 9"/>
          <p:cNvSpPr/>
          <p:nvPr/>
        </p:nvSpPr>
        <p:spPr>
          <a:xfrm>
            <a:off x="11270655" y="4443710"/>
            <a:ext cx="3531196" cy="304800"/>
          </a:xfrm>
          <a:prstGeom prst="rect">
            <a:avLst/>
          </a:prstGeom>
          <a:noFill/>
          <a:ln/>
        </p:spPr>
        <p:txBody>
          <a:bodyPr wrap="square" lIns="25400" tIns="25400" rIns="25400" bIns="25400" rtlCol="0" anchor="ctr">
            <a:normAutofit lnSpcReduction="10000"/>
          </a:bodyPr>
          <a:lstStyle/>
          <a:p>
            <a:pPr marL="0" indent="0" algn="r">
              <a:buNone/>
            </a:pPr>
            <a:r>
              <a:rPr lang="en-US" sz="1800" b="1" kern="0" spc="18" dirty="0">
                <a:solidFill>
                  <a:srgbClr val="FFFFFF"/>
                </a:solidFill>
                <a:latin typeface="Helvetica" pitchFamily="34" charset="0"/>
                <a:ea typeface="Helvetica" pitchFamily="34" charset="-122"/>
                <a:cs typeface="Helvetica" pitchFamily="34" charset="-120"/>
              </a:rPr>
              <a:t>Cum. distance (m)</a:t>
            </a:r>
            <a:endParaRPr lang="en-US" sz="1800" dirty="0"/>
          </a:p>
        </p:txBody>
      </p:sp>
      <p:sp>
        <p:nvSpPr>
          <p:cNvPr id="12" name="Shape 10"/>
          <p:cNvSpPr/>
          <p:nvPr/>
        </p:nvSpPr>
        <p:spPr>
          <a:xfrm>
            <a:off x="3238500" y="4900910"/>
            <a:ext cx="11811000" cy="609600"/>
          </a:xfrm>
          <a:prstGeom prst="rect">
            <a:avLst/>
          </a:prstGeom>
          <a:solidFill>
            <a:srgbClr val="FAF9F7"/>
          </a:solidFill>
          <a:ln/>
        </p:spPr>
        <p:txBody>
          <a:bodyPr/>
          <a:lstStyle/>
          <a:p>
            <a:endParaRPr lang="en-IL"/>
          </a:p>
        </p:txBody>
      </p:sp>
      <p:sp>
        <p:nvSpPr>
          <p:cNvPr id="13" name="Text 11"/>
          <p:cNvSpPr/>
          <p:nvPr/>
        </p:nvSpPr>
        <p:spPr>
          <a:xfrm>
            <a:off x="3486150" y="5072360"/>
            <a:ext cx="1457325" cy="304800"/>
          </a:xfrm>
          <a:prstGeom prst="rect">
            <a:avLst/>
          </a:prstGeom>
          <a:noFill/>
          <a:ln/>
        </p:spPr>
        <p:txBody>
          <a:bodyPr wrap="square" lIns="25400" tIns="25400" rIns="25400" bIns="25400" rtlCol="0" anchor="ctr">
            <a:normAutofit lnSpcReduction="10000"/>
          </a:bodyPr>
          <a:lstStyle/>
          <a:p>
            <a:pPr marL="0" indent="0" algn="l">
              <a:buNone/>
            </a:pPr>
            <a:r>
              <a:rPr lang="en-US" sz="1800" b="1" dirty="0">
                <a:solidFill>
                  <a:srgbClr val="161616"/>
                </a:solidFill>
                <a:latin typeface="Helvetica" pitchFamily="34" charset="0"/>
                <a:ea typeface="Helvetica" pitchFamily="34" charset="-122"/>
                <a:cs typeface="Helvetica" pitchFamily="34" charset="-120"/>
              </a:rPr>
              <a:t>1</a:t>
            </a:r>
            <a:endParaRPr lang="en-US" sz="1800" dirty="0"/>
          </a:p>
        </p:txBody>
      </p:sp>
      <p:sp>
        <p:nvSpPr>
          <p:cNvPr id="14" name="Text 12"/>
          <p:cNvSpPr/>
          <p:nvPr/>
        </p:nvSpPr>
        <p:spPr>
          <a:xfrm>
            <a:off x="5362575" y="5072360"/>
            <a:ext cx="2099469" cy="304800"/>
          </a:xfrm>
          <a:prstGeom prst="rect">
            <a:avLst/>
          </a:prstGeom>
          <a:noFill/>
          <a:ln/>
        </p:spPr>
        <p:txBody>
          <a:bodyPr wrap="square" lIns="25400" tIns="25400" rIns="25400" bIns="25400" rtlCol="0" anchor="ctr">
            <a:normAutofit lnSpcReduction="10000"/>
          </a:bodyPr>
          <a:lstStyle/>
          <a:p>
            <a:pPr marL="0" indent="0" algn="l">
              <a:buNone/>
            </a:pPr>
            <a:r>
              <a:rPr lang="en-US" sz="1800" dirty="0">
                <a:solidFill>
                  <a:srgbClr val="5B5B5B"/>
                </a:solidFill>
                <a:latin typeface="Helvetica" pitchFamily="34" charset="0"/>
                <a:ea typeface="Helvetica" pitchFamily="34" charset="-122"/>
                <a:cs typeface="Helvetica" pitchFamily="34" charset="-120"/>
              </a:rPr>
              <a:t>2314</a:t>
            </a:r>
            <a:endParaRPr lang="en-US" sz="1800" dirty="0"/>
          </a:p>
        </p:txBody>
      </p:sp>
      <p:sp>
        <p:nvSpPr>
          <p:cNvPr id="15" name="Text 13"/>
          <p:cNvSpPr/>
          <p:nvPr/>
        </p:nvSpPr>
        <p:spPr>
          <a:xfrm>
            <a:off x="7775940" y="5072360"/>
            <a:ext cx="3116691" cy="304800"/>
          </a:xfrm>
          <a:prstGeom prst="rect">
            <a:avLst/>
          </a:prstGeom>
          <a:noFill/>
          <a:ln/>
        </p:spPr>
        <p:txBody>
          <a:bodyPr wrap="square" lIns="25400" tIns="25400" rIns="25400" bIns="25400" rtlCol="0" anchor="ctr">
            <a:normAutofit lnSpcReduction="10000"/>
          </a:bodyPr>
          <a:lstStyle/>
          <a:p>
            <a:pPr marL="0" indent="0" algn="r">
              <a:buNone/>
            </a:pPr>
            <a:r>
              <a:rPr lang="en-US" sz="1800" dirty="0">
                <a:solidFill>
                  <a:srgbClr val="5B5B5B"/>
                </a:solidFill>
                <a:latin typeface="Helvetica" pitchFamily="34" charset="0"/>
                <a:ea typeface="Helvetica" pitchFamily="34" charset="-122"/>
                <a:cs typeface="Helvetica" pitchFamily="34" charset="-120"/>
              </a:rPr>
              <a:t>0.66</a:t>
            </a:r>
            <a:endParaRPr lang="en-US" sz="1800" dirty="0"/>
          </a:p>
        </p:txBody>
      </p:sp>
      <p:sp>
        <p:nvSpPr>
          <p:cNvPr id="16" name="Text 14"/>
          <p:cNvSpPr/>
          <p:nvPr/>
        </p:nvSpPr>
        <p:spPr>
          <a:xfrm>
            <a:off x="11270655" y="5072360"/>
            <a:ext cx="3531196" cy="304800"/>
          </a:xfrm>
          <a:prstGeom prst="rect">
            <a:avLst/>
          </a:prstGeom>
          <a:noFill/>
          <a:ln/>
        </p:spPr>
        <p:txBody>
          <a:bodyPr wrap="square" lIns="25400" tIns="25400" rIns="25400" bIns="25400" rtlCol="0" anchor="ctr">
            <a:normAutofit lnSpcReduction="10000"/>
          </a:bodyPr>
          <a:lstStyle/>
          <a:p>
            <a:pPr marL="0" indent="0" algn="r">
              <a:buNone/>
            </a:pPr>
            <a:r>
              <a:rPr lang="en-US" sz="1800" dirty="0">
                <a:solidFill>
                  <a:srgbClr val="5B5B5B"/>
                </a:solidFill>
                <a:latin typeface="Helvetica" pitchFamily="34" charset="0"/>
                <a:ea typeface="Helvetica" pitchFamily="34" charset="-122"/>
                <a:cs typeface="Helvetica" pitchFamily="34" charset="-120"/>
              </a:rPr>
              <a:t>0</a:t>
            </a:r>
            <a:endParaRPr lang="en-US" sz="1800" dirty="0"/>
          </a:p>
        </p:txBody>
      </p:sp>
      <p:sp>
        <p:nvSpPr>
          <p:cNvPr id="17" name="Text 15"/>
          <p:cNvSpPr/>
          <p:nvPr/>
        </p:nvSpPr>
        <p:spPr>
          <a:xfrm>
            <a:off x="3486150" y="5681960"/>
            <a:ext cx="1457325" cy="304800"/>
          </a:xfrm>
          <a:prstGeom prst="rect">
            <a:avLst/>
          </a:prstGeom>
          <a:noFill/>
          <a:ln/>
        </p:spPr>
        <p:txBody>
          <a:bodyPr wrap="square" lIns="25400" tIns="25400" rIns="25400" bIns="25400" rtlCol="0" anchor="ctr">
            <a:normAutofit lnSpcReduction="10000"/>
          </a:bodyPr>
          <a:lstStyle/>
          <a:p>
            <a:pPr marL="0" indent="0" algn="l">
              <a:buNone/>
            </a:pPr>
            <a:r>
              <a:rPr lang="en-US" sz="1800" b="1" dirty="0">
                <a:solidFill>
                  <a:srgbClr val="161616"/>
                </a:solidFill>
                <a:latin typeface="Helvetica" pitchFamily="34" charset="0"/>
                <a:ea typeface="Helvetica" pitchFamily="34" charset="-122"/>
                <a:cs typeface="Helvetica" pitchFamily="34" charset="-120"/>
              </a:rPr>
              <a:t>2</a:t>
            </a:r>
            <a:endParaRPr lang="en-US" sz="1800" dirty="0"/>
          </a:p>
        </p:txBody>
      </p:sp>
      <p:sp>
        <p:nvSpPr>
          <p:cNvPr id="18" name="Text 16"/>
          <p:cNvSpPr/>
          <p:nvPr/>
        </p:nvSpPr>
        <p:spPr>
          <a:xfrm>
            <a:off x="5362575" y="5681960"/>
            <a:ext cx="2099469" cy="304800"/>
          </a:xfrm>
          <a:prstGeom prst="rect">
            <a:avLst/>
          </a:prstGeom>
          <a:noFill/>
          <a:ln/>
        </p:spPr>
        <p:txBody>
          <a:bodyPr wrap="square" lIns="25400" tIns="25400" rIns="25400" bIns="25400" rtlCol="0" anchor="ctr">
            <a:normAutofit lnSpcReduction="10000"/>
          </a:bodyPr>
          <a:lstStyle/>
          <a:p>
            <a:pPr marL="0" indent="0" algn="l">
              <a:buNone/>
            </a:pPr>
            <a:r>
              <a:rPr lang="en-US" sz="1800" dirty="0">
                <a:solidFill>
                  <a:srgbClr val="5B5B5B"/>
                </a:solidFill>
                <a:latin typeface="Helvetica" pitchFamily="34" charset="0"/>
                <a:ea typeface="Helvetica" pitchFamily="34" charset="-122"/>
                <a:cs typeface="Helvetica" pitchFamily="34" charset="-120"/>
              </a:rPr>
              <a:t>2323</a:t>
            </a:r>
            <a:endParaRPr lang="en-US" sz="1800" dirty="0"/>
          </a:p>
        </p:txBody>
      </p:sp>
      <p:sp>
        <p:nvSpPr>
          <p:cNvPr id="19" name="Text 17"/>
          <p:cNvSpPr/>
          <p:nvPr/>
        </p:nvSpPr>
        <p:spPr>
          <a:xfrm>
            <a:off x="7775940" y="5681960"/>
            <a:ext cx="3116691" cy="304800"/>
          </a:xfrm>
          <a:prstGeom prst="rect">
            <a:avLst/>
          </a:prstGeom>
          <a:noFill/>
          <a:ln/>
        </p:spPr>
        <p:txBody>
          <a:bodyPr wrap="square" lIns="25400" tIns="25400" rIns="25400" bIns="25400" rtlCol="0" anchor="ctr">
            <a:normAutofit lnSpcReduction="10000"/>
          </a:bodyPr>
          <a:lstStyle/>
          <a:p>
            <a:pPr marL="0" indent="0" algn="r">
              <a:buNone/>
            </a:pPr>
            <a:r>
              <a:rPr lang="en-US" sz="1800" dirty="0">
                <a:solidFill>
                  <a:srgbClr val="5B5B5B"/>
                </a:solidFill>
                <a:latin typeface="Helvetica" pitchFamily="34" charset="0"/>
                <a:ea typeface="Helvetica" pitchFamily="34" charset="-122"/>
                <a:cs typeface="Helvetica" pitchFamily="34" charset="-120"/>
              </a:rPr>
              <a:t>1.16</a:t>
            </a:r>
            <a:endParaRPr lang="en-US" sz="1800" dirty="0"/>
          </a:p>
        </p:txBody>
      </p:sp>
      <p:sp>
        <p:nvSpPr>
          <p:cNvPr id="20" name="Text 18"/>
          <p:cNvSpPr/>
          <p:nvPr/>
        </p:nvSpPr>
        <p:spPr>
          <a:xfrm>
            <a:off x="11270655" y="5681960"/>
            <a:ext cx="3531196" cy="304800"/>
          </a:xfrm>
          <a:prstGeom prst="rect">
            <a:avLst/>
          </a:prstGeom>
          <a:noFill/>
          <a:ln/>
        </p:spPr>
        <p:txBody>
          <a:bodyPr wrap="square" lIns="25400" tIns="25400" rIns="25400" bIns="25400" rtlCol="0" anchor="ctr">
            <a:normAutofit lnSpcReduction="10000"/>
          </a:bodyPr>
          <a:lstStyle/>
          <a:p>
            <a:pPr marL="0" indent="0" algn="r">
              <a:buNone/>
            </a:pPr>
            <a:r>
              <a:rPr lang="en-US" sz="1800" dirty="0">
                <a:solidFill>
                  <a:srgbClr val="5B5B5B"/>
                </a:solidFill>
                <a:latin typeface="Helvetica" pitchFamily="34" charset="0"/>
                <a:ea typeface="Helvetica" pitchFamily="34" charset="-122"/>
                <a:cs typeface="Helvetica" pitchFamily="34" charset="-120"/>
              </a:rPr>
              <a:t>457</a:t>
            </a:r>
            <a:endParaRPr lang="en-US" sz="1800" dirty="0"/>
          </a:p>
        </p:txBody>
      </p:sp>
      <p:sp>
        <p:nvSpPr>
          <p:cNvPr id="21" name="Shape 19"/>
          <p:cNvSpPr/>
          <p:nvPr/>
        </p:nvSpPr>
        <p:spPr>
          <a:xfrm>
            <a:off x="3238500" y="6120110"/>
            <a:ext cx="11811000" cy="609600"/>
          </a:xfrm>
          <a:prstGeom prst="rect">
            <a:avLst/>
          </a:prstGeom>
          <a:solidFill>
            <a:srgbClr val="FAF9F7"/>
          </a:solidFill>
          <a:ln/>
        </p:spPr>
        <p:txBody>
          <a:bodyPr/>
          <a:lstStyle/>
          <a:p>
            <a:endParaRPr lang="en-IL"/>
          </a:p>
        </p:txBody>
      </p:sp>
      <p:sp>
        <p:nvSpPr>
          <p:cNvPr id="22" name="Text 20"/>
          <p:cNvSpPr/>
          <p:nvPr/>
        </p:nvSpPr>
        <p:spPr>
          <a:xfrm>
            <a:off x="3486150" y="6291560"/>
            <a:ext cx="1457325" cy="304800"/>
          </a:xfrm>
          <a:prstGeom prst="rect">
            <a:avLst/>
          </a:prstGeom>
          <a:noFill/>
          <a:ln/>
        </p:spPr>
        <p:txBody>
          <a:bodyPr wrap="square" lIns="25400" tIns="25400" rIns="25400" bIns="25400" rtlCol="0" anchor="ctr">
            <a:normAutofit lnSpcReduction="10000"/>
          </a:bodyPr>
          <a:lstStyle/>
          <a:p>
            <a:pPr marL="0" indent="0" algn="l">
              <a:buNone/>
            </a:pPr>
            <a:r>
              <a:rPr lang="en-US" sz="1800" b="1" dirty="0">
                <a:solidFill>
                  <a:srgbClr val="161616"/>
                </a:solidFill>
                <a:latin typeface="Helvetica" pitchFamily="34" charset="0"/>
                <a:ea typeface="Helvetica" pitchFamily="34" charset="-122"/>
                <a:cs typeface="Helvetica" pitchFamily="34" charset="-120"/>
              </a:rPr>
              <a:t>3</a:t>
            </a:r>
            <a:endParaRPr lang="en-US" sz="1800" dirty="0"/>
          </a:p>
        </p:txBody>
      </p:sp>
      <p:sp>
        <p:nvSpPr>
          <p:cNvPr id="23" name="Text 21"/>
          <p:cNvSpPr/>
          <p:nvPr/>
        </p:nvSpPr>
        <p:spPr>
          <a:xfrm>
            <a:off x="5362575" y="6291560"/>
            <a:ext cx="2099469" cy="304800"/>
          </a:xfrm>
          <a:prstGeom prst="rect">
            <a:avLst/>
          </a:prstGeom>
          <a:noFill/>
          <a:ln/>
        </p:spPr>
        <p:txBody>
          <a:bodyPr wrap="square" lIns="25400" tIns="25400" rIns="25400" bIns="25400" rtlCol="0" anchor="ctr">
            <a:normAutofit lnSpcReduction="10000"/>
          </a:bodyPr>
          <a:lstStyle/>
          <a:p>
            <a:pPr marL="0" indent="0" algn="l">
              <a:buNone/>
            </a:pPr>
            <a:r>
              <a:rPr lang="en-US" sz="1800" dirty="0">
                <a:solidFill>
                  <a:srgbClr val="5B5B5B"/>
                </a:solidFill>
                <a:latin typeface="Helvetica" pitchFamily="34" charset="0"/>
                <a:ea typeface="Helvetica" pitchFamily="34" charset="-122"/>
                <a:cs typeface="Helvetica" pitchFamily="34" charset="-120"/>
              </a:rPr>
              <a:t>5592</a:t>
            </a:r>
            <a:endParaRPr lang="en-US" sz="1800" dirty="0"/>
          </a:p>
        </p:txBody>
      </p:sp>
      <p:sp>
        <p:nvSpPr>
          <p:cNvPr id="24" name="Text 22"/>
          <p:cNvSpPr/>
          <p:nvPr/>
        </p:nvSpPr>
        <p:spPr>
          <a:xfrm>
            <a:off x="7775940" y="6291560"/>
            <a:ext cx="3116691" cy="304800"/>
          </a:xfrm>
          <a:prstGeom prst="rect">
            <a:avLst/>
          </a:prstGeom>
          <a:noFill/>
          <a:ln/>
        </p:spPr>
        <p:txBody>
          <a:bodyPr wrap="square" lIns="25400" tIns="25400" rIns="25400" bIns="25400" rtlCol="0" anchor="ctr">
            <a:normAutofit lnSpcReduction="10000"/>
          </a:bodyPr>
          <a:lstStyle/>
          <a:p>
            <a:pPr marL="0" indent="0" algn="r">
              <a:buNone/>
            </a:pPr>
            <a:r>
              <a:rPr lang="en-US" sz="1800" dirty="0">
                <a:solidFill>
                  <a:srgbClr val="5B5B5B"/>
                </a:solidFill>
                <a:latin typeface="Helvetica" pitchFamily="34" charset="0"/>
                <a:ea typeface="Helvetica" pitchFamily="34" charset="-122"/>
                <a:cs typeface="Helvetica" pitchFamily="34" charset="-120"/>
              </a:rPr>
              <a:t>3.80</a:t>
            </a:r>
            <a:endParaRPr lang="en-US" sz="1800" dirty="0"/>
          </a:p>
        </p:txBody>
      </p:sp>
      <p:sp>
        <p:nvSpPr>
          <p:cNvPr id="25" name="Text 23"/>
          <p:cNvSpPr/>
          <p:nvPr/>
        </p:nvSpPr>
        <p:spPr>
          <a:xfrm>
            <a:off x="11270655" y="6291560"/>
            <a:ext cx="3531196" cy="304800"/>
          </a:xfrm>
          <a:prstGeom prst="rect">
            <a:avLst/>
          </a:prstGeom>
          <a:noFill/>
          <a:ln/>
        </p:spPr>
        <p:txBody>
          <a:bodyPr wrap="square" lIns="25400" tIns="25400" rIns="25400" bIns="25400" rtlCol="0" anchor="ctr">
            <a:normAutofit lnSpcReduction="10000"/>
          </a:bodyPr>
          <a:lstStyle/>
          <a:p>
            <a:pPr marL="0" indent="0" algn="r">
              <a:buNone/>
            </a:pPr>
            <a:r>
              <a:rPr lang="en-US" sz="1800" dirty="0">
                <a:solidFill>
                  <a:srgbClr val="5B5B5B"/>
                </a:solidFill>
                <a:latin typeface="Helvetica" pitchFamily="34" charset="0"/>
                <a:ea typeface="Helvetica" pitchFamily="34" charset="-122"/>
                <a:cs typeface="Helvetica" pitchFamily="34" charset="-120"/>
              </a:rPr>
              <a:t>1,973</a:t>
            </a:r>
            <a:endParaRPr lang="en-US" sz="1800" dirty="0"/>
          </a:p>
        </p:txBody>
      </p:sp>
      <p:sp>
        <p:nvSpPr>
          <p:cNvPr id="26" name="Text 24"/>
          <p:cNvSpPr/>
          <p:nvPr/>
        </p:nvSpPr>
        <p:spPr>
          <a:xfrm>
            <a:off x="3486150" y="6901160"/>
            <a:ext cx="1457325" cy="304800"/>
          </a:xfrm>
          <a:prstGeom prst="rect">
            <a:avLst/>
          </a:prstGeom>
          <a:noFill/>
          <a:ln/>
        </p:spPr>
        <p:txBody>
          <a:bodyPr wrap="square" lIns="25400" tIns="25400" rIns="25400" bIns="25400" rtlCol="0" anchor="ctr">
            <a:normAutofit lnSpcReduction="10000"/>
          </a:bodyPr>
          <a:lstStyle/>
          <a:p>
            <a:pPr marL="0" indent="0" algn="l">
              <a:buNone/>
            </a:pPr>
            <a:r>
              <a:rPr lang="en-US" sz="1800" b="1" dirty="0">
                <a:solidFill>
                  <a:srgbClr val="161616"/>
                </a:solidFill>
                <a:latin typeface="Helvetica" pitchFamily="34" charset="0"/>
                <a:ea typeface="Helvetica" pitchFamily="34" charset="-122"/>
                <a:cs typeface="Helvetica" pitchFamily="34" charset="-120"/>
              </a:rPr>
              <a:t>4</a:t>
            </a:r>
            <a:endParaRPr lang="en-US" sz="1800" dirty="0"/>
          </a:p>
        </p:txBody>
      </p:sp>
      <p:sp>
        <p:nvSpPr>
          <p:cNvPr id="27" name="Text 25"/>
          <p:cNvSpPr/>
          <p:nvPr/>
        </p:nvSpPr>
        <p:spPr>
          <a:xfrm>
            <a:off x="5362575" y="6901160"/>
            <a:ext cx="2099469" cy="304800"/>
          </a:xfrm>
          <a:prstGeom prst="rect">
            <a:avLst/>
          </a:prstGeom>
          <a:noFill/>
          <a:ln/>
        </p:spPr>
        <p:txBody>
          <a:bodyPr wrap="square" lIns="25400" tIns="25400" rIns="25400" bIns="25400" rtlCol="0" anchor="ctr">
            <a:normAutofit lnSpcReduction="10000"/>
          </a:bodyPr>
          <a:lstStyle/>
          <a:p>
            <a:pPr marL="0" indent="0" algn="l">
              <a:buNone/>
            </a:pPr>
            <a:r>
              <a:rPr lang="en-US" sz="1800" dirty="0">
                <a:solidFill>
                  <a:srgbClr val="5B5B5B"/>
                </a:solidFill>
                <a:latin typeface="Helvetica" pitchFamily="34" charset="0"/>
                <a:ea typeface="Helvetica" pitchFamily="34" charset="-122"/>
                <a:cs typeface="Helvetica" pitchFamily="34" charset="-120"/>
              </a:rPr>
              <a:t>972</a:t>
            </a:r>
            <a:endParaRPr lang="en-US" sz="1800" dirty="0"/>
          </a:p>
        </p:txBody>
      </p:sp>
      <p:sp>
        <p:nvSpPr>
          <p:cNvPr id="28" name="Text 26"/>
          <p:cNvSpPr/>
          <p:nvPr/>
        </p:nvSpPr>
        <p:spPr>
          <a:xfrm>
            <a:off x="7775940" y="6901160"/>
            <a:ext cx="3116691" cy="304800"/>
          </a:xfrm>
          <a:prstGeom prst="rect">
            <a:avLst/>
          </a:prstGeom>
          <a:noFill/>
          <a:ln/>
        </p:spPr>
        <p:txBody>
          <a:bodyPr wrap="square" lIns="25400" tIns="25400" rIns="25400" bIns="25400" rtlCol="0" anchor="ctr">
            <a:normAutofit lnSpcReduction="10000"/>
          </a:bodyPr>
          <a:lstStyle/>
          <a:p>
            <a:pPr marL="0" indent="0" algn="r">
              <a:buNone/>
            </a:pPr>
            <a:r>
              <a:rPr lang="en-US" sz="1800" dirty="0">
                <a:solidFill>
                  <a:srgbClr val="5B5B5B"/>
                </a:solidFill>
                <a:latin typeface="Helvetica" pitchFamily="34" charset="0"/>
                <a:ea typeface="Helvetica" pitchFamily="34" charset="-122"/>
                <a:cs typeface="Helvetica" pitchFamily="34" charset="-120"/>
              </a:rPr>
              <a:t>5.45</a:t>
            </a:r>
            <a:endParaRPr lang="en-US" sz="1800" dirty="0"/>
          </a:p>
        </p:txBody>
      </p:sp>
      <p:sp>
        <p:nvSpPr>
          <p:cNvPr id="29" name="Text 27"/>
          <p:cNvSpPr/>
          <p:nvPr/>
        </p:nvSpPr>
        <p:spPr>
          <a:xfrm>
            <a:off x="11270655" y="6901160"/>
            <a:ext cx="3531196" cy="304800"/>
          </a:xfrm>
          <a:prstGeom prst="rect">
            <a:avLst/>
          </a:prstGeom>
          <a:noFill/>
          <a:ln/>
        </p:spPr>
        <p:txBody>
          <a:bodyPr wrap="square" lIns="25400" tIns="25400" rIns="25400" bIns="25400" rtlCol="0" anchor="ctr">
            <a:normAutofit lnSpcReduction="10000"/>
          </a:bodyPr>
          <a:lstStyle/>
          <a:p>
            <a:pPr marL="0" indent="0" algn="r">
              <a:buNone/>
            </a:pPr>
            <a:r>
              <a:rPr lang="en-US" sz="1800" dirty="0">
                <a:solidFill>
                  <a:srgbClr val="5B5B5B"/>
                </a:solidFill>
                <a:latin typeface="Helvetica" pitchFamily="34" charset="0"/>
                <a:ea typeface="Helvetica" pitchFamily="34" charset="-122"/>
                <a:cs typeface="Helvetica" pitchFamily="34" charset="-120"/>
              </a:rPr>
              <a:t>2,901</a:t>
            </a:r>
            <a:endParaRPr lang="en-US" sz="1800" dirty="0"/>
          </a:p>
        </p:txBody>
      </p:sp>
      <p:sp>
        <p:nvSpPr>
          <p:cNvPr id="30" name="Shape 28"/>
          <p:cNvSpPr/>
          <p:nvPr/>
        </p:nvSpPr>
        <p:spPr>
          <a:xfrm>
            <a:off x="3238500" y="7339310"/>
            <a:ext cx="11811000" cy="609600"/>
          </a:xfrm>
          <a:prstGeom prst="rect">
            <a:avLst/>
          </a:prstGeom>
          <a:solidFill>
            <a:srgbClr val="FAF9F7"/>
          </a:solidFill>
          <a:ln/>
        </p:spPr>
        <p:txBody>
          <a:bodyPr/>
          <a:lstStyle/>
          <a:p>
            <a:endParaRPr lang="en-IL"/>
          </a:p>
        </p:txBody>
      </p:sp>
      <p:sp>
        <p:nvSpPr>
          <p:cNvPr id="31" name="Text 29"/>
          <p:cNvSpPr/>
          <p:nvPr/>
        </p:nvSpPr>
        <p:spPr>
          <a:xfrm>
            <a:off x="3486150" y="7510760"/>
            <a:ext cx="1457325" cy="304800"/>
          </a:xfrm>
          <a:prstGeom prst="rect">
            <a:avLst/>
          </a:prstGeom>
          <a:noFill/>
          <a:ln/>
        </p:spPr>
        <p:txBody>
          <a:bodyPr wrap="square" lIns="25400" tIns="25400" rIns="25400" bIns="25400" rtlCol="0" anchor="ctr">
            <a:normAutofit lnSpcReduction="10000"/>
          </a:bodyPr>
          <a:lstStyle/>
          <a:p>
            <a:pPr marL="0" indent="0" algn="l">
              <a:buNone/>
            </a:pPr>
            <a:r>
              <a:rPr lang="en-US" sz="1800" b="1" dirty="0">
                <a:solidFill>
                  <a:srgbClr val="161616"/>
                </a:solidFill>
                <a:latin typeface="Helvetica" pitchFamily="34" charset="0"/>
                <a:ea typeface="Helvetica" pitchFamily="34" charset="-122"/>
                <a:cs typeface="Helvetica" pitchFamily="34" charset="-120"/>
              </a:rPr>
              <a:t>5</a:t>
            </a:r>
            <a:endParaRPr lang="en-US" sz="1800" dirty="0"/>
          </a:p>
        </p:txBody>
      </p:sp>
      <p:sp>
        <p:nvSpPr>
          <p:cNvPr id="32" name="Text 30"/>
          <p:cNvSpPr/>
          <p:nvPr/>
        </p:nvSpPr>
        <p:spPr>
          <a:xfrm>
            <a:off x="5362575" y="7510760"/>
            <a:ext cx="2099469" cy="304800"/>
          </a:xfrm>
          <a:prstGeom prst="rect">
            <a:avLst/>
          </a:prstGeom>
          <a:noFill/>
          <a:ln/>
        </p:spPr>
        <p:txBody>
          <a:bodyPr wrap="square" lIns="25400" tIns="25400" rIns="25400" bIns="25400" rtlCol="0" anchor="ctr">
            <a:normAutofit lnSpcReduction="10000"/>
          </a:bodyPr>
          <a:lstStyle/>
          <a:p>
            <a:pPr marL="0" indent="0" algn="l">
              <a:buNone/>
            </a:pPr>
            <a:r>
              <a:rPr lang="en-US" sz="1800" dirty="0">
                <a:solidFill>
                  <a:srgbClr val="5B5B5B"/>
                </a:solidFill>
                <a:latin typeface="Helvetica" pitchFamily="34" charset="0"/>
                <a:ea typeface="Helvetica" pitchFamily="34" charset="-122"/>
                <a:cs typeface="Helvetica" pitchFamily="34" charset="-120"/>
              </a:rPr>
              <a:t>938</a:t>
            </a:r>
            <a:endParaRPr lang="en-US" sz="1800" dirty="0"/>
          </a:p>
        </p:txBody>
      </p:sp>
      <p:sp>
        <p:nvSpPr>
          <p:cNvPr id="33" name="Text 31"/>
          <p:cNvSpPr/>
          <p:nvPr/>
        </p:nvSpPr>
        <p:spPr>
          <a:xfrm>
            <a:off x="7775940" y="7510760"/>
            <a:ext cx="3116691" cy="304800"/>
          </a:xfrm>
          <a:prstGeom prst="rect">
            <a:avLst/>
          </a:prstGeom>
          <a:noFill/>
          <a:ln/>
        </p:spPr>
        <p:txBody>
          <a:bodyPr wrap="square" lIns="25400" tIns="25400" rIns="25400" bIns="25400" rtlCol="0" anchor="ctr">
            <a:normAutofit lnSpcReduction="10000"/>
          </a:bodyPr>
          <a:lstStyle/>
          <a:p>
            <a:pPr marL="0" indent="0" algn="r">
              <a:buNone/>
            </a:pPr>
            <a:r>
              <a:rPr lang="en-US" sz="1800" dirty="0">
                <a:solidFill>
                  <a:srgbClr val="5B5B5B"/>
                </a:solidFill>
                <a:latin typeface="Helvetica" pitchFamily="34" charset="0"/>
                <a:ea typeface="Helvetica" pitchFamily="34" charset="-122"/>
                <a:cs typeface="Helvetica" pitchFamily="34" charset="-120"/>
              </a:rPr>
              <a:t>6.31</a:t>
            </a:r>
            <a:endParaRPr lang="en-US" sz="1800" dirty="0"/>
          </a:p>
        </p:txBody>
      </p:sp>
      <p:sp>
        <p:nvSpPr>
          <p:cNvPr id="34" name="Text 32"/>
          <p:cNvSpPr/>
          <p:nvPr/>
        </p:nvSpPr>
        <p:spPr>
          <a:xfrm>
            <a:off x="11270655" y="7510760"/>
            <a:ext cx="3531196" cy="304800"/>
          </a:xfrm>
          <a:prstGeom prst="rect">
            <a:avLst/>
          </a:prstGeom>
          <a:noFill/>
          <a:ln/>
        </p:spPr>
        <p:txBody>
          <a:bodyPr wrap="square" lIns="25400" tIns="25400" rIns="25400" bIns="25400" rtlCol="0" anchor="ctr">
            <a:normAutofit lnSpcReduction="10000"/>
          </a:bodyPr>
          <a:lstStyle/>
          <a:p>
            <a:pPr marL="0" indent="0" algn="r">
              <a:buNone/>
            </a:pPr>
            <a:r>
              <a:rPr lang="en-US" sz="1800" dirty="0">
                <a:solidFill>
                  <a:srgbClr val="5B5B5B"/>
                </a:solidFill>
                <a:latin typeface="Helvetica" pitchFamily="34" charset="0"/>
                <a:ea typeface="Helvetica" pitchFamily="34" charset="-122"/>
                <a:cs typeface="Helvetica" pitchFamily="34" charset="-120"/>
              </a:rPr>
              <a:t>3,219</a:t>
            </a:r>
            <a:endParaRPr lang="en-US" sz="1800" dirty="0"/>
          </a:p>
        </p:txBody>
      </p:sp>
      <p:sp>
        <p:nvSpPr>
          <p:cNvPr id="35" name="Text 33"/>
          <p:cNvSpPr/>
          <p:nvPr/>
        </p:nvSpPr>
        <p:spPr>
          <a:xfrm>
            <a:off x="5174853" y="8126710"/>
            <a:ext cx="8732123" cy="29845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6" dirty="0">
                <a:solidFill>
                  <a:srgbClr val="9A9A9A"/>
                </a:solidFill>
                <a:latin typeface="Courier New" pitchFamily="34" charset="0"/>
                <a:ea typeface="Courier New" pitchFamily="34" charset="-122"/>
                <a:cs typeface="Courier New" pitchFamily="34" charset="-120"/>
              </a:rPr>
              <a:t>TABLE 1 — EXAMPLE BLOCK, LINE 19 (SUNDAY, 5AM DEPARTURE)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33500" y="3512840"/>
            <a:ext cx="15716250" cy="632420"/>
          </a:xfrm>
          <a:prstGeom prst="rect">
            <a:avLst/>
          </a:prstGeom>
          <a:noFill/>
          <a:ln/>
        </p:spPr>
        <p:txBody>
          <a:bodyPr wrap="square" lIns="25400" tIns="25400" rIns="25400" bIns="25400" rtlCol="0" anchor="t">
            <a:normAutofit lnSpcReduction="10000"/>
          </a:bodyPr>
          <a:lstStyle/>
          <a:p>
            <a:pPr marL="0" indent="0" algn="l">
              <a:lnSpc>
                <a:spcPct val="102857"/>
              </a:lnSpc>
              <a:buNone/>
            </a:pPr>
            <a:r>
              <a:rPr lang="en-US" sz="3900" b="1" dirty="0">
                <a:solidFill>
                  <a:srgbClr val="161616"/>
                </a:solidFill>
                <a:latin typeface="Helvetica" pitchFamily="34" charset="0"/>
                <a:ea typeface="Helvetica" pitchFamily="34" charset="-122"/>
                <a:cs typeface="Helvetica" pitchFamily="34" charset="-120"/>
              </a:rPr>
              <a:t>Cleaning cut duplicates, not real data</a:t>
            </a:r>
            <a:endParaRPr lang="en-US" sz="3900" dirty="0"/>
          </a:p>
        </p:txBody>
      </p:sp>
      <p:sp>
        <p:nvSpPr>
          <p:cNvPr id="3" name="Text 1"/>
          <p:cNvSpPr/>
          <p:nvPr/>
        </p:nvSpPr>
        <p:spPr>
          <a:xfrm>
            <a:off x="1333500" y="4640560"/>
            <a:ext cx="4050100" cy="520700"/>
          </a:xfrm>
          <a:prstGeom prst="rect">
            <a:avLst/>
          </a:prstGeom>
          <a:noFill/>
          <a:ln/>
        </p:spPr>
        <p:txBody>
          <a:bodyPr wrap="square" lIns="25400" tIns="25400" rIns="25400" bIns="25400" rtlCol="0" anchor="t">
            <a:normAutofit lnSpcReduction="10000"/>
          </a:bodyPr>
          <a:lstStyle/>
          <a:p>
            <a:pPr marL="0" indent="0" algn="l">
              <a:buNone/>
            </a:pPr>
            <a:r>
              <a:rPr lang="en-US" sz="3300" b="1" dirty="0">
                <a:solidFill>
                  <a:srgbClr val="B3261A"/>
                </a:solidFill>
                <a:latin typeface="Helvetica" pitchFamily="34" charset="0"/>
                <a:ea typeface="Helvetica" pitchFamily="34" charset="-122"/>
                <a:cs typeface="Helvetica" pitchFamily="34" charset="-120"/>
              </a:rPr>
              <a:t>708,642 → 603,662</a:t>
            </a:r>
            <a:endParaRPr lang="en-US" sz="3300" dirty="0"/>
          </a:p>
        </p:txBody>
      </p:sp>
      <p:sp>
        <p:nvSpPr>
          <p:cNvPr id="4" name="Text 2"/>
          <p:cNvSpPr/>
          <p:nvPr/>
        </p:nvSpPr>
        <p:spPr>
          <a:xfrm>
            <a:off x="5205909" y="4786610"/>
            <a:ext cx="4337467" cy="34290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5B5B5B"/>
                </a:solidFill>
                <a:latin typeface="Helvetica" pitchFamily="34" charset="0"/>
                <a:ea typeface="Helvetica" pitchFamily="34" charset="-122"/>
                <a:cs typeface="Helvetica" pitchFamily="34" charset="-120"/>
              </a:rPr>
              <a:t>records after removing duplicates</a:t>
            </a:r>
            <a:endParaRPr lang="en-US" sz="2100" dirty="0"/>
          </a:p>
        </p:txBody>
      </p:sp>
      <p:sp>
        <p:nvSpPr>
          <p:cNvPr id="5" name="Text 3"/>
          <p:cNvSpPr/>
          <p:nvPr/>
        </p:nvSpPr>
        <p:spPr>
          <a:xfrm>
            <a:off x="1333500" y="5466061"/>
            <a:ext cx="1031478" cy="520700"/>
          </a:xfrm>
          <a:prstGeom prst="rect">
            <a:avLst/>
          </a:prstGeom>
          <a:noFill/>
          <a:ln/>
        </p:spPr>
        <p:txBody>
          <a:bodyPr wrap="square" lIns="25400" tIns="25400" rIns="25400" bIns="25400" rtlCol="0" anchor="t">
            <a:normAutofit lnSpcReduction="10000"/>
          </a:bodyPr>
          <a:lstStyle/>
          <a:p>
            <a:pPr marL="0" indent="0" algn="l">
              <a:buNone/>
            </a:pPr>
            <a:r>
              <a:rPr lang="en-US" sz="3300" b="1" dirty="0">
                <a:solidFill>
                  <a:srgbClr val="B3261A"/>
                </a:solidFill>
                <a:latin typeface="Helvetica" pitchFamily="34" charset="0"/>
                <a:ea typeface="Helvetica" pitchFamily="34" charset="-122"/>
                <a:cs typeface="Helvetica" pitchFamily="34" charset="-120"/>
              </a:rPr>
              <a:t>6.3%</a:t>
            </a:r>
            <a:endParaRPr lang="en-US" sz="3300" dirty="0"/>
          </a:p>
        </p:txBody>
      </p:sp>
      <p:sp>
        <p:nvSpPr>
          <p:cNvPr id="6" name="Text 4"/>
          <p:cNvSpPr/>
          <p:nvPr/>
        </p:nvSpPr>
        <p:spPr>
          <a:xfrm>
            <a:off x="2479278" y="5612110"/>
            <a:ext cx="5642789" cy="34290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5B5B5B"/>
                </a:solidFill>
                <a:latin typeface="Helvetica" pitchFamily="34" charset="0"/>
                <a:ea typeface="Helvetica" pitchFamily="34" charset="-122"/>
                <a:cs typeface="Helvetica" pitchFamily="34" charset="-120"/>
              </a:rPr>
              <a:t>of rows flagged low-confidence, not deleted</a:t>
            </a:r>
            <a:endParaRPr lang="en-US" sz="2100" dirty="0"/>
          </a:p>
        </p:txBody>
      </p:sp>
      <p:sp>
        <p:nvSpPr>
          <p:cNvPr id="7" name="Text 5"/>
          <p:cNvSpPr/>
          <p:nvPr/>
        </p:nvSpPr>
        <p:spPr>
          <a:xfrm>
            <a:off x="1333500" y="6291560"/>
            <a:ext cx="2511762" cy="520700"/>
          </a:xfrm>
          <a:prstGeom prst="rect">
            <a:avLst/>
          </a:prstGeom>
          <a:noFill/>
          <a:ln/>
        </p:spPr>
        <p:txBody>
          <a:bodyPr wrap="square" lIns="25400" tIns="25400" rIns="25400" bIns="25400" rtlCol="0" anchor="t">
            <a:normAutofit lnSpcReduction="10000"/>
          </a:bodyPr>
          <a:lstStyle/>
          <a:p>
            <a:pPr marL="0" indent="0" algn="l">
              <a:buNone/>
            </a:pPr>
            <a:r>
              <a:rPr lang="en-US" sz="3300" b="1" dirty="0">
                <a:solidFill>
                  <a:srgbClr val="B3261A"/>
                </a:solidFill>
                <a:latin typeface="Helvetica" pitchFamily="34" charset="0"/>
                <a:ea typeface="Helvetica" pitchFamily="34" charset="-122"/>
                <a:cs typeface="Helvetica" pitchFamily="34" charset="-120"/>
              </a:rPr>
              <a:t>25/26 → 1/2</a:t>
            </a:r>
            <a:endParaRPr lang="en-US" sz="3300" dirty="0"/>
          </a:p>
        </p:txBody>
      </p:sp>
      <p:sp>
        <p:nvSpPr>
          <p:cNvPr id="8" name="Text 6"/>
          <p:cNvSpPr/>
          <p:nvPr/>
        </p:nvSpPr>
        <p:spPr>
          <a:xfrm>
            <a:off x="3807421" y="6437611"/>
            <a:ext cx="4386798" cy="34290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5B5B5B"/>
                </a:solidFill>
                <a:latin typeface="Helvetica" pitchFamily="34" charset="0"/>
                <a:ea typeface="Helvetica" pitchFamily="34" charset="-122"/>
                <a:cs typeface="Helvetica" pitchFamily="34" charset="-120"/>
              </a:rPr>
              <a:t>hours remapped to midnight–2am</a:t>
            </a:r>
            <a:endParaRPr lang="en-US" sz="2100" dirty="0"/>
          </a:p>
        </p:txBody>
      </p:sp>
      <p:sp>
        <p:nvSpPr>
          <p:cNvPr id="9" name="TextBox 8">
            <a:extLst>
              <a:ext uri="{FF2B5EF4-FFF2-40B4-BE49-F238E27FC236}">
                <a16:creationId xmlns:a16="http://schemas.microsoft.com/office/drawing/2014/main" id="{EB136335-B603-574B-44D6-2D17F17C90E8}"/>
              </a:ext>
            </a:extLst>
          </p:cNvPr>
          <p:cNvSpPr txBox="1"/>
          <p:nvPr/>
        </p:nvSpPr>
        <p:spPr>
          <a:xfrm>
            <a:off x="1635617" y="8345510"/>
            <a:ext cx="8731878" cy="369332"/>
          </a:xfrm>
          <a:prstGeom prst="rect">
            <a:avLst/>
          </a:prstGeom>
          <a:noFill/>
        </p:spPr>
        <p:txBody>
          <a:bodyPr wrap="none" rtlCol="0">
            <a:spAutoFit/>
          </a:bodyPr>
          <a:lstStyle/>
          <a:p>
            <a:r>
              <a:rPr lang="he-IL" dirty="0"/>
              <a:t>Note: raw data has no blockage flag — closures must be inferred from route variants.</a:t>
            </a:r>
            <a:endParaRPr lang="en-IL"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33500" y="952500"/>
            <a:ext cx="17183100" cy="632420"/>
          </a:xfrm>
          <a:prstGeom prst="rect">
            <a:avLst/>
          </a:prstGeom>
          <a:noFill/>
          <a:ln/>
        </p:spPr>
        <p:txBody>
          <a:bodyPr wrap="square" lIns="25400" tIns="25400" rIns="25400" bIns="25400" rtlCol="0" anchor="t">
            <a:normAutofit lnSpcReduction="10000"/>
          </a:bodyPr>
          <a:lstStyle/>
          <a:p>
            <a:pPr marL="0" indent="0" algn="l">
              <a:lnSpc>
                <a:spcPct val="102857"/>
              </a:lnSpc>
              <a:buNone/>
            </a:pPr>
            <a:r>
              <a:rPr lang="en-US" sz="3900" b="1" dirty="0">
                <a:solidFill>
                  <a:srgbClr val="161616"/>
                </a:solidFill>
                <a:latin typeface="Helvetica" pitchFamily="34" charset="0"/>
                <a:ea typeface="Helvetica" pitchFamily="34" charset="-122"/>
                <a:cs typeface="Helvetica" pitchFamily="34" charset="-120"/>
              </a:rPr>
              <a:t>A minority of trips skip stops on Aza St.</a:t>
            </a:r>
            <a:endParaRPr lang="en-US" sz="3900" dirty="0"/>
          </a:p>
        </p:txBody>
      </p:sp>
      <p:sp>
        <p:nvSpPr>
          <p:cNvPr id="3" name="Text 1"/>
          <p:cNvSpPr/>
          <p:nvPr/>
        </p:nvSpPr>
        <p:spPr>
          <a:xfrm>
            <a:off x="1333500" y="1775420"/>
            <a:ext cx="17183100" cy="31750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5B5B5B"/>
                </a:solidFill>
                <a:latin typeface="Helvetica" pitchFamily="34" charset="0"/>
                <a:ea typeface="Helvetica" pitchFamily="34" charset="-122"/>
                <a:cs typeface="Helvetica" pitchFamily="34" charset="-120"/>
              </a:rPr>
              <a:t>Each line has a reference route — its most common path.</a:t>
            </a:r>
            <a:endParaRPr lang="en-US" sz="1950" dirty="0"/>
          </a:p>
        </p:txBody>
      </p:sp>
      <p:sp>
        <p:nvSpPr>
          <p:cNvPr id="4" name="Text 2"/>
          <p:cNvSpPr/>
          <p:nvPr/>
        </p:nvSpPr>
        <p:spPr>
          <a:xfrm>
            <a:off x="1333500" y="2131020"/>
            <a:ext cx="17183100" cy="31750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5B5B5B"/>
                </a:solidFill>
                <a:latin typeface="Helvetica" pitchFamily="34" charset="0"/>
                <a:ea typeface="Helvetica" pitchFamily="34" charset="-122"/>
                <a:cs typeface="Helvetica" pitchFamily="34" charset="-120"/>
              </a:rPr>
              <a:t>A minority of trips skip a segment of stops.</a:t>
            </a:r>
            <a:endParaRPr lang="en-US" sz="1950" dirty="0"/>
          </a:p>
        </p:txBody>
      </p:sp>
      <p:sp>
        <p:nvSpPr>
          <p:cNvPr id="5" name="Text 3"/>
          <p:cNvSpPr/>
          <p:nvPr/>
        </p:nvSpPr>
        <p:spPr>
          <a:xfrm>
            <a:off x="1333500" y="2486620"/>
            <a:ext cx="17183100" cy="31750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5B5B5B"/>
                </a:solidFill>
                <a:latin typeface="Helvetica" pitchFamily="34" charset="0"/>
                <a:ea typeface="Helvetica" pitchFamily="34" charset="-122"/>
                <a:cs typeface="Helvetica" pitchFamily="34" charset="-120"/>
              </a:rPr>
              <a:t>These are the line's route "variants."</a:t>
            </a:r>
            <a:endParaRPr lang="en-US" sz="1950" dirty="0"/>
          </a:p>
        </p:txBody>
      </p:sp>
      <p:sp>
        <p:nvSpPr>
          <p:cNvPr id="6" name="Shape 4"/>
          <p:cNvSpPr/>
          <p:nvPr/>
        </p:nvSpPr>
        <p:spPr>
          <a:xfrm>
            <a:off x="5407125" y="3793610"/>
            <a:ext cx="7473653" cy="5715000"/>
          </a:xfrm>
          <a:prstGeom prst="roundRect">
            <a:avLst>
              <a:gd name="adj" fmla="val 1333"/>
            </a:avLst>
          </a:prstGeom>
          <a:solidFill>
            <a:srgbClr val="FFFFFF"/>
          </a:solidFill>
          <a:ln w="6350">
            <a:solidFill>
              <a:srgbClr val="E5E2DD"/>
            </a:solidFill>
            <a:prstDash val="solid"/>
          </a:ln>
          <a:effectLst>
            <a:outerShdw blurRad="190500" dist="19050" dir="5400000" algn="bl" rotWithShape="0">
              <a:srgbClr val="000000">
                <a:alpha val="6000"/>
              </a:srgbClr>
            </a:outerShdw>
          </a:effectLst>
        </p:spPr>
        <p:txBody>
          <a:bodyPr/>
          <a:lstStyle/>
          <a:p>
            <a:endParaRPr lang="en-IL"/>
          </a:p>
        </p:txBody>
      </p:sp>
      <p:sp>
        <p:nvSpPr>
          <p:cNvPr id="8" name="Text 5"/>
          <p:cNvSpPr/>
          <p:nvPr/>
        </p:nvSpPr>
        <p:spPr>
          <a:xfrm>
            <a:off x="5883573" y="9341910"/>
            <a:ext cx="7172831" cy="29845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6" dirty="0">
                <a:solidFill>
                  <a:srgbClr val="9A9A9A"/>
                </a:solidFill>
                <a:latin typeface="Courier New" pitchFamily="34" charset="0"/>
                <a:ea typeface="Courier New" pitchFamily="34" charset="-122"/>
                <a:cs typeface="Courier New" pitchFamily="34" charset="-120"/>
              </a:rPr>
              <a:t>FIGURE 2 — SKIPPED STOPS ON THE AZA ST. DETOUR</a:t>
            </a:r>
            <a:endParaRPr lang="en-US" sz="1800" dirty="0"/>
          </a:p>
        </p:txBody>
      </p:sp>
      <p:graphicFrame>
        <p:nvGraphicFramePr>
          <p:cNvPr id="9" name="Table 8">
            <a:extLst>
              <a:ext uri="{FF2B5EF4-FFF2-40B4-BE49-F238E27FC236}">
                <a16:creationId xmlns:a16="http://schemas.microsoft.com/office/drawing/2014/main" id="{3C5394CB-2E37-BDE5-C36F-DA9DC0B367EF}"/>
              </a:ext>
            </a:extLst>
          </p:cNvPr>
          <p:cNvGraphicFramePr>
            <a:graphicFrameLocks noGrp="1"/>
          </p:cNvGraphicFramePr>
          <p:nvPr>
            <p:extLst>
              <p:ext uri="{D42A27DB-BD31-4B8C-83A1-F6EECF244321}">
                <p14:modId xmlns:p14="http://schemas.microsoft.com/office/powerpoint/2010/main" val="2114204182"/>
              </p:ext>
            </p:extLst>
          </p:nvPr>
        </p:nvGraphicFramePr>
        <p:xfrm>
          <a:off x="11432969" y="442448"/>
          <a:ext cx="5725160" cy="2044172"/>
        </p:xfrm>
        <a:graphic>
          <a:graphicData uri="http://schemas.openxmlformats.org/drawingml/2006/table">
            <a:tbl>
              <a:tblPr rtl="1" firstRow="1" firstCol="1" bandRow="1">
                <a:tableStyleId>{5C22544A-7EE6-4342-B048-85BDC9FD1C3A}</a:tableStyleId>
              </a:tblPr>
              <a:tblGrid>
                <a:gridCol w="1144905">
                  <a:extLst>
                    <a:ext uri="{9D8B030D-6E8A-4147-A177-3AD203B41FA5}">
                      <a16:colId xmlns:a16="http://schemas.microsoft.com/office/drawing/2014/main" val="2054321146"/>
                    </a:ext>
                  </a:extLst>
                </a:gridCol>
                <a:gridCol w="1144905">
                  <a:extLst>
                    <a:ext uri="{9D8B030D-6E8A-4147-A177-3AD203B41FA5}">
                      <a16:colId xmlns:a16="http://schemas.microsoft.com/office/drawing/2014/main" val="117907787"/>
                    </a:ext>
                  </a:extLst>
                </a:gridCol>
                <a:gridCol w="1144905">
                  <a:extLst>
                    <a:ext uri="{9D8B030D-6E8A-4147-A177-3AD203B41FA5}">
                      <a16:colId xmlns:a16="http://schemas.microsoft.com/office/drawing/2014/main" val="765441857"/>
                    </a:ext>
                  </a:extLst>
                </a:gridCol>
                <a:gridCol w="1144905">
                  <a:extLst>
                    <a:ext uri="{9D8B030D-6E8A-4147-A177-3AD203B41FA5}">
                      <a16:colId xmlns:a16="http://schemas.microsoft.com/office/drawing/2014/main" val="2332609061"/>
                    </a:ext>
                  </a:extLst>
                </a:gridCol>
                <a:gridCol w="1145540">
                  <a:extLst>
                    <a:ext uri="{9D8B030D-6E8A-4147-A177-3AD203B41FA5}">
                      <a16:colId xmlns:a16="http://schemas.microsoft.com/office/drawing/2014/main" val="1464218784"/>
                    </a:ext>
                  </a:extLst>
                </a:gridCol>
              </a:tblGrid>
              <a:tr h="1436159">
                <a:tc>
                  <a:txBody>
                    <a:bodyPr/>
                    <a:lstStyle/>
                    <a:p>
                      <a:pPr marR="3175" algn="r" rtl="0">
                        <a:lnSpc>
                          <a:spcPct val="115000"/>
                        </a:lnSpc>
                        <a:spcAft>
                          <a:spcPts val="800"/>
                        </a:spcAft>
                        <a:buNone/>
                      </a:pPr>
                      <a:r>
                        <a:rPr lang="en-IL" sz="1200" kern="100" dirty="0" err="1">
                          <a:effectLst/>
                        </a:rPr>
                        <a:t>stop_sequence</a:t>
                      </a:r>
                      <a:endParaRPr lang="en-IL" sz="12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R="3175" algn="r" rtl="0">
                        <a:lnSpc>
                          <a:spcPct val="115000"/>
                        </a:lnSpc>
                        <a:spcAft>
                          <a:spcPts val="800"/>
                        </a:spcAft>
                        <a:buNone/>
                      </a:pPr>
                      <a:r>
                        <a:rPr lang="en-IL" sz="1200" kern="100">
                          <a:effectLst/>
                        </a:rPr>
                        <a:t>stop_name</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R="3175" algn="r" rtl="0">
                        <a:lnSpc>
                          <a:spcPct val="115000"/>
                        </a:lnSpc>
                        <a:spcAft>
                          <a:spcPts val="800"/>
                        </a:spcAft>
                        <a:buNone/>
                      </a:pPr>
                      <a:r>
                        <a:rPr lang="en-IL" sz="1200" kern="100">
                          <a:effectLst/>
                        </a:rPr>
                        <a:t>n_observations</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R="3175" algn="r" rtl="0">
                        <a:lnSpc>
                          <a:spcPct val="115000"/>
                        </a:lnSpc>
                        <a:spcAft>
                          <a:spcPts val="800"/>
                        </a:spcAft>
                        <a:buNone/>
                      </a:pPr>
                      <a:r>
                        <a:rPr lang="en-IL" sz="1200" kern="100">
                          <a:effectLst/>
                        </a:rPr>
                        <a:t>cumulative_time (min)</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R="3175" algn="r" rtl="0">
                        <a:lnSpc>
                          <a:spcPct val="115000"/>
                        </a:lnSpc>
                        <a:spcAft>
                          <a:spcPts val="800"/>
                        </a:spcAft>
                        <a:buNone/>
                      </a:pPr>
                      <a:r>
                        <a:rPr lang="en-IL" sz="1200" kern="100">
                          <a:effectLst/>
                        </a:rPr>
                        <a:t>cumulative_distance (m)</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88226296"/>
                  </a:ext>
                </a:extLst>
              </a:tr>
              <a:tr h="173990">
                <a:tc>
                  <a:txBody>
                    <a:bodyPr/>
                    <a:lstStyle/>
                    <a:p>
                      <a:pPr marR="3175" algn="r" rtl="0">
                        <a:lnSpc>
                          <a:spcPct val="115000"/>
                        </a:lnSpc>
                        <a:spcAft>
                          <a:spcPts val="800"/>
                        </a:spcAft>
                        <a:buNone/>
                      </a:pPr>
                      <a:r>
                        <a:rPr lang="en-IL" sz="1200" kern="100">
                          <a:effectLst/>
                        </a:rPr>
                        <a:t>16</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R="3175" algn="r" rtl="0">
                        <a:lnSpc>
                          <a:spcPct val="115000"/>
                        </a:lnSpc>
                        <a:spcAft>
                          <a:spcPts val="800"/>
                        </a:spcAft>
                        <a:buNone/>
                      </a:pPr>
                      <a:r>
                        <a:rPr lang="he-IL" sz="1200" kern="100">
                          <a:effectLst/>
                        </a:rPr>
                        <a:t>Herzog/Tchernichovsky</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R="3175" algn="r" rtl="0">
                        <a:lnSpc>
                          <a:spcPct val="115000"/>
                        </a:lnSpc>
                        <a:spcAft>
                          <a:spcPts val="800"/>
                        </a:spcAft>
                        <a:buNone/>
                      </a:pPr>
                      <a:r>
                        <a:rPr lang="en-IL" sz="1200" kern="100">
                          <a:effectLst/>
                        </a:rPr>
                        <a:t>7</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R="3175" algn="r" rtl="0">
                        <a:lnSpc>
                          <a:spcPct val="115000"/>
                        </a:lnSpc>
                        <a:spcAft>
                          <a:spcPts val="800"/>
                        </a:spcAft>
                        <a:buNone/>
                      </a:pPr>
                      <a:r>
                        <a:rPr lang="en-IL" sz="1200" kern="100">
                          <a:effectLst/>
                        </a:rPr>
                        <a:t>21.11</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R="3175" algn="r" rtl="0">
                        <a:lnSpc>
                          <a:spcPct val="115000"/>
                        </a:lnSpc>
                        <a:spcAft>
                          <a:spcPts val="800"/>
                        </a:spcAft>
                        <a:buNone/>
                      </a:pPr>
                      <a:r>
                        <a:rPr lang="en-IL" sz="1200" kern="100">
                          <a:effectLst/>
                        </a:rPr>
                        <a:t>8,249</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872474619"/>
                  </a:ext>
                </a:extLst>
              </a:tr>
              <a:tr h="0">
                <a:tc>
                  <a:txBody>
                    <a:bodyPr/>
                    <a:lstStyle/>
                    <a:p>
                      <a:pPr marR="3175" algn="r" rtl="0">
                        <a:lnSpc>
                          <a:spcPct val="115000"/>
                        </a:lnSpc>
                        <a:spcAft>
                          <a:spcPts val="800"/>
                        </a:spcAft>
                        <a:buNone/>
                      </a:pPr>
                      <a:r>
                        <a:rPr lang="en-IL" sz="1200" kern="100">
                          <a:effectLst/>
                        </a:rPr>
                        <a:t>23</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R="3175" algn="r" rtl="0">
                        <a:lnSpc>
                          <a:spcPct val="115000"/>
                        </a:lnSpc>
                        <a:spcAft>
                          <a:spcPts val="800"/>
                        </a:spcAft>
                        <a:buNone/>
                      </a:pPr>
                      <a:r>
                        <a:rPr lang="he-IL" sz="1200" kern="100">
                          <a:effectLst/>
                        </a:rPr>
                        <a:t>Ussishkin/Bezalel</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R="3175" algn="r" rtl="0">
                        <a:lnSpc>
                          <a:spcPct val="115000"/>
                        </a:lnSpc>
                        <a:spcAft>
                          <a:spcPts val="800"/>
                        </a:spcAft>
                        <a:buNone/>
                      </a:pPr>
                      <a:r>
                        <a:rPr lang="en-IL" sz="1200" kern="100">
                          <a:effectLst/>
                        </a:rPr>
                        <a:t>7</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R="3175" algn="r" rtl="0">
                        <a:lnSpc>
                          <a:spcPct val="115000"/>
                        </a:lnSpc>
                        <a:spcAft>
                          <a:spcPts val="800"/>
                        </a:spcAft>
                        <a:buNone/>
                      </a:pPr>
                      <a:r>
                        <a:rPr lang="en-IL" sz="1200" kern="100">
                          <a:effectLst/>
                        </a:rPr>
                        <a:t>25.94</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R="3175" algn="r" rtl="0">
                        <a:lnSpc>
                          <a:spcPct val="115000"/>
                        </a:lnSpc>
                        <a:spcAft>
                          <a:spcPts val="800"/>
                        </a:spcAft>
                        <a:buNone/>
                      </a:pPr>
                      <a:r>
                        <a:rPr lang="en-IL" sz="1200" kern="100" dirty="0">
                          <a:effectLst/>
                        </a:rPr>
                        <a:t>8,453</a:t>
                      </a:r>
                      <a:endParaRPr lang="en-IL" sz="12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741969211"/>
                  </a:ext>
                </a:extLst>
              </a:tr>
            </a:tbl>
          </a:graphicData>
        </a:graphic>
      </p:graphicFrame>
      <p:sp>
        <p:nvSpPr>
          <p:cNvPr id="10" name="TextBox 9">
            <a:extLst>
              <a:ext uri="{FF2B5EF4-FFF2-40B4-BE49-F238E27FC236}">
                <a16:creationId xmlns:a16="http://schemas.microsoft.com/office/drawing/2014/main" id="{70B9E8F8-E200-E3EF-C946-AE24ADEF8113}"/>
              </a:ext>
            </a:extLst>
          </p:cNvPr>
          <p:cNvSpPr txBox="1"/>
          <p:nvPr/>
        </p:nvSpPr>
        <p:spPr>
          <a:xfrm>
            <a:off x="1536562" y="9740360"/>
            <a:ext cx="7204216" cy="369332"/>
          </a:xfrm>
          <a:prstGeom prst="rect">
            <a:avLst/>
          </a:prstGeom>
          <a:noFill/>
        </p:spPr>
        <p:txBody>
          <a:bodyPr wrap="none" rtlCol="0">
            <a:spAutoFit/>
          </a:bodyPr>
          <a:lstStyle/>
          <a:p>
            <a:r>
              <a:rPr lang="he-IL" dirty="0"/>
              <a:t>Line 22B always completes the full route — excluded from this analysis.</a:t>
            </a:r>
            <a:endParaRPr lang="en-IL" dirty="0"/>
          </a:p>
        </p:txBody>
      </p:sp>
      <p:pic>
        <p:nvPicPr>
          <p:cNvPr id="11" name="תמונה 1">
            <a:extLst>
              <a:ext uri="{FF2B5EF4-FFF2-40B4-BE49-F238E27FC236}">
                <a16:creationId xmlns:a16="http://schemas.microsoft.com/office/drawing/2014/main" id="{420F8CF0-6C77-780B-2ACA-7C3548F3E25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42649" y="2954120"/>
            <a:ext cx="7934152" cy="628779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33500" y="3376315"/>
            <a:ext cx="15716250" cy="632420"/>
          </a:xfrm>
          <a:prstGeom prst="rect">
            <a:avLst/>
          </a:prstGeom>
          <a:noFill/>
          <a:ln/>
        </p:spPr>
        <p:txBody>
          <a:bodyPr wrap="square" lIns="25400" tIns="25400" rIns="25400" bIns="25400" rtlCol="0" anchor="t">
            <a:normAutofit lnSpcReduction="10000"/>
          </a:bodyPr>
          <a:lstStyle/>
          <a:p>
            <a:pPr marL="0" indent="0" algn="l">
              <a:lnSpc>
                <a:spcPct val="102857"/>
              </a:lnSpc>
              <a:buNone/>
            </a:pPr>
            <a:r>
              <a:rPr lang="en-US" sz="3900" b="1" dirty="0">
                <a:solidFill>
                  <a:srgbClr val="161616"/>
                </a:solidFill>
                <a:latin typeface="Helvetica" pitchFamily="34" charset="0"/>
                <a:ea typeface="Helvetica" pitchFamily="34" charset="-122"/>
                <a:cs typeface="Helvetica" pitchFamily="34" charset="-120"/>
              </a:rPr>
              <a:t>How can a resident know the safest way out?</a:t>
            </a:r>
            <a:endParaRPr lang="en-US" sz="3900" dirty="0"/>
          </a:p>
        </p:txBody>
      </p:sp>
      <p:sp>
        <p:nvSpPr>
          <p:cNvPr id="3" name="Text 1"/>
          <p:cNvSpPr/>
          <p:nvPr/>
        </p:nvSpPr>
        <p:spPr>
          <a:xfrm>
            <a:off x="1333500" y="4313535"/>
            <a:ext cx="14668500" cy="3683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5B5B5B"/>
                </a:solidFill>
                <a:latin typeface="Helvetica" pitchFamily="34" charset="0"/>
                <a:ea typeface="Helvetica" pitchFamily="34" charset="-122"/>
                <a:cs typeface="Helvetica" pitchFamily="34" charset="-120"/>
              </a:rPr>
              <a:t>Main question: the most reliable way to leave by bus, given road blockages.</a:t>
            </a:r>
            <a:endParaRPr lang="en-US" sz="2250" dirty="0"/>
          </a:p>
        </p:txBody>
      </p:sp>
      <p:sp>
        <p:nvSpPr>
          <p:cNvPr id="4" name="Text 2"/>
          <p:cNvSpPr/>
          <p:nvPr/>
        </p:nvSpPr>
        <p:spPr>
          <a:xfrm>
            <a:off x="1333500" y="5177135"/>
            <a:ext cx="609600" cy="41275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B3261A"/>
                </a:solidFill>
                <a:latin typeface="Helvetica" pitchFamily="34" charset="0"/>
                <a:ea typeface="Helvetica" pitchFamily="34" charset="-122"/>
                <a:cs typeface="Helvetica" pitchFamily="34" charset="-120"/>
              </a:rPr>
              <a:t>1</a:t>
            </a:r>
            <a:endParaRPr lang="en-US" sz="2550" dirty="0"/>
          </a:p>
        </p:txBody>
      </p:sp>
      <p:sp>
        <p:nvSpPr>
          <p:cNvPr id="5" name="Text 3"/>
          <p:cNvSpPr/>
          <p:nvPr/>
        </p:nvSpPr>
        <p:spPr>
          <a:xfrm>
            <a:off x="2133600" y="5196185"/>
            <a:ext cx="8350131" cy="387350"/>
          </a:xfrm>
          <a:prstGeom prst="rect">
            <a:avLst/>
          </a:prstGeom>
          <a:noFill/>
          <a:ln/>
        </p:spPr>
        <p:txBody>
          <a:bodyPr wrap="square" lIns="25400" tIns="25400" rIns="25400" bIns="25400" rtlCol="0" anchor="t">
            <a:normAutofit lnSpcReduction="10000"/>
          </a:bodyPr>
          <a:lstStyle/>
          <a:p>
            <a:pPr marL="0" indent="0" algn="l">
              <a:buNone/>
            </a:pPr>
            <a:r>
              <a:rPr lang="en-US" sz="2400" dirty="0">
                <a:solidFill>
                  <a:srgbClr val="161616"/>
                </a:solidFill>
                <a:latin typeface="Helvetica" pitchFamily="34" charset="0"/>
                <a:ea typeface="Helvetica" pitchFamily="34" charset="-122"/>
                <a:cs typeface="Helvetica" pitchFamily="34" charset="-120"/>
              </a:rPr>
              <a:t>When and how often do blockages occur on Aza Street?</a:t>
            </a:r>
            <a:endParaRPr lang="en-US" sz="2400" dirty="0"/>
          </a:p>
        </p:txBody>
      </p:sp>
      <p:sp>
        <p:nvSpPr>
          <p:cNvPr id="6" name="Text 4"/>
          <p:cNvSpPr/>
          <p:nvPr/>
        </p:nvSpPr>
        <p:spPr>
          <a:xfrm>
            <a:off x="1333500" y="5856586"/>
            <a:ext cx="609600" cy="41275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B3261A"/>
                </a:solidFill>
                <a:latin typeface="Helvetica" pitchFamily="34" charset="0"/>
                <a:ea typeface="Helvetica" pitchFamily="34" charset="-122"/>
                <a:cs typeface="Helvetica" pitchFamily="34" charset="-120"/>
              </a:rPr>
              <a:t>2</a:t>
            </a:r>
            <a:endParaRPr lang="en-US" sz="2550" dirty="0"/>
          </a:p>
        </p:txBody>
      </p:sp>
      <p:sp>
        <p:nvSpPr>
          <p:cNvPr id="7" name="Text 5"/>
          <p:cNvSpPr/>
          <p:nvPr/>
        </p:nvSpPr>
        <p:spPr>
          <a:xfrm>
            <a:off x="2133600" y="5875636"/>
            <a:ext cx="7156460" cy="387350"/>
          </a:xfrm>
          <a:prstGeom prst="rect">
            <a:avLst/>
          </a:prstGeom>
          <a:noFill/>
          <a:ln/>
        </p:spPr>
        <p:txBody>
          <a:bodyPr wrap="square" lIns="25400" tIns="25400" rIns="25400" bIns="25400" rtlCol="0" anchor="t">
            <a:normAutofit lnSpcReduction="10000"/>
          </a:bodyPr>
          <a:lstStyle/>
          <a:p>
            <a:pPr marL="0" indent="0" algn="l">
              <a:buNone/>
            </a:pPr>
            <a:r>
              <a:rPr lang="en-US" sz="2400" dirty="0">
                <a:solidFill>
                  <a:srgbClr val="161616"/>
                </a:solidFill>
                <a:latin typeface="Helvetica" pitchFamily="34" charset="0"/>
                <a:ea typeface="Helvetica" pitchFamily="34" charset="-122"/>
                <a:cs typeface="Helvetica" pitchFamily="34" charset="-120"/>
              </a:rPr>
              <a:t>Does the detour make the trip longer or shorter?</a:t>
            </a:r>
            <a:endParaRPr lang="en-US" sz="2400" dirty="0"/>
          </a:p>
        </p:txBody>
      </p:sp>
      <p:sp>
        <p:nvSpPr>
          <p:cNvPr id="8" name="Text 6"/>
          <p:cNvSpPr/>
          <p:nvPr/>
        </p:nvSpPr>
        <p:spPr>
          <a:xfrm>
            <a:off x="1333500" y="6536035"/>
            <a:ext cx="609600" cy="41275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B3261A"/>
                </a:solidFill>
                <a:latin typeface="Helvetica" pitchFamily="34" charset="0"/>
                <a:ea typeface="Helvetica" pitchFamily="34" charset="-122"/>
                <a:cs typeface="Helvetica" pitchFamily="34" charset="-120"/>
              </a:rPr>
              <a:t>3</a:t>
            </a:r>
            <a:endParaRPr lang="en-US" sz="2550" dirty="0"/>
          </a:p>
        </p:txBody>
      </p:sp>
      <p:sp>
        <p:nvSpPr>
          <p:cNvPr id="9" name="Text 7"/>
          <p:cNvSpPr/>
          <p:nvPr/>
        </p:nvSpPr>
        <p:spPr>
          <a:xfrm>
            <a:off x="2133600" y="6555085"/>
            <a:ext cx="7597825" cy="387350"/>
          </a:xfrm>
          <a:prstGeom prst="rect">
            <a:avLst/>
          </a:prstGeom>
          <a:noFill/>
          <a:ln/>
        </p:spPr>
        <p:txBody>
          <a:bodyPr wrap="square" lIns="25400" tIns="25400" rIns="25400" bIns="25400" rtlCol="0" anchor="t">
            <a:normAutofit lnSpcReduction="10000"/>
          </a:bodyPr>
          <a:lstStyle/>
          <a:p>
            <a:pPr marL="0" indent="0" algn="l">
              <a:buNone/>
            </a:pPr>
            <a:r>
              <a:rPr lang="en-US" sz="2400" dirty="0">
                <a:solidFill>
                  <a:srgbClr val="161616"/>
                </a:solidFill>
                <a:latin typeface="Helvetica" pitchFamily="34" charset="0"/>
                <a:ea typeface="Helvetica" pitchFamily="34" charset="-122"/>
                <a:cs typeface="Helvetica" pitchFamily="34" charset="-120"/>
              </a:rPr>
              <a:t>Do blockages also affect lines that skip Aza Street?</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33500" y="952500"/>
            <a:ext cx="17183100" cy="632420"/>
          </a:xfrm>
          <a:prstGeom prst="rect">
            <a:avLst/>
          </a:prstGeom>
          <a:noFill/>
          <a:ln/>
        </p:spPr>
        <p:txBody>
          <a:bodyPr wrap="square" lIns="25400" tIns="25400" rIns="25400" bIns="25400" rtlCol="0" anchor="t">
            <a:normAutofit lnSpcReduction="10000"/>
          </a:bodyPr>
          <a:lstStyle/>
          <a:p>
            <a:pPr marL="0" indent="0" algn="l">
              <a:lnSpc>
                <a:spcPct val="102857"/>
              </a:lnSpc>
              <a:buNone/>
            </a:pPr>
            <a:r>
              <a:rPr lang="en-US" sz="3900" b="1" dirty="0">
                <a:solidFill>
                  <a:srgbClr val="161616"/>
                </a:solidFill>
                <a:latin typeface="Helvetica" pitchFamily="34" charset="0"/>
                <a:ea typeface="Helvetica" pitchFamily="34" charset="-122"/>
                <a:cs typeface="Helvetica" pitchFamily="34" charset="-120"/>
              </a:rPr>
              <a:t>Route length and time of day both shape travel time</a:t>
            </a:r>
            <a:endParaRPr lang="en-US" sz="3900" dirty="0"/>
          </a:p>
        </p:txBody>
      </p:sp>
      <p:sp>
        <p:nvSpPr>
          <p:cNvPr id="3" name="Text 1"/>
          <p:cNvSpPr/>
          <p:nvPr/>
        </p:nvSpPr>
        <p:spPr>
          <a:xfrm>
            <a:off x="1333500" y="1775420"/>
            <a:ext cx="17183100" cy="31750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5B5B5B"/>
                </a:solidFill>
                <a:latin typeface="Helvetica" pitchFamily="34" charset="0"/>
                <a:ea typeface="Helvetica" pitchFamily="34" charset="-122"/>
                <a:cs typeface="Helvetica" pitchFamily="34" charset="-120"/>
              </a:rPr>
              <a:t>Longer routes take longer: Line 9 ~20 km/90 min, Line 97 ~10 km/44 min.</a:t>
            </a:r>
            <a:endParaRPr lang="en-US" sz="1950" dirty="0"/>
          </a:p>
        </p:txBody>
      </p:sp>
      <p:sp>
        <p:nvSpPr>
          <p:cNvPr id="4" name="Text 2"/>
          <p:cNvSpPr/>
          <p:nvPr/>
        </p:nvSpPr>
        <p:spPr>
          <a:xfrm>
            <a:off x="1333500" y="2131020"/>
            <a:ext cx="17183100" cy="31750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5B5B5B"/>
                </a:solidFill>
                <a:latin typeface="Helvetica" pitchFamily="34" charset="0"/>
                <a:ea typeface="Helvetica" pitchFamily="34" charset="-122"/>
                <a:cs typeface="Helvetica" pitchFamily="34" charset="-120"/>
              </a:rPr>
              <a:t>All seven lines share one daily rhythm — rising, peaking at midday, dropping by evening.</a:t>
            </a:r>
            <a:endParaRPr lang="en-US" sz="1950" dirty="0"/>
          </a:p>
        </p:txBody>
      </p:sp>
      <p:sp>
        <p:nvSpPr>
          <p:cNvPr id="6" name="Shape 4"/>
          <p:cNvSpPr/>
          <p:nvPr/>
        </p:nvSpPr>
        <p:spPr>
          <a:xfrm>
            <a:off x="1333500" y="3100000"/>
            <a:ext cx="7610500" cy="4438905"/>
          </a:xfrm>
          <a:prstGeom prst="roundRect">
            <a:avLst>
              <a:gd name="adj" fmla="val 1290"/>
            </a:avLst>
          </a:prstGeom>
          <a:solidFill>
            <a:srgbClr val="FFFFFF"/>
          </a:solidFill>
          <a:ln w="6350">
            <a:solidFill>
              <a:srgbClr val="E5E2DD"/>
            </a:solidFill>
            <a:prstDash val="solid"/>
          </a:ln>
          <a:effectLst>
            <a:outerShdw blurRad="190500" dist="19050" dir="5400000" algn="bl" rotWithShape="0">
              <a:srgbClr val="000000">
                <a:alpha val="6000"/>
              </a:srgbClr>
            </a:outerShdw>
          </a:effectLst>
        </p:spPr>
        <p:txBody>
          <a:bodyPr/>
          <a:lstStyle/>
          <a:p>
            <a:endParaRPr lang="en-IL"/>
          </a:p>
        </p:txBody>
      </p:sp>
      <p:pic>
        <p:nvPicPr>
          <p:cNvPr id="7" name="Image 0" descr="preencoded.png"/>
          <p:cNvPicPr>
            <a:picLocks noChangeAspect="1"/>
          </p:cNvPicPr>
          <p:nvPr/>
        </p:nvPicPr>
        <p:blipFill>
          <a:blip r:embed="rId3"/>
          <a:srcRect t="-1489" b="-1489"/>
          <a:stretch/>
        </p:blipFill>
        <p:spPr>
          <a:xfrm>
            <a:off x="1333500" y="3100000"/>
            <a:ext cx="7610500" cy="4438905"/>
          </a:xfrm>
          <a:prstGeom prst="rect">
            <a:avLst/>
          </a:prstGeom>
        </p:spPr>
      </p:pic>
      <p:sp>
        <p:nvSpPr>
          <p:cNvPr id="8" name="Text 5"/>
          <p:cNvSpPr/>
          <p:nvPr/>
        </p:nvSpPr>
        <p:spPr>
          <a:xfrm>
            <a:off x="1864204" y="7672255"/>
            <a:ext cx="6549092" cy="29845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6" dirty="0">
                <a:solidFill>
                  <a:srgbClr val="9A9A9A"/>
                </a:solidFill>
                <a:latin typeface="Courier New" pitchFamily="34" charset="0"/>
                <a:ea typeface="Courier New" pitchFamily="34" charset="-122"/>
                <a:cs typeface="Courier New" pitchFamily="34" charset="-120"/>
              </a:rPr>
              <a:t>FIGURE 3A — BASELINE TRIP DURATION BY LINE</a:t>
            </a:r>
            <a:endParaRPr lang="en-US" sz="1800" dirty="0"/>
          </a:p>
        </p:txBody>
      </p:sp>
      <p:sp>
        <p:nvSpPr>
          <p:cNvPr id="12" name="Shape 4b"/>
          <p:cNvSpPr/>
          <p:nvPr/>
        </p:nvSpPr>
        <p:spPr>
          <a:xfrm>
            <a:off x="9541558" y="3100000"/>
            <a:ext cx="7215384" cy="4438905"/>
          </a:xfrm>
          <a:prstGeom prst="roundRect">
            <a:avLst>
              <a:gd name="adj" fmla="val 1290"/>
            </a:avLst>
          </a:prstGeom>
          <a:solidFill>
            <a:srgbClr val="FFFFFF"/>
          </a:solidFill>
          <a:ln w="6350">
            <a:solidFill>
              <a:srgbClr val="E5E2DD"/>
            </a:solidFill>
            <a:prstDash val="solid"/>
          </a:ln>
          <a:effectLst>
            <a:outerShdw blurRad="190500" dist="19050" dir="5400000" algn="bl" rotWithShape="0">
              <a:srgbClr val="000000">
                <a:alpha val="6000"/>
              </a:srgbClr>
            </a:outerShdw>
          </a:effectLst>
        </p:spPr>
        <p:txBody>
          <a:bodyPr/>
          <a:lstStyle/>
          <a:p>
            <a:endParaRPr lang="en-IL"/>
          </a:p>
        </p:txBody>
      </p:sp>
      <p:pic>
        <p:nvPicPr>
          <p:cNvPr id="13" name="Image 0b" descr="preencoded.png"/>
          <p:cNvPicPr>
            <a:picLocks noChangeAspect="1"/>
          </p:cNvPicPr>
          <p:nvPr/>
        </p:nvPicPr>
        <p:blipFill>
          <a:blip r:embed="rId4"/>
          <a:srcRect t="-1374" b="-1374"/>
          <a:stretch/>
        </p:blipFill>
        <p:spPr>
          <a:xfrm>
            <a:off x="9541558" y="3100000"/>
            <a:ext cx="7215384" cy="4438905"/>
          </a:xfrm>
          <a:prstGeom prst="rect">
            <a:avLst/>
          </a:prstGeom>
        </p:spPr>
      </p:pic>
      <p:sp>
        <p:nvSpPr>
          <p:cNvPr id="14" name="Text 5b"/>
          <p:cNvSpPr/>
          <p:nvPr/>
        </p:nvSpPr>
        <p:spPr>
          <a:xfrm>
            <a:off x="9250965" y="7672255"/>
            <a:ext cx="7796570" cy="29845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6" dirty="0">
                <a:solidFill>
                  <a:srgbClr val="9A9A9A"/>
                </a:solidFill>
                <a:latin typeface="Courier New" pitchFamily="34" charset="0"/>
                <a:ea typeface="Courier New" pitchFamily="34" charset="-122"/>
                <a:cs typeface="Courier New" pitchFamily="34" charset="-120"/>
              </a:rPr>
              <a:t>FIGURE 3B — BASELINE TRAVEL TIME BY DEPARTURE HOUR</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33500" y="952500"/>
            <a:ext cx="17183100" cy="632420"/>
          </a:xfrm>
          <a:prstGeom prst="rect">
            <a:avLst/>
          </a:prstGeom>
          <a:noFill/>
          <a:ln/>
        </p:spPr>
        <p:txBody>
          <a:bodyPr wrap="square" lIns="25400" tIns="25400" rIns="25400" bIns="25400" rtlCol="0" anchor="t">
            <a:normAutofit lnSpcReduction="10000"/>
          </a:bodyPr>
          <a:lstStyle/>
          <a:p>
            <a:pPr marL="0" indent="0" algn="l">
              <a:lnSpc>
                <a:spcPct val="102857"/>
              </a:lnSpc>
              <a:buNone/>
            </a:pPr>
            <a:r>
              <a:rPr lang="en-US" sz="3900" b="1" dirty="0">
                <a:solidFill>
                  <a:srgbClr val="161616"/>
                </a:solidFill>
                <a:latin typeface="Helvetica" pitchFamily="34" charset="0"/>
                <a:ea typeface="Helvetica" pitchFamily="34" charset="-122"/>
                <a:cs typeface="Helvetica" pitchFamily="34" charset="-120"/>
              </a:rPr>
              <a:t>Blockages spike hard on Saturday nights</a:t>
            </a:r>
            <a:endParaRPr lang="en-US" sz="3900" dirty="0"/>
          </a:p>
        </p:txBody>
      </p:sp>
      <p:sp>
        <p:nvSpPr>
          <p:cNvPr id="3" name="Text 1"/>
          <p:cNvSpPr/>
          <p:nvPr/>
        </p:nvSpPr>
        <p:spPr>
          <a:xfrm>
            <a:off x="1333500" y="1775420"/>
            <a:ext cx="17183100" cy="31750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5B5B5B"/>
                </a:solidFill>
                <a:latin typeface="Helvetica" pitchFamily="34" charset="0"/>
                <a:ea typeface="Helvetica" pitchFamily="34" charset="-122"/>
                <a:cs typeface="Helvetica" pitchFamily="34" charset="-120"/>
              </a:rPr>
              <a:t>5%–12% of corridor trips detour on an average weekday.</a:t>
            </a:r>
            <a:endParaRPr lang="en-US" sz="1950" dirty="0"/>
          </a:p>
        </p:txBody>
      </p:sp>
      <p:sp>
        <p:nvSpPr>
          <p:cNvPr id="4" name="Text 2"/>
          <p:cNvSpPr/>
          <p:nvPr/>
        </p:nvSpPr>
        <p:spPr>
          <a:xfrm>
            <a:off x="1333500" y="2131020"/>
            <a:ext cx="17183100" cy="31750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5B5B5B"/>
                </a:solidFill>
                <a:latin typeface="Helvetica" pitchFamily="34" charset="0"/>
                <a:ea typeface="Helvetica" pitchFamily="34" charset="-122"/>
                <a:cs typeface="Helvetica" pitchFamily="34" charset="-120"/>
              </a:rPr>
              <a:t>Saturday nights jump to 66%–84%.</a:t>
            </a:r>
            <a:endParaRPr lang="en-US" sz="1950" dirty="0"/>
          </a:p>
        </p:txBody>
      </p:sp>
      <p:sp>
        <p:nvSpPr>
          <p:cNvPr id="5" name="Text 3"/>
          <p:cNvSpPr/>
          <p:nvPr/>
        </p:nvSpPr>
        <p:spPr>
          <a:xfrm>
            <a:off x="1333500" y="2486620"/>
            <a:ext cx="17183100" cy="31750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5B5B5B"/>
                </a:solidFill>
                <a:latin typeface="Helvetica" pitchFamily="34" charset="0"/>
                <a:ea typeface="Helvetica" pitchFamily="34" charset="-122"/>
                <a:cs typeface="Helvetica" pitchFamily="34" charset="-120"/>
              </a:rPr>
              <a:t>Control lines 14/15 stay near 0%.</a:t>
            </a:r>
            <a:endParaRPr lang="en-US" sz="1950" dirty="0"/>
          </a:p>
        </p:txBody>
      </p:sp>
      <p:sp>
        <p:nvSpPr>
          <p:cNvPr id="6" name="Shape 4"/>
          <p:cNvSpPr/>
          <p:nvPr/>
        </p:nvSpPr>
        <p:spPr>
          <a:xfrm>
            <a:off x="3147318" y="3129260"/>
            <a:ext cx="11993364" cy="5715000"/>
          </a:xfrm>
          <a:prstGeom prst="roundRect">
            <a:avLst>
              <a:gd name="adj" fmla="val 1333"/>
            </a:avLst>
          </a:prstGeom>
          <a:solidFill>
            <a:srgbClr val="FFFFFF"/>
          </a:solidFill>
          <a:ln w="6350">
            <a:solidFill>
              <a:srgbClr val="E5E2DD"/>
            </a:solidFill>
            <a:prstDash val="solid"/>
          </a:ln>
          <a:effectLst>
            <a:outerShdw blurRad="190500" dist="19050" dir="5400000" algn="bl" rotWithShape="0">
              <a:srgbClr val="000000">
                <a:alpha val="6000"/>
              </a:srgbClr>
            </a:outerShdw>
          </a:effectLst>
        </p:spPr>
        <p:txBody>
          <a:bodyPr/>
          <a:lstStyle/>
          <a:p>
            <a:endParaRPr lang="en-IL"/>
          </a:p>
        </p:txBody>
      </p:sp>
      <p:pic>
        <p:nvPicPr>
          <p:cNvPr id="7" name="Image 0" descr="preencoded.png"/>
          <p:cNvPicPr>
            <a:picLocks noChangeAspect="1"/>
          </p:cNvPicPr>
          <p:nvPr/>
        </p:nvPicPr>
        <p:blipFill>
          <a:blip r:embed="rId3"/>
          <a:srcRect t="-1937" b="-1937"/>
          <a:stretch/>
        </p:blipFill>
        <p:spPr>
          <a:xfrm>
            <a:off x="3147318" y="3129260"/>
            <a:ext cx="11993364" cy="5715000"/>
          </a:xfrm>
          <a:prstGeom prst="rect">
            <a:avLst/>
          </a:prstGeom>
        </p:spPr>
      </p:pic>
      <p:sp>
        <p:nvSpPr>
          <p:cNvPr id="8" name="Text 5"/>
          <p:cNvSpPr/>
          <p:nvPr/>
        </p:nvSpPr>
        <p:spPr>
          <a:xfrm>
            <a:off x="4749602" y="8977610"/>
            <a:ext cx="9667677" cy="29845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6" dirty="0">
                <a:solidFill>
                  <a:srgbClr val="9A9A9A"/>
                </a:solidFill>
                <a:latin typeface="Courier New" pitchFamily="34" charset="0"/>
                <a:ea typeface="Courier New" pitchFamily="34" charset="-122"/>
                <a:cs typeface="Courier New" pitchFamily="34" charset="-120"/>
              </a:rPr>
              <a:t>TABLE 3 / FIGURE 5 — SATURDAY BLOCKADE SHARE BY LINE AND MONTH</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33500" y="952500"/>
            <a:ext cx="17183100" cy="632420"/>
          </a:xfrm>
          <a:prstGeom prst="rect">
            <a:avLst/>
          </a:prstGeom>
          <a:noFill/>
          <a:ln/>
        </p:spPr>
        <p:txBody>
          <a:bodyPr wrap="square" lIns="25400" tIns="25400" rIns="25400" bIns="25400" rtlCol="0" anchor="t">
            <a:normAutofit lnSpcReduction="10000"/>
          </a:bodyPr>
          <a:lstStyle/>
          <a:p>
            <a:pPr marL="0" indent="0" algn="l">
              <a:lnSpc>
                <a:spcPct val="102857"/>
              </a:lnSpc>
              <a:buNone/>
            </a:pPr>
            <a:r>
              <a:rPr lang="en-US" sz="3900" b="1" dirty="0">
                <a:solidFill>
                  <a:srgbClr val="161616"/>
                </a:solidFill>
                <a:latin typeface="Helvetica" pitchFamily="34" charset="0"/>
                <a:ea typeface="Helvetica" pitchFamily="34" charset="-122"/>
                <a:cs typeface="Helvetica" pitchFamily="34" charset="-120"/>
              </a:rPr>
              <a:t>21 confirmed blockage events, mostly Saturdays</a:t>
            </a:r>
            <a:endParaRPr lang="en-US" sz="3900" dirty="0"/>
          </a:p>
        </p:txBody>
      </p:sp>
      <p:sp>
        <p:nvSpPr>
          <p:cNvPr id="3" name="Text 1"/>
          <p:cNvSpPr/>
          <p:nvPr/>
        </p:nvSpPr>
        <p:spPr>
          <a:xfrm>
            <a:off x="1333500" y="1775420"/>
            <a:ext cx="17183100" cy="31750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5B5B5B"/>
                </a:solidFill>
                <a:latin typeface="Helvetica" pitchFamily="34" charset="0"/>
                <a:ea typeface="Helvetica" pitchFamily="34" charset="-122"/>
                <a:cs typeface="Helvetica" pitchFamily="34" charset="-120"/>
              </a:rPr>
              <a:t>11 of 21 events are Saturday nights, 7pm–midnight.</a:t>
            </a:r>
            <a:endParaRPr lang="en-US" sz="1950" dirty="0"/>
          </a:p>
        </p:txBody>
      </p:sp>
      <p:sp>
        <p:nvSpPr>
          <p:cNvPr id="4" name="Text 2"/>
          <p:cNvSpPr/>
          <p:nvPr/>
        </p:nvSpPr>
        <p:spPr>
          <a:xfrm>
            <a:off x="1333500" y="2131020"/>
            <a:ext cx="17183100" cy="31750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5B5B5B"/>
                </a:solidFill>
                <a:latin typeface="Helvetica" pitchFamily="34" charset="0"/>
                <a:ea typeface="Helvetica" pitchFamily="34" charset="-122"/>
                <a:cs typeface="Helvetica" pitchFamily="34" charset="-120"/>
              </a:rPr>
              <a:t>The rest cluster on weekdays.</a:t>
            </a:r>
            <a:endParaRPr lang="en-US" sz="1950" dirty="0"/>
          </a:p>
        </p:txBody>
      </p:sp>
      <p:sp>
        <p:nvSpPr>
          <p:cNvPr id="5" name="Text 3"/>
          <p:cNvSpPr/>
          <p:nvPr/>
        </p:nvSpPr>
        <p:spPr>
          <a:xfrm>
            <a:off x="1333500" y="2486620"/>
            <a:ext cx="17183100" cy="31750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5B5B5B"/>
                </a:solidFill>
                <a:latin typeface="Helvetica" pitchFamily="34" charset="0"/>
                <a:ea typeface="Helvetica" pitchFamily="34" charset="-122"/>
                <a:cs typeface="Helvetica" pitchFamily="34" charset="-120"/>
              </a:rPr>
              <a:t>Weekday events track Knesset session days.</a:t>
            </a:r>
            <a:endParaRPr lang="en-US" sz="1950" dirty="0"/>
          </a:p>
        </p:txBody>
      </p:sp>
      <p:sp>
        <p:nvSpPr>
          <p:cNvPr id="6" name="Shape 4"/>
          <p:cNvSpPr/>
          <p:nvPr/>
        </p:nvSpPr>
        <p:spPr>
          <a:xfrm>
            <a:off x="3913981" y="3129260"/>
            <a:ext cx="10460038" cy="5715000"/>
          </a:xfrm>
          <a:prstGeom prst="roundRect">
            <a:avLst>
              <a:gd name="adj" fmla="val 1333"/>
            </a:avLst>
          </a:prstGeom>
          <a:solidFill>
            <a:srgbClr val="FFFFFF"/>
          </a:solidFill>
          <a:ln w="6350">
            <a:solidFill>
              <a:srgbClr val="E5E2DD"/>
            </a:solidFill>
            <a:prstDash val="solid"/>
          </a:ln>
          <a:effectLst>
            <a:outerShdw blurRad="190500" dist="19050" dir="5400000" algn="bl" rotWithShape="0">
              <a:srgbClr val="000000">
                <a:alpha val="6000"/>
              </a:srgbClr>
            </a:outerShdw>
          </a:effectLst>
        </p:spPr>
        <p:txBody>
          <a:bodyPr/>
          <a:lstStyle/>
          <a:p>
            <a:endParaRPr lang="en-IL"/>
          </a:p>
        </p:txBody>
      </p:sp>
      <p:pic>
        <p:nvPicPr>
          <p:cNvPr id="7" name="Image 0" descr="preencoded.png"/>
          <p:cNvPicPr>
            <a:picLocks noChangeAspect="1"/>
          </p:cNvPicPr>
          <p:nvPr/>
        </p:nvPicPr>
        <p:blipFill>
          <a:blip r:embed="rId3"/>
          <a:srcRect t="-1678" b="-1678"/>
          <a:stretch/>
        </p:blipFill>
        <p:spPr>
          <a:xfrm>
            <a:off x="3913981" y="3129260"/>
            <a:ext cx="10460038" cy="5715000"/>
          </a:xfrm>
          <a:prstGeom prst="rect">
            <a:avLst/>
          </a:prstGeom>
        </p:spPr>
      </p:pic>
      <p:sp>
        <p:nvSpPr>
          <p:cNvPr id="8" name="Text 5"/>
          <p:cNvSpPr/>
          <p:nvPr/>
        </p:nvSpPr>
        <p:spPr>
          <a:xfrm>
            <a:off x="5458321" y="8977610"/>
            <a:ext cx="8108385" cy="29845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6" dirty="0">
                <a:solidFill>
                  <a:srgbClr val="9A9A9A"/>
                </a:solidFill>
                <a:latin typeface="Courier New" pitchFamily="34" charset="0"/>
                <a:ea typeface="Courier New" pitchFamily="34" charset="-122"/>
                <a:cs typeface="Courier New" pitchFamily="34" charset="-120"/>
              </a:rPr>
              <a:t>FIGURE 6 — CONFIRMED BLOCKAGE HOURS BY MONTH AND DAY</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33500" y="952500"/>
            <a:ext cx="17183100" cy="632420"/>
          </a:xfrm>
          <a:prstGeom prst="rect">
            <a:avLst/>
          </a:prstGeom>
          <a:noFill/>
          <a:ln/>
        </p:spPr>
        <p:txBody>
          <a:bodyPr wrap="square" lIns="25400" tIns="25400" rIns="25400" bIns="25400" rtlCol="0" anchor="t">
            <a:normAutofit lnSpcReduction="10000"/>
          </a:bodyPr>
          <a:lstStyle/>
          <a:p>
            <a:pPr marL="0" indent="0" algn="l">
              <a:lnSpc>
                <a:spcPct val="102857"/>
              </a:lnSpc>
              <a:buNone/>
            </a:pPr>
            <a:r>
              <a:rPr lang="en-US" sz="3900" b="1" dirty="0">
                <a:solidFill>
                  <a:srgbClr val="161616"/>
                </a:solidFill>
                <a:latin typeface="Helvetica" pitchFamily="34" charset="0"/>
                <a:ea typeface="Helvetica" pitchFamily="34" charset="-122"/>
                <a:cs typeface="Helvetica" pitchFamily="34" charset="-120"/>
              </a:rPr>
              <a:t>The detour is usually faster, not slower</a:t>
            </a:r>
            <a:endParaRPr lang="en-US" sz="3900" dirty="0"/>
          </a:p>
        </p:txBody>
      </p:sp>
      <p:sp>
        <p:nvSpPr>
          <p:cNvPr id="3" name="Text 1"/>
          <p:cNvSpPr/>
          <p:nvPr/>
        </p:nvSpPr>
        <p:spPr>
          <a:xfrm>
            <a:off x="1333500" y="1775420"/>
            <a:ext cx="17183100" cy="31750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5B5B5B"/>
                </a:solidFill>
                <a:latin typeface="Helvetica" pitchFamily="34" charset="0"/>
                <a:ea typeface="Helvetica" pitchFamily="34" charset="-122"/>
                <a:cs typeface="Helvetica" pitchFamily="34" charset="-120"/>
              </a:rPr>
              <a:t>On average, detours save 8 to 16 minutes.</a:t>
            </a:r>
            <a:endParaRPr lang="en-US" sz="1950" dirty="0"/>
          </a:p>
        </p:txBody>
      </p:sp>
      <p:sp>
        <p:nvSpPr>
          <p:cNvPr id="4" name="Text 2"/>
          <p:cNvSpPr/>
          <p:nvPr/>
        </p:nvSpPr>
        <p:spPr>
          <a:xfrm>
            <a:off x="1333500" y="2131020"/>
            <a:ext cx="17183100" cy="31750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5B5B5B"/>
                </a:solidFill>
                <a:latin typeface="Helvetica" pitchFamily="34" charset="0"/>
                <a:ea typeface="Helvetica" pitchFamily="34" charset="-122"/>
                <a:cs typeface="Helvetica" pitchFamily="34" charset="-120"/>
              </a:rPr>
              <a:t>Statistically significant for all 5 detouring lines.</a:t>
            </a:r>
            <a:endParaRPr lang="en-US" sz="1950" dirty="0"/>
          </a:p>
        </p:txBody>
      </p:sp>
      <p:sp>
        <p:nvSpPr>
          <p:cNvPr id="5" name="Text 3"/>
          <p:cNvSpPr/>
          <p:nvPr/>
        </p:nvSpPr>
        <p:spPr>
          <a:xfrm>
            <a:off x="1333500" y="2486620"/>
            <a:ext cx="17183100" cy="31750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5B5B5B"/>
                </a:solidFill>
                <a:latin typeface="Helvetica" pitchFamily="34" charset="0"/>
                <a:ea typeface="Helvetica" pitchFamily="34" charset="-122"/>
                <a:cs typeface="Helvetica" pitchFamily="34" charset="-120"/>
              </a:rPr>
              <a:t>During rush hour, the advantage disappears.</a:t>
            </a:r>
            <a:endParaRPr lang="en-US" sz="1950" dirty="0"/>
          </a:p>
        </p:txBody>
      </p:sp>
      <p:sp>
        <p:nvSpPr>
          <p:cNvPr id="6" name="Shape 4"/>
          <p:cNvSpPr/>
          <p:nvPr/>
        </p:nvSpPr>
        <p:spPr>
          <a:xfrm>
            <a:off x="4305697" y="3129260"/>
            <a:ext cx="9676507" cy="5715000"/>
          </a:xfrm>
          <a:prstGeom prst="roundRect">
            <a:avLst>
              <a:gd name="adj" fmla="val 1333"/>
            </a:avLst>
          </a:prstGeom>
          <a:solidFill>
            <a:srgbClr val="FFFFFF"/>
          </a:solidFill>
          <a:ln w="6350">
            <a:solidFill>
              <a:srgbClr val="E5E2DD"/>
            </a:solidFill>
            <a:prstDash val="solid"/>
          </a:ln>
          <a:effectLst>
            <a:outerShdw blurRad="190500" dist="19050" dir="5400000" algn="bl" rotWithShape="0">
              <a:srgbClr val="000000">
                <a:alpha val="6000"/>
              </a:srgbClr>
            </a:outerShdw>
          </a:effectLst>
        </p:spPr>
        <p:txBody>
          <a:bodyPr/>
          <a:lstStyle/>
          <a:p>
            <a:endParaRPr lang="en-IL"/>
          </a:p>
        </p:txBody>
      </p:sp>
      <p:pic>
        <p:nvPicPr>
          <p:cNvPr id="7" name="Image 0" descr="preencoded.png"/>
          <p:cNvPicPr>
            <a:picLocks noChangeAspect="1"/>
          </p:cNvPicPr>
          <p:nvPr/>
        </p:nvPicPr>
        <p:blipFill>
          <a:blip r:embed="rId3"/>
          <a:srcRect t="-1515" b="-1515"/>
          <a:stretch/>
        </p:blipFill>
        <p:spPr>
          <a:xfrm>
            <a:off x="4305697" y="3129260"/>
            <a:ext cx="9676507" cy="5715000"/>
          </a:xfrm>
          <a:prstGeom prst="rect">
            <a:avLst/>
          </a:prstGeom>
        </p:spPr>
      </p:pic>
      <p:sp>
        <p:nvSpPr>
          <p:cNvPr id="8" name="Text 5"/>
          <p:cNvSpPr/>
          <p:nvPr/>
        </p:nvSpPr>
        <p:spPr>
          <a:xfrm>
            <a:off x="6096199" y="8977610"/>
            <a:ext cx="6705055" cy="29845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6" dirty="0">
                <a:solidFill>
                  <a:srgbClr val="9A9A9A"/>
                </a:solidFill>
                <a:latin typeface="Courier New" pitchFamily="34" charset="0"/>
                <a:ea typeface="Courier New" pitchFamily="34" charset="-122"/>
                <a:cs typeface="Courier New" pitchFamily="34" charset="-120"/>
              </a:rPr>
              <a:t>FIGURE 7 — MEDIAN TRAVEL-TIME DELTA BY HOUR</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33500" y="952500"/>
            <a:ext cx="17183100" cy="632420"/>
          </a:xfrm>
          <a:prstGeom prst="rect">
            <a:avLst/>
          </a:prstGeom>
          <a:noFill/>
          <a:ln/>
        </p:spPr>
        <p:txBody>
          <a:bodyPr wrap="square" lIns="25400" tIns="25400" rIns="25400" bIns="25400" rtlCol="0" anchor="t">
            <a:normAutofit lnSpcReduction="10000"/>
          </a:bodyPr>
          <a:lstStyle/>
          <a:p>
            <a:pPr marL="0" indent="0" algn="l">
              <a:lnSpc>
                <a:spcPct val="102857"/>
              </a:lnSpc>
              <a:buNone/>
            </a:pPr>
            <a:r>
              <a:rPr lang="en-US" sz="3900" b="1" dirty="0">
                <a:solidFill>
                  <a:srgbClr val="161616"/>
                </a:solidFill>
                <a:latin typeface="Helvetica" pitchFamily="34" charset="0"/>
                <a:ea typeface="Helvetica" pitchFamily="34" charset="-122"/>
                <a:cs typeface="Helvetica" pitchFamily="34" charset="-120"/>
              </a:rPr>
              <a:t>Blockages don't leak to other lines</a:t>
            </a:r>
            <a:endParaRPr lang="en-US" sz="3900" dirty="0"/>
          </a:p>
        </p:txBody>
      </p:sp>
      <p:sp>
        <p:nvSpPr>
          <p:cNvPr id="3" name="Text 1"/>
          <p:cNvSpPr/>
          <p:nvPr/>
        </p:nvSpPr>
        <p:spPr>
          <a:xfrm>
            <a:off x="1333500" y="1775420"/>
            <a:ext cx="17183100" cy="31750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5B5B5B"/>
                </a:solidFill>
                <a:latin typeface="Helvetica" pitchFamily="34" charset="0"/>
                <a:ea typeface="Helvetica" pitchFamily="34" charset="-122"/>
                <a:cs typeface="Helvetica" pitchFamily="34" charset="-120"/>
              </a:rPr>
              <a:t>Lines 14/15 don't pass through Aza Street.</a:t>
            </a:r>
            <a:endParaRPr lang="en-US" sz="1950" dirty="0"/>
          </a:p>
        </p:txBody>
      </p:sp>
      <p:sp>
        <p:nvSpPr>
          <p:cNvPr id="4" name="Text 2"/>
          <p:cNvSpPr/>
          <p:nvPr/>
        </p:nvSpPr>
        <p:spPr>
          <a:xfrm>
            <a:off x="1333500" y="2131020"/>
            <a:ext cx="17183100" cy="31750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5B5B5B"/>
                </a:solidFill>
                <a:latin typeface="Helvetica" pitchFamily="34" charset="0"/>
                <a:ea typeface="Helvetica" pitchFamily="34" charset="-122"/>
                <a:cs typeface="Helvetica" pitchFamily="34" charset="-120"/>
              </a:rPr>
              <a:t>Mann-Whitney and permutation tests: no significant difference.</a:t>
            </a:r>
            <a:endParaRPr lang="en-US" sz="1950" dirty="0"/>
          </a:p>
        </p:txBody>
      </p:sp>
      <p:sp>
        <p:nvSpPr>
          <p:cNvPr id="5" name="Text 3"/>
          <p:cNvSpPr/>
          <p:nvPr/>
        </p:nvSpPr>
        <p:spPr>
          <a:xfrm>
            <a:off x="1333500" y="2486620"/>
            <a:ext cx="17183100" cy="31750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5B5B5B"/>
                </a:solidFill>
                <a:latin typeface="Helvetica" pitchFamily="34" charset="0"/>
                <a:ea typeface="Helvetica" pitchFamily="34" charset="-122"/>
                <a:cs typeface="Helvetica" pitchFamily="34" charset="-120"/>
              </a:rPr>
              <a:t>Their travel times are unaffected by the closures.</a:t>
            </a:r>
            <a:endParaRPr lang="en-US" sz="1950" dirty="0"/>
          </a:p>
        </p:txBody>
      </p:sp>
      <p:sp>
        <p:nvSpPr>
          <p:cNvPr id="6" name="Shape 4"/>
          <p:cNvSpPr/>
          <p:nvPr/>
        </p:nvSpPr>
        <p:spPr>
          <a:xfrm>
            <a:off x="4239738" y="3144837"/>
            <a:ext cx="10040343" cy="5715000"/>
          </a:xfrm>
          <a:prstGeom prst="roundRect">
            <a:avLst>
              <a:gd name="adj" fmla="val 1333"/>
            </a:avLst>
          </a:prstGeom>
          <a:solidFill>
            <a:srgbClr val="FFFFFF"/>
          </a:solidFill>
          <a:ln w="6350">
            <a:solidFill>
              <a:srgbClr val="E5E2DD"/>
            </a:solidFill>
            <a:prstDash val="solid"/>
          </a:ln>
          <a:effectLst>
            <a:outerShdw blurRad="190500" dist="19050" dir="5400000" algn="bl" rotWithShape="0">
              <a:srgbClr val="000000">
                <a:alpha val="6000"/>
              </a:srgbClr>
            </a:outerShdw>
          </a:effectLst>
        </p:spPr>
        <p:txBody>
          <a:bodyPr/>
          <a:lstStyle/>
          <a:p>
            <a:endParaRPr lang="en-IL"/>
          </a:p>
        </p:txBody>
      </p:sp>
      <p:sp>
        <p:nvSpPr>
          <p:cNvPr id="8" name="Text 5"/>
          <p:cNvSpPr/>
          <p:nvPr/>
        </p:nvSpPr>
        <p:spPr>
          <a:xfrm>
            <a:off x="5103912" y="8977610"/>
            <a:ext cx="8888086" cy="29845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6" dirty="0">
                <a:solidFill>
                  <a:srgbClr val="9A9A9A"/>
                </a:solidFill>
                <a:latin typeface="Courier New" pitchFamily="34" charset="0"/>
                <a:ea typeface="Courier New" pitchFamily="34" charset="-122"/>
                <a:cs typeface="Courier New" pitchFamily="34" charset="-120"/>
              </a:rPr>
              <a:t>TABLE 4 — CONTROL LINES' TRAVEL TIME, BLOCKADE VS. NORMAL</a:t>
            </a:r>
            <a:endParaRPr lang="en-US" sz="1800" dirty="0"/>
          </a:p>
        </p:txBody>
      </p:sp>
      <p:graphicFrame>
        <p:nvGraphicFramePr>
          <p:cNvPr id="9" name="Table 8">
            <a:extLst>
              <a:ext uri="{FF2B5EF4-FFF2-40B4-BE49-F238E27FC236}">
                <a16:creationId xmlns:a16="http://schemas.microsoft.com/office/drawing/2014/main" id="{FD05D3E5-00FF-CE4C-EEBC-2A2304918539}"/>
              </a:ext>
            </a:extLst>
          </p:cNvPr>
          <p:cNvGraphicFramePr>
            <a:graphicFrameLocks noGrp="1"/>
          </p:cNvGraphicFramePr>
          <p:nvPr/>
        </p:nvGraphicFramePr>
        <p:xfrm>
          <a:off x="4759910" y="4875784"/>
          <a:ext cx="9000000" cy="2253107"/>
        </p:xfrm>
        <a:graphic>
          <a:graphicData uri="http://schemas.openxmlformats.org/drawingml/2006/table">
            <a:tbl>
              <a:tblPr rtl="1" firstRow="1" firstCol="1" bandRow="1">
                <a:tableStyleId>{5C22544A-7EE6-4342-B048-85BDC9FD1C3A}</a:tableStyleId>
              </a:tblPr>
              <a:tblGrid>
                <a:gridCol w="891781">
                  <a:extLst>
                    <a:ext uri="{9D8B030D-6E8A-4147-A177-3AD203B41FA5}">
                      <a16:colId xmlns:a16="http://schemas.microsoft.com/office/drawing/2014/main" val="1023828986"/>
                    </a:ext>
                  </a:extLst>
                </a:gridCol>
                <a:gridCol w="1035616">
                  <a:extLst>
                    <a:ext uri="{9D8B030D-6E8A-4147-A177-3AD203B41FA5}">
                      <a16:colId xmlns:a16="http://schemas.microsoft.com/office/drawing/2014/main" val="3354785250"/>
                    </a:ext>
                  </a:extLst>
                </a:gridCol>
                <a:gridCol w="980137">
                  <a:extLst>
                    <a:ext uri="{9D8B030D-6E8A-4147-A177-3AD203B41FA5}">
                      <a16:colId xmlns:a16="http://schemas.microsoft.com/office/drawing/2014/main" val="913154608"/>
                    </a:ext>
                  </a:extLst>
                </a:gridCol>
                <a:gridCol w="1064384">
                  <a:extLst>
                    <a:ext uri="{9D8B030D-6E8A-4147-A177-3AD203B41FA5}">
                      <a16:colId xmlns:a16="http://schemas.microsoft.com/office/drawing/2014/main" val="2745182700"/>
                    </a:ext>
                  </a:extLst>
                </a:gridCol>
                <a:gridCol w="965753">
                  <a:extLst>
                    <a:ext uri="{9D8B030D-6E8A-4147-A177-3AD203B41FA5}">
                      <a16:colId xmlns:a16="http://schemas.microsoft.com/office/drawing/2014/main" val="2419429844"/>
                    </a:ext>
                  </a:extLst>
                </a:gridCol>
                <a:gridCol w="965753">
                  <a:extLst>
                    <a:ext uri="{9D8B030D-6E8A-4147-A177-3AD203B41FA5}">
                      <a16:colId xmlns:a16="http://schemas.microsoft.com/office/drawing/2014/main" val="1425210001"/>
                    </a:ext>
                  </a:extLst>
                </a:gridCol>
                <a:gridCol w="967808">
                  <a:extLst>
                    <a:ext uri="{9D8B030D-6E8A-4147-A177-3AD203B41FA5}">
                      <a16:colId xmlns:a16="http://schemas.microsoft.com/office/drawing/2014/main" val="2645671824"/>
                    </a:ext>
                  </a:extLst>
                </a:gridCol>
                <a:gridCol w="1064384">
                  <a:extLst>
                    <a:ext uri="{9D8B030D-6E8A-4147-A177-3AD203B41FA5}">
                      <a16:colId xmlns:a16="http://schemas.microsoft.com/office/drawing/2014/main" val="1275042065"/>
                    </a:ext>
                  </a:extLst>
                </a:gridCol>
                <a:gridCol w="1064384">
                  <a:extLst>
                    <a:ext uri="{9D8B030D-6E8A-4147-A177-3AD203B41FA5}">
                      <a16:colId xmlns:a16="http://schemas.microsoft.com/office/drawing/2014/main" val="3537773490"/>
                    </a:ext>
                  </a:extLst>
                </a:gridCol>
              </a:tblGrid>
              <a:tr h="590550">
                <a:tc>
                  <a:txBody>
                    <a:bodyPr/>
                    <a:lstStyle/>
                    <a:p>
                      <a:pPr indent="152400" algn="l" rtl="0">
                        <a:lnSpc>
                          <a:spcPct val="115000"/>
                        </a:lnSpc>
                        <a:spcAft>
                          <a:spcPts val="800"/>
                        </a:spcAft>
                        <a:buNone/>
                      </a:pPr>
                      <a:r>
                        <a:rPr lang="he-IL" sz="1200" kern="0">
                          <a:effectLst/>
                        </a:rPr>
                        <a:t>Line</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Stratum</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en-IL" sz="1200" kern="0">
                          <a:effectLst/>
                        </a:rPr>
                        <a:t>n </a:t>
                      </a:r>
                      <a:r>
                        <a:rPr lang="he-IL" sz="1200" kern="0">
                          <a:effectLst/>
                        </a:rPr>
                        <a:t>blockage</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en-IL" sz="1200" kern="0">
                          <a:effectLst/>
                        </a:rPr>
                        <a:t>n </a:t>
                      </a:r>
                      <a:r>
                        <a:rPr lang="he-IL" sz="1200" kern="0">
                          <a:effectLst/>
                        </a:rPr>
                        <a:t>normal</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Median blockage (min)</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Median normal (min)</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en-IL" sz="1200" kern="0">
                          <a:effectLst/>
                        </a:rPr>
                        <a:t>Δ (</a:t>
                      </a:r>
                      <a:r>
                        <a:rPr lang="he-IL" sz="1200" kern="0">
                          <a:effectLst/>
                        </a:rPr>
                        <a:t>min</a:t>
                      </a:r>
                      <a:r>
                        <a:rPr lang="en-IL" sz="1200" kern="0">
                          <a:effectLst/>
                        </a:rPr>
                        <a:t>)</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en-IL" sz="1200" kern="0">
                          <a:effectLst/>
                        </a:rPr>
                        <a:t>p </a:t>
                      </a:r>
                      <a:r>
                        <a:rPr lang="he-IL" sz="1200" kern="0">
                          <a:effectLst/>
                        </a:rPr>
                        <a:t>Mann-Whitney</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en-IL" sz="1200" kern="0">
                          <a:effectLst/>
                        </a:rPr>
                        <a:t>p t </a:t>
                      </a:r>
                      <a:r>
                        <a:rPr lang="he-IL" sz="1200" kern="0">
                          <a:effectLst/>
                        </a:rPr>
                        <a:t>Welch</a:t>
                      </a:r>
                      <a:r>
                        <a:rPr lang="en-IL" sz="1200" kern="0">
                          <a:effectLst/>
                        </a:rPr>
                        <a:t>'s</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190748588"/>
                  </a:ext>
                </a:extLst>
              </a:tr>
              <a:tr h="196850">
                <a:tc>
                  <a:txBody>
                    <a:bodyPr/>
                    <a:lstStyle/>
                    <a:p>
                      <a:pPr indent="152400" algn="l" rtl="0">
                        <a:lnSpc>
                          <a:spcPct val="115000"/>
                        </a:lnSpc>
                        <a:spcAft>
                          <a:spcPts val="800"/>
                        </a:spcAft>
                        <a:buNone/>
                      </a:pPr>
                      <a:r>
                        <a:rPr lang="he-IL" sz="1200" kern="0">
                          <a:effectLst/>
                        </a:rPr>
                        <a:t>15</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Saturday</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33</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12</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52.9</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52</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0.9</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0.376</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0.353</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182396812"/>
                  </a:ext>
                </a:extLst>
              </a:tr>
              <a:tr h="196850">
                <a:tc>
                  <a:txBody>
                    <a:bodyPr/>
                    <a:lstStyle/>
                    <a:p>
                      <a:pPr indent="152400" algn="l" rtl="0">
                        <a:lnSpc>
                          <a:spcPct val="115000"/>
                        </a:lnSpc>
                        <a:spcAft>
                          <a:spcPts val="800"/>
                        </a:spcAft>
                        <a:buNone/>
                      </a:pPr>
                      <a:r>
                        <a:rPr lang="he-IL" sz="1200" kern="0">
                          <a:effectLst/>
                        </a:rPr>
                        <a:t>15</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Weekday</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153</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746</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64.8</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66.6</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−1.8</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0.941</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0.543</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797207710"/>
                  </a:ext>
                </a:extLst>
              </a:tr>
              <a:tr h="196850">
                <a:tc>
                  <a:txBody>
                    <a:bodyPr/>
                    <a:lstStyle/>
                    <a:p>
                      <a:pPr indent="152400" algn="l" rtl="0">
                        <a:lnSpc>
                          <a:spcPct val="115000"/>
                        </a:lnSpc>
                        <a:spcAft>
                          <a:spcPts val="800"/>
                        </a:spcAft>
                        <a:buNone/>
                      </a:pPr>
                      <a:r>
                        <a:rPr lang="he-IL" sz="1200" kern="0">
                          <a:effectLst/>
                        </a:rPr>
                        <a:t>14</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Saturday</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40</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7</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37.8</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36.6</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1.2</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0.317</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0.256</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616328421"/>
                  </a:ext>
                </a:extLst>
              </a:tr>
              <a:tr h="196850">
                <a:tc>
                  <a:txBody>
                    <a:bodyPr/>
                    <a:lstStyle/>
                    <a:p>
                      <a:pPr indent="152400" algn="l" rtl="0">
                        <a:lnSpc>
                          <a:spcPct val="115000"/>
                        </a:lnSpc>
                        <a:spcAft>
                          <a:spcPts val="800"/>
                        </a:spcAft>
                        <a:buNone/>
                      </a:pPr>
                      <a:r>
                        <a:rPr lang="he-IL" sz="1200" kern="0">
                          <a:effectLst/>
                        </a:rPr>
                        <a:t>14</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Weekday</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198</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1,108</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48</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47.1</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0.9</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0.156</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dirty="0">
                          <a:effectLst/>
                        </a:rPr>
                        <a:t>0.064</a:t>
                      </a:r>
                      <a:endParaRPr lang="en-IL" sz="12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59002881"/>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616"/>
        </a:solidFill>
        <a:effectLst/>
      </p:bgPr>
    </p:bg>
    <p:spTree>
      <p:nvGrpSpPr>
        <p:cNvPr id="1" name=""/>
        <p:cNvGrpSpPr/>
        <p:nvPr/>
      </p:nvGrpSpPr>
      <p:grpSpPr>
        <a:xfrm>
          <a:off x="0" y="0"/>
          <a:ext cx="0" cy="0"/>
          <a:chOff x="0" y="0"/>
          <a:chExt cx="0" cy="0"/>
        </a:xfrm>
      </p:grpSpPr>
      <p:sp>
        <p:nvSpPr>
          <p:cNvPr id="2" name="Shape 0"/>
          <p:cNvSpPr/>
          <p:nvPr/>
        </p:nvSpPr>
        <p:spPr>
          <a:xfrm>
            <a:off x="1524000" y="3629025"/>
            <a:ext cx="609600" cy="57150"/>
          </a:xfrm>
          <a:prstGeom prst="rect">
            <a:avLst/>
          </a:prstGeom>
          <a:solidFill>
            <a:srgbClr val="E0574A"/>
          </a:solidFill>
          <a:ln/>
        </p:spPr>
        <p:txBody>
          <a:bodyPr/>
          <a:lstStyle/>
          <a:p>
            <a:endParaRPr lang="en-IL"/>
          </a:p>
        </p:txBody>
      </p:sp>
      <p:sp>
        <p:nvSpPr>
          <p:cNvPr id="3" name="Text 1"/>
          <p:cNvSpPr/>
          <p:nvPr/>
        </p:nvSpPr>
        <p:spPr>
          <a:xfrm>
            <a:off x="1524000" y="4143375"/>
            <a:ext cx="16240125" cy="704850"/>
          </a:xfrm>
          <a:prstGeom prst="rect">
            <a:avLst/>
          </a:prstGeom>
          <a:noFill/>
          <a:ln/>
        </p:spPr>
        <p:txBody>
          <a:bodyPr wrap="square" lIns="25400" tIns="25400" rIns="25400" bIns="25400" rtlCol="0" anchor="t">
            <a:normAutofit lnSpcReduction="10000"/>
          </a:bodyPr>
          <a:lstStyle/>
          <a:p>
            <a:pPr marL="0" indent="0" algn="l">
              <a:lnSpc>
                <a:spcPct val="108247"/>
              </a:lnSpc>
              <a:buNone/>
            </a:pPr>
            <a:r>
              <a:rPr lang="en-US" sz="4200" b="1" dirty="0">
                <a:solidFill>
                  <a:srgbClr val="FFFFFF"/>
                </a:solidFill>
                <a:latin typeface="Helvetica" pitchFamily="34" charset="0"/>
                <a:ea typeface="Helvetica" pitchFamily="34" charset="-122"/>
                <a:cs typeface="Helvetica" pitchFamily="34" charset="-120"/>
              </a:rPr>
              <a:t>There's no line to avoid leaving Rehavia</a:t>
            </a:r>
            <a:endParaRPr lang="en-US" sz="4200" dirty="0"/>
          </a:p>
        </p:txBody>
      </p:sp>
      <p:sp>
        <p:nvSpPr>
          <p:cNvPr id="4" name="Text 2"/>
          <p:cNvSpPr/>
          <p:nvPr/>
        </p:nvSpPr>
        <p:spPr>
          <a:xfrm>
            <a:off x="1524000" y="5229225"/>
            <a:ext cx="16764000" cy="387350"/>
          </a:xfrm>
          <a:prstGeom prst="rect">
            <a:avLst/>
          </a:prstGeom>
          <a:noFill/>
          <a:ln/>
        </p:spPr>
        <p:txBody>
          <a:bodyPr wrap="square" lIns="25400" tIns="25400" rIns="25400" bIns="25400" rtlCol="0" anchor="t">
            <a:normAutofit lnSpcReduction="10000"/>
          </a:bodyPr>
          <a:lstStyle/>
          <a:p>
            <a:pPr marL="0" indent="0" algn="l">
              <a:buNone/>
            </a:pPr>
            <a:r>
              <a:rPr lang="en-US" sz="2400" dirty="0">
                <a:solidFill>
                  <a:srgbClr val="D9D9D9"/>
                </a:solidFill>
                <a:latin typeface="Helvetica" pitchFamily="34" charset="0"/>
                <a:ea typeface="Helvetica" pitchFamily="34" charset="-122"/>
                <a:cs typeface="Helvetica" pitchFamily="34" charset="-120"/>
              </a:rPr>
              <a:t>Blockages cluster on Saturday nights.</a:t>
            </a:r>
            <a:endParaRPr lang="en-US" sz="2400" dirty="0"/>
          </a:p>
        </p:txBody>
      </p:sp>
      <p:sp>
        <p:nvSpPr>
          <p:cNvPr id="5" name="Text 3"/>
          <p:cNvSpPr/>
          <p:nvPr/>
        </p:nvSpPr>
        <p:spPr>
          <a:xfrm>
            <a:off x="1524000" y="5768975"/>
            <a:ext cx="16764000" cy="387350"/>
          </a:xfrm>
          <a:prstGeom prst="rect">
            <a:avLst/>
          </a:prstGeom>
          <a:noFill/>
          <a:ln/>
        </p:spPr>
        <p:txBody>
          <a:bodyPr wrap="square" lIns="25400" tIns="25400" rIns="25400" bIns="25400" rtlCol="0" anchor="t">
            <a:normAutofit lnSpcReduction="10000"/>
          </a:bodyPr>
          <a:lstStyle/>
          <a:p>
            <a:pPr marL="0" indent="0" algn="l">
              <a:buNone/>
            </a:pPr>
            <a:r>
              <a:rPr lang="en-US" sz="2400" dirty="0">
                <a:solidFill>
                  <a:srgbClr val="D9D9D9"/>
                </a:solidFill>
                <a:latin typeface="Helvetica" pitchFamily="34" charset="0"/>
                <a:ea typeface="Helvetica" pitchFamily="34" charset="-122"/>
                <a:cs typeface="Helvetica" pitchFamily="34" charset="-120"/>
              </a:rPr>
              <a:t>The detour is faster on average.</a:t>
            </a:r>
            <a:endParaRPr lang="en-US" sz="2400" dirty="0"/>
          </a:p>
        </p:txBody>
      </p:sp>
      <p:sp>
        <p:nvSpPr>
          <p:cNvPr id="6" name="Text 4"/>
          <p:cNvSpPr/>
          <p:nvPr/>
        </p:nvSpPr>
        <p:spPr>
          <a:xfrm>
            <a:off x="1524000" y="6308725"/>
            <a:ext cx="16764000" cy="387350"/>
          </a:xfrm>
          <a:prstGeom prst="rect">
            <a:avLst/>
          </a:prstGeom>
          <a:noFill/>
          <a:ln/>
        </p:spPr>
        <p:txBody>
          <a:bodyPr wrap="square" lIns="25400" tIns="25400" rIns="25400" bIns="25400" rtlCol="0" anchor="t">
            <a:normAutofit lnSpcReduction="10000"/>
          </a:bodyPr>
          <a:lstStyle/>
          <a:p>
            <a:pPr marL="0" indent="0" algn="l">
              <a:buNone/>
            </a:pPr>
            <a:r>
              <a:rPr lang="en-US" sz="2400" dirty="0">
                <a:solidFill>
                  <a:srgbClr val="D9D9D9"/>
                </a:solidFill>
                <a:latin typeface="Helvetica" pitchFamily="34" charset="0"/>
                <a:ea typeface="Helvetica" pitchFamily="34" charset="-122"/>
                <a:cs typeface="Helvetica" pitchFamily="34" charset="-120"/>
              </a:rPr>
              <a:t>Control lines are unaffected.</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839200" y="4254500"/>
            <a:ext cx="609600" cy="57150"/>
          </a:xfrm>
          <a:prstGeom prst="rect">
            <a:avLst/>
          </a:prstGeom>
          <a:solidFill>
            <a:srgbClr val="B3261A"/>
          </a:solidFill>
          <a:ln/>
        </p:spPr>
        <p:txBody>
          <a:bodyPr/>
          <a:lstStyle/>
          <a:p>
            <a:endParaRPr lang="en-IL"/>
          </a:p>
        </p:txBody>
      </p:sp>
      <p:sp>
        <p:nvSpPr>
          <p:cNvPr id="3" name="Text 1"/>
          <p:cNvSpPr/>
          <p:nvPr/>
        </p:nvSpPr>
        <p:spPr>
          <a:xfrm>
            <a:off x="7619802" y="4768850"/>
            <a:ext cx="3353127" cy="736600"/>
          </a:xfrm>
          <a:prstGeom prst="rect">
            <a:avLst/>
          </a:prstGeom>
          <a:noFill/>
          <a:ln/>
        </p:spPr>
        <p:txBody>
          <a:bodyPr wrap="square" lIns="25400" tIns="25400" rIns="25400" bIns="25400" rtlCol="0" anchor="t">
            <a:normAutofit lnSpcReduction="10000"/>
          </a:bodyPr>
          <a:lstStyle/>
          <a:p>
            <a:pPr marL="0" indent="0" algn="l">
              <a:buNone/>
            </a:pPr>
            <a:r>
              <a:rPr lang="en-US" sz="4800" b="1" dirty="0">
                <a:solidFill>
                  <a:srgbClr val="161616"/>
                </a:solidFill>
                <a:latin typeface="Helvetica" pitchFamily="34" charset="0"/>
                <a:ea typeface="Helvetica" pitchFamily="34" charset="-122"/>
                <a:cs typeface="Helvetica" pitchFamily="34" charset="-120"/>
              </a:rPr>
              <a:t>Thank you</a:t>
            </a:r>
            <a:endParaRPr lang="en-US" sz="4800" dirty="0"/>
          </a:p>
        </p:txBody>
      </p:sp>
      <p:sp>
        <p:nvSpPr>
          <p:cNvPr id="4" name="Text 2"/>
          <p:cNvSpPr/>
          <p:nvPr/>
        </p:nvSpPr>
        <p:spPr>
          <a:xfrm>
            <a:off x="8324850" y="5657850"/>
            <a:ext cx="1802130" cy="412750"/>
          </a:xfrm>
          <a:prstGeom prst="rect">
            <a:avLst/>
          </a:prstGeom>
          <a:noFill/>
          <a:ln/>
        </p:spPr>
        <p:txBody>
          <a:bodyPr wrap="square" lIns="25400" tIns="25400" rIns="25400" bIns="25400" rtlCol="0" anchor="t">
            <a:normAutofit lnSpcReduction="10000"/>
          </a:bodyPr>
          <a:lstStyle/>
          <a:p>
            <a:pPr marL="0" indent="0" algn="l">
              <a:buNone/>
            </a:pPr>
            <a:r>
              <a:rPr lang="en-US" sz="2550" dirty="0">
                <a:solidFill>
                  <a:srgbClr val="6B6B6B"/>
                </a:solidFill>
                <a:latin typeface="Helvetica" pitchFamily="34" charset="0"/>
                <a:ea typeface="Helvetica" pitchFamily="34" charset="-122"/>
                <a:cs typeface="Helvetica" pitchFamily="34" charset="-120"/>
              </a:rPr>
              <a:t>Questions?</a:t>
            </a:r>
            <a:endParaRPr lang="en-US" sz="2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1820</Words>
  <Application>Microsoft Office PowerPoint</Application>
  <PresentationFormat>Custom</PresentationFormat>
  <Paragraphs>197</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Arial</vt:lpstr>
      <vt:lpstr>Courier New</vt:lpstr>
      <vt:lpstr>Helvetica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Avishag Schwartz</cp:lastModifiedBy>
  <cp:revision>2</cp:revision>
  <dcterms:created xsi:type="dcterms:W3CDTF">2026-08-03T09:38:02Z</dcterms:created>
  <dcterms:modified xsi:type="dcterms:W3CDTF">2026-08-03T10:05:29Z</dcterms:modified>
</cp:coreProperties>
</file>